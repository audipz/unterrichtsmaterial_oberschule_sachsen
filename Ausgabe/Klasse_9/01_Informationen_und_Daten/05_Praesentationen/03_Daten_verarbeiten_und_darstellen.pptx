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Alle genannten Formen können je nach Anwendung Datenquellen sein. Datenquelle ist nicht gleich Datenbank.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CSV = Comma-Separated Values; in deutschsprachigen Umgebungen häufig Semikolon als Trennzeichen. Trennzeichen, Encoding, Dezimaltrennzeichen und Datentypen können beim Import relevant sein.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Kreisdiagramme nur bei echten Anteilen eines Ganzen; bei vielen oder ähnlichen Kategorien oft schlechter lesbar als Balken.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Nicht lehren „Achsen müssen immer bei 0 beginnen“. Bei Balken ist Nullbasis häufig wichtig, weil Balkenlänge codiert. Bei Linien kann ein Ausschnitt kleine Änderungen sinnvoll sichtbar machen. Transparenz und Zweck sind entscheidend.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Farbe kann Aufmerksamkeit lenken, bewerten, Zusammenhänge suggerieren oder Unterschiede verschleiern. Informationen nicht ausschließlich Rot/Grün codieren.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INFORMATIK · KLASSE 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2"/>
                </a:solidFill>
              </a:rPr>
              <a:t>Informationen und Daten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Daten verarbeiten und darstellen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2926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6B9A"/>
                </a:solidFill>
              </a:rPr>
              <a:t>Von Rohdaten zum Diagramm – und wie Darstellung beeinflusst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0" y="3886200"/>
            <a:ext cx="3931920" cy="0"/>
          </a:xfrm>
          <a:prstGeom prst="line">
            <a:avLst/>
          </a:prstGeom>
          <a:noFill/>
          <a:ln w="38100">
            <a:solidFill>
              <a:srgbClr val="2F6B9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Wo liegen Daten eigentlich?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Datenquellen können sehr verschieden sein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CSV/Textdatei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Excel-/Tabellenkalkulationsdatei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SQLite-Datenbank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Sensor oder Messgerät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Web/API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Benutzereingabe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Was davon kann eine Datenquelle sein?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CSV: strukturierter Text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Dieselben Daten – andere Darstellung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2834640"/>
          </a:xfrm>
          <a:prstGeom prst="roundRect">
            <a:avLst>
              <a:gd name="adj" fmla="val 1935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755648"/>
            <a:ext cx="4828032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8212B"/>
                </a:solidFill>
              </a:rPr>
              <a:t>Datum;Temperatur;Luftfeuchtigkeit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212B"/>
                </a:solidFill>
              </a:rPr>
              <a:t>18.08.2026;24;58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212B"/>
                </a:solidFill>
              </a:rPr>
              <a:t>19.08.2026;26;55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8212B"/>
                </a:solidFill>
              </a:rPr>
              <a:t>20.08.2026;23;61</a:t>
            </a:r>
            <a:endParaRPr lang="en-US" sz="1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45920"/>
          <a:ext cx="4937760" cy="246888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Datum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Temperatur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Luftfeuchtigkeit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18.08.2026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24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58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19.08.2026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26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55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20.08.2026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23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61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Haben sich die Daten verändert?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Vom Rohdatensatz zur Auswertung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Ein Diagramm entsteht nicht direkt aus „irgendwelchen“ Daten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938528"/>
            <a:ext cx="1627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</a:rPr>
              <a:t>Erfassen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880360" y="182880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26664" y="1938528"/>
            <a:ext cx="1627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</a:rPr>
              <a:t>Speichern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120640" y="182880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FFF1CC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66944" y="1938528"/>
            <a:ext cx="1627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</a:rPr>
              <a:t>Verarbeiten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60920" y="182880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DDEFE3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07224" y="1938528"/>
            <a:ext cx="1627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</a:rPr>
              <a:t>Auswerten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601200" y="182880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DDEFE3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47504" y="1938528"/>
            <a:ext cx="1627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</a:rPr>
              <a:t>Darstellen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Welche Schritte erledigt eine Tabellenkalkulation für uns?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Rohdaten sind noch keine Auswertung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Schulweg-Beispiel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5120640" cy="2834640"/>
        </p:xfrm>
        <a:graphic>
          <a:graphicData uri="http://schemas.openxmlformats.org/drawingml/2006/table">
            <a:tbl>
              <a:tblPr/>
              <a:tblGrid>
                <a:gridCol w="1706880"/>
                <a:gridCol w="1706880"/>
                <a:gridCol w="17068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Name/ID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Schulweg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Dauer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S01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Bus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25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S02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Fahrrad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12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S03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Bus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18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S04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zu Fuß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8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00200"/>
          <a:ext cx="4937760" cy="2834640"/>
        </p:xfrm>
        <a:graphic>
          <a:graphicData uri="http://schemas.openxmlformats.org/drawingml/2006/table">
            <a:tbl>
              <a:tblPr/>
              <a:tblGrid>
                <a:gridCol w="2468880"/>
                <a:gridCol w="24688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Schulweg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Anzahl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Bus/Bahn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12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Fahrrad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zu Fuß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Auto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Welche Verarbeitung war nötig, um rechts zu erhalten?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Welche Darstellung passt?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Nicht jedes Diagramm beantwortet dieselbe Frage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37360"/>
          <a:ext cx="10332720" cy="2926080"/>
        </p:xfrm>
        <a:graphic>
          <a:graphicData uri="http://schemas.openxmlformats.org/drawingml/2006/table">
            <a:tbl>
              <a:tblPr/>
              <a:tblGrid>
                <a:gridCol w="5166360"/>
                <a:gridCol w="5166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Situation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geeignete Darstellung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Kategorien vergleichen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Balken/Säulen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Verlauf über Zeit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Linie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Anteile eines Ganzen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Kreis – mit Bedacht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genaue Einzelwerte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Tabelle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Achsen können täuschen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Korrekte Werte – anderer Eindruck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24D"/>
                </a:solidFill>
              </a:rPr>
              <a:t>Diagramm A: Achse beginnt bei 0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0" y="1828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24D"/>
                </a:solidFill>
              </a:rPr>
              <a:t>Diagramm B: Achse beginnt nahe an den Werten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In welchem Diagramm wirkt derselbe Unterschied größer?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Farben können manipulieren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Die Zahlen bleiben gleich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2926080" cy="1143000"/>
          </a:xfrm>
          <a:prstGeom prst="roundRect">
            <a:avLst>
              <a:gd name="adj" fmla="val 4800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938528"/>
            <a:ext cx="26334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alle Kategorien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gleich gewichtet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617720" y="1828800"/>
            <a:ext cx="2926080" cy="1143000"/>
          </a:xfrm>
          <a:prstGeom prst="roundRect">
            <a:avLst>
              <a:gd name="adj" fmla="val 4800"/>
            </a:avLst>
          </a:prstGeom>
          <a:solidFill>
            <a:srgbClr val="FFF1CC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64024" y="1938528"/>
            <a:ext cx="26334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eine Kategorie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stark hervorgehoben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321040" y="1828800"/>
            <a:ext cx="2926080" cy="1143000"/>
          </a:xfrm>
          <a:prstGeom prst="roundRect">
            <a:avLst>
              <a:gd name="adj" fmla="val 4800"/>
            </a:avLst>
          </a:prstGeom>
          <a:solidFill>
            <a:srgbClr val="F7DDDD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67344" y="1938528"/>
            <a:ext cx="263347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Signalwirkung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„problematisch“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Was schaut ihr zuerst an – obwohl sich kein Wert geändert hat?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Dieselben 8 %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Sprache rahmt Daten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175564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12B"/>
                </a:solidFill>
              </a:rPr>
              <a:t>„8 % der Busse waren verspätet.“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DDEFE3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80720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12B"/>
                </a:solidFill>
              </a:rPr>
              <a:t>„92 % der Busse waren pünktlich.“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74904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1CC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385876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12B"/>
                </a:solidFill>
              </a:rPr>
              <a:t>„Fast jeder zwölfte Bus war verspätet!“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Welche Aussage ist falsch – und welche wirkt am stärksten?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Manipulation kann vor dem Diagramm beginnen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Auswahl und Filter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4206240" cy="1280160"/>
          </a:xfrm>
          <a:prstGeom prst="roundRect">
            <a:avLst>
              <a:gd name="adj" fmla="val 4286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847088"/>
            <a:ext cx="39136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212B"/>
                </a:solidFill>
              </a:rPr>
              <a:t>100 Rückmeldungen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8212B"/>
                </a:solidFill>
              </a:rPr>
              <a:t>12 positiv · 58 neutral · 30 negativ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532120" y="2148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B9A"/>
                </a:solidFill>
              </a:rPr>
              <a:t>FILTER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949440" y="1737360"/>
            <a:ext cx="4206240" cy="1280160"/>
          </a:xfrm>
          <a:prstGeom prst="roundRect">
            <a:avLst>
              <a:gd name="adj" fmla="val 4286"/>
            </a:avLst>
          </a:prstGeom>
          <a:solidFill>
            <a:srgbClr val="FFF1CC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95744" y="1847088"/>
            <a:ext cx="39136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nur ausgewählte Gruppe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→ „Unsere Nutzer sind begeistert!“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Sind die gezeigten Daten falsch – oder ist die Auswahl problematisch?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Ein Diagramm kritisch lesen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Prüfschema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</a:rPr>
              <a:t>HERKUNFT – Woher stammen die Daten?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</a:rPr>
              <a:t>AUSWAHL – Welche Daten wurden verwendet oder weggelassen?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</a:rPr>
              <a:t>VERARBEITUNG – Was wurde berechnet, gruppiert oder gefiltert?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</a:rPr>
              <a:t>DARSTELLUNG – Achse, Diagrammart, Farbe, Beschriftung?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</a:rPr>
              <a:t>INTERPRETATION – Welche Aussage wird daraus abgeleitet?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Ausblick: strukturierte Speicherung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Wenn Daten größer oder verknüpft werden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2834640" cy="1097280"/>
          </a:xfrm>
          <a:prstGeom prst="roundRect">
            <a:avLst>
              <a:gd name="adj" fmla="val 5000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938528"/>
            <a:ext cx="25420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12B"/>
                </a:solidFill>
              </a:rPr>
              <a:t>CSV / Text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663440" y="1828800"/>
            <a:ext cx="2834640" cy="1097280"/>
          </a:xfrm>
          <a:prstGeom prst="roundRect">
            <a:avLst>
              <a:gd name="adj" fmla="val 5000"/>
            </a:avLst>
          </a:prstGeom>
          <a:solidFill>
            <a:srgbClr val="DDEFE3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9744" y="1938528"/>
            <a:ext cx="25420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12B"/>
                </a:solidFill>
              </a:rPr>
              <a:t>Excel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412480" y="1828800"/>
            <a:ext cx="2834640" cy="1097280"/>
          </a:xfrm>
          <a:prstGeom prst="roundRect">
            <a:avLst>
              <a:gd name="adj" fmla="val 5000"/>
            </a:avLst>
          </a:prstGeom>
          <a:solidFill>
            <a:srgbClr val="FFF1CC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58784" y="1938528"/>
            <a:ext cx="25420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12B"/>
                </a:solidFill>
              </a:rPr>
              <a:t>Datenbank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Wie organisieren wir Daten so, dass wir gezielt suchen und abfragen können?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Daten darstellen und verarbeiten</dc:title>
  <dc:subject>Informatik Klasse 9</dc:subject>
  <dc:creator>OpenAI</dc:creator>
  <cp:lastModifiedBy>OpenAI</cp:lastModifiedBy>
  <cp:revision>1</cp:revision>
  <dcterms:created xsi:type="dcterms:W3CDTF">2026-08-18T16:16:13Z</dcterms:created>
  <dcterms:modified xsi:type="dcterms:W3CDTF">2026-08-18T16:16:13Z</dcterms:modified>
</cp:coreProperties>
</file>