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Präsentation deckt die drei Unterrichtsstunden 01 bis 03 dieses Lernbereichs ab. Keine externe Bildquelle.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 Stunde 1. Möglich: 18 Jahre, 18 °C, 18 Punkte, 18 Uhr. Noch keine Definition vorgeben.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Didaktisches Modell aus dem Lehrerband: Daten = Darstellung, Information = Bedeutung im Kontext. Nicht behaupten, Daten seien nur Zahlen.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Schüler sollen eigene Beispiele nennen. Kern: gleicher Datenwert kann je nach Kontext unterschiedliche Information 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Beginn Stunde 2. Die Formen vergleichen, aber keine pauschale Rangfolge bilden.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'beste Darstellung' lehren. Zweck und Zielgruppe entscheiden. 'oft praktisch' bewusst statt absoluter Regeln.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Diagrammerstellung verlangen. Die Darstellungen sind vorgegeben. Erwartung: Tabelle erleichtert das Nachschlagen exakter Einzelwerte; Diagramm macht den Verlauf schneller sichtbar. Das eigenständige Erstellen komplexerer Diagramme wird hier nicht zum Lernziel gemacht.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Stunde 3 vorbereiten: Auswahl der Darstellung hängt von Zweck und Adressaten 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Fehlvorstellung: Design ist nicht bloße Dekoration. Gestaltung unterstützt Verständlichkeit und Zweck.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Prüfungsrelevant: geeignete Software problembezogen auswählen. Keine Produktschulung.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Nur erste Automatisierungsfunktionen zeigen. Die Tabellenkalkulation dient hier als Beispiel für automatische Neuberechnung, nicht als Auftrag zur Diagrammerstellung.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Prüfungsrelevant laut Lehrerband: Information/Daten unterscheiden, Darstellungsformen vergleichen, geeignete Software auswählen, Inhalt und Gestaltung unterscheiden.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zum nächsten Teil des Lernbereichs: Objekte, Attribute und Attributwerte.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Daten und Darstellungen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Drei Stunden: Bedeutung · Darstellungsformen · digitale Medien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23160"/>
            <a:ext cx="233172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2331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79" y="2423160"/>
            <a:ext cx="233172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2423160"/>
            <a:ext cx="2331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Tabelle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423160"/>
            <a:ext cx="233172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2331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19" y="2423160"/>
            <a:ext cx="233172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19" y="2423160"/>
            <a:ext cx="2331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Bild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Daten bekommen durch Kontext Bedeutung.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Was bedeutet die Zahl 18?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und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508760"/>
            <a:ext cx="420624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39" y="1508760"/>
            <a:ext cx="4206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1C2D44"/>
                </a:solidFill>
                <a:latin typeface="Aptos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069AA"/>
                </a:solidFill>
                <a:latin typeface="Aptos"/>
              </a:rPr>
              <a:t>Welche Informationen fehlen, damit die Zahl eindeutig wird?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Daten und Information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und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4937760" cy="3017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069AA"/>
                </a:solidFill>
                <a:latin typeface="Aptos"/>
              </a:rPr>
              <a:t>Daten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43891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0">
                <a:solidFill>
                  <a:srgbClr val="1C2D44"/>
                </a:solidFill>
                <a:latin typeface="Aptos"/>
              </a:rPr>
              <a:t>Zeichen, Werte oder andere
digitale Darstellungen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4937760" cy="3017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9164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E8A68"/>
                </a:solidFill>
                <a:latin typeface="Aptos"/>
              </a:rPr>
              <a:t>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43891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0">
                <a:solidFill>
                  <a:srgbClr val="1C2D44"/>
                </a:solidFill>
                <a:latin typeface="Aptos"/>
              </a:rPr>
              <a:t>Bedeutung, die wir den Daten
in einem Kontext entnehmen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Kontext verändert Bedeutung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und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560320" cy="21031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C2D44"/>
                </a:solidFill>
                <a:latin typeface="Aptos"/>
              </a:rPr>
              <a:t>18 °C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5F6973"/>
                </a:solidFill>
                <a:latin typeface="Aptos"/>
              </a:rPr>
              <a:t>Temperatur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54480"/>
            <a:ext cx="2560320" cy="21031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78308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C2D44"/>
                </a:solidFill>
                <a:latin typeface="Aptos"/>
              </a:rPr>
              <a:t>18 Jahre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0604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5F6973"/>
                </a:solidFill>
                <a:latin typeface="Aptos"/>
              </a:rPr>
              <a:t>Alter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2560320" cy="21031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78308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C2D44"/>
                </a:solidFill>
                <a:latin typeface="Aptos"/>
              </a:rPr>
              <a:t>18 Punkte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60604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5F6973"/>
                </a:solidFill>
                <a:latin typeface="Aptos"/>
              </a:rPr>
              <a:t>Ergebnis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554480"/>
            <a:ext cx="2560320" cy="21031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78308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C2D44"/>
                </a:solidFill>
                <a:latin typeface="Aptos"/>
              </a:rPr>
              <a:t>18:00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60604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5F6973"/>
                </a:solidFill>
                <a:latin typeface="Aptos"/>
              </a:rPr>
              <a:t>Uhrzeit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E8A68"/>
                </a:solidFill>
                <a:latin typeface="Aptos"/>
              </a:rPr>
              <a:t>Der Wert bleibt gleich – die Information entsteht erst durch den Kontext.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Darstellungsformen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und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38328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33832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38328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325880"/>
            <a:ext cx="33832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Tabelle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325880"/>
            <a:ext cx="338328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325880"/>
            <a:ext cx="33832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Diagramm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91839"/>
            <a:ext cx="338328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91839"/>
            <a:ext cx="33832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Grafik / Bild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291839"/>
            <a:ext cx="338328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91839"/>
            <a:ext cx="33832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Audio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291839"/>
            <a:ext cx="338328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3291839"/>
            <a:ext cx="33832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Video / Multimedia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Welche Darstellung passt zur Aufgabe?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und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2120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63039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exakten Wert finden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0312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C2D44"/>
                </a:solidFill>
                <a:latin typeface="Aptos"/>
              </a:rPr>
              <a:t>Tabelle oft praktisch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39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Entwicklung erkennen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C2D44"/>
                </a:solidFill>
                <a:latin typeface="Aptos"/>
              </a:rPr>
              <a:t>Diagramm oft praktisch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52120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611879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etwas erklären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251959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C2D44"/>
                </a:solidFill>
                <a:latin typeface="Aptos"/>
              </a:rPr>
              <a:t>Text + Grafik möglich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74720"/>
            <a:ext cx="52120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11879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Stimmung vermitteln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51959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C2D44"/>
                </a:solidFill>
                <a:latin typeface="Aptos"/>
              </a:rPr>
              <a:t>Bild, Audio oder Video möglich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Dieselben Wetterdaten – zwei Darstellungen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und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069AA"/>
                </a:solidFill>
                <a:latin typeface="Aptos"/>
              </a:rPr>
              <a:t>Tabelle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691640"/>
            <a:ext cx="1828800" cy="43891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Tag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691640"/>
            <a:ext cx="1828800" cy="43891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691640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Temperatur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194560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194560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C2D44"/>
                </a:solidFill>
                <a:latin typeface="Aptos"/>
              </a:rPr>
              <a:t>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194560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194560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C2D44"/>
                </a:solidFill>
                <a:latin typeface="Aptos"/>
              </a:rPr>
              <a:t>14 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2697480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697480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C2D44"/>
                </a:solidFill>
                <a:latin typeface="Aptos"/>
              </a:rPr>
              <a:t>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2697480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2697480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C2D44"/>
                </a:solidFill>
                <a:latin typeface="Aptos"/>
              </a:rPr>
              <a:t>16 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3200400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200400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C2D44"/>
                </a:solidFill>
                <a:latin typeface="Aptos"/>
              </a:rPr>
              <a:t>Mi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3200400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3200400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C2D44"/>
                </a:solidFill>
                <a:latin typeface="Aptos"/>
              </a:rPr>
              <a:t>15 °C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3703320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703320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C2D44"/>
                </a:solidFill>
                <a:latin typeface="Aptos"/>
              </a:rPr>
              <a:t>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3703320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3703320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C2D44"/>
                </a:solidFill>
                <a:latin typeface="Aptos"/>
              </a:rPr>
              <a:t>18 °C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4206240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06240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C2D44"/>
                </a:solidFill>
                <a:latin typeface="Aptos"/>
              </a:rPr>
              <a:t>Fr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4206240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4206240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C2D44"/>
                </a:solidFill>
                <a:latin typeface="Aptos"/>
              </a:rPr>
              <a:t>20 °C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1188720"/>
            <a:ext cx="5303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E8A68"/>
                </a:solidFill>
                <a:latin typeface="Aptos"/>
              </a:rPr>
              <a:t>Diagramm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160520"/>
            <a:ext cx="4343400" cy="22860"/>
          </a:xfrm>
          <a:prstGeom prst="rect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1691640"/>
            <a:ext cx="22860" cy="2487168"/>
          </a:xfrm>
          <a:prstGeom prst="rect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37960" y="3502152"/>
            <a:ext cx="438912" cy="658368"/>
          </a:xfrm>
          <a:prstGeom prst="rect">
            <a:avLst/>
          </a:prstGeom>
          <a:solidFill>
            <a:srgbClr val="3E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187952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F6973"/>
                </a:solidFill>
                <a:latin typeface="Aptos"/>
              </a:rPr>
              <a:t>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8232" y="3044952"/>
            <a:ext cx="685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C2D44"/>
                </a:solidFill>
                <a:latin typeface="Aptos"/>
              </a:rPr>
              <a:t>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3172968"/>
            <a:ext cx="438912" cy="987552"/>
          </a:xfrm>
          <a:prstGeom prst="rect">
            <a:avLst/>
          </a:prstGeom>
          <a:solidFill>
            <a:srgbClr val="3E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60" y="4187952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F6973"/>
                </a:solidFill>
                <a:latin typeface="Aptos"/>
              </a:rPr>
              <a:t>Di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5472" y="2715768"/>
            <a:ext cx="685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C2D44"/>
                </a:solidFill>
                <a:latin typeface="Aptos"/>
              </a:rPr>
              <a:t>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3337560"/>
            <a:ext cx="438912" cy="822959"/>
          </a:xfrm>
          <a:prstGeom prst="rect">
            <a:avLst/>
          </a:prstGeom>
          <a:solidFill>
            <a:srgbClr val="3E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4187952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F6973"/>
                </a:solidFill>
                <a:latin typeface="Aptos"/>
              </a:rPr>
              <a:t>Mi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82712" y="2880360"/>
            <a:ext cx="685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C2D44"/>
                </a:solidFill>
                <a:latin typeface="Aptos"/>
              </a:rPr>
              <a:t>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9680" y="2843784"/>
            <a:ext cx="438912" cy="1316736"/>
          </a:xfrm>
          <a:prstGeom prst="rect">
            <a:avLst/>
          </a:prstGeom>
          <a:solidFill>
            <a:srgbClr val="3E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4187952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F6973"/>
                </a:solidFill>
                <a:latin typeface="Aptos"/>
              </a:rPr>
              <a:t>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59952" y="2386584"/>
            <a:ext cx="685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C2D44"/>
                </a:solidFill>
                <a:latin typeface="Aptos"/>
              </a:rPr>
              <a:t>18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2514600"/>
            <a:ext cx="438912" cy="1645919"/>
          </a:xfrm>
          <a:prstGeom prst="rect">
            <a:avLst/>
          </a:prstGeom>
          <a:solidFill>
            <a:srgbClr val="3E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55480" y="4187952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F6973"/>
                </a:solidFill>
                <a:latin typeface="Aptos"/>
              </a:rPr>
              <a:t>Fr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37192" y="2057400"/>
            <a:ext cx="685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C2D44"/>
                </a:solidFill>
                <a:latin typeface="Aptos"/>
              </a:rPr>
              <a:t>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80060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Vergleicht: Wo findet ihr einen exakten Wert schneller?
Wo erkennt ihr den Verlauf der Woche schneller?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Ziel und Zielgruppe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und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47548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069AA"/>
                </a:solidFill>
                <a:latin typeface="Aptos"/>
              </a:rPr>
              <a:t>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0"/>
            <a:ext cx="4297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1C2D44"/>
                </a:solidFill>
                <a:latin typeface="Aptos"/>
              </a:rPr>
              <a:t>Was soll erkannt, verstanden oder getan werden?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600200"/>
            <a:ext cx="47548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4754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E8A68"/>
                </a:solidFill>
                <a:latin typeface="Aptos"/>
              </a:rPr>
              <a:t>Zielgruppe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560320"/>
            <a:ext cx="4297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1C2D44"/>
                </a:solidFill>
                <a:latin typeface="Aptos"/>
              </a:rPr>
              <a:t>Wer soll die Darstellung verstehen?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Dieselbe Information kann für verschiedene Zielgruppen anders dargestellt werden.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Inhalt und Gestaltung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und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493776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069AA"/>
                </a:solidFill>
                <a:latin typeface="Aptos"/>
              </a:rPr>
              <a:t>Inhalt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4389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korrekt
relevant
verständlich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493776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B9E37"/>
                </a:solidFill>
                <a:latin typeface="Aptos"/>
              </a:rPr>
              <a:t>Gestaltung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31720"/>
            <a:ext cx="4389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lesbar
geordnet
zum Zweck passend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Welche Software passt?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und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468880" cy="2148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C2D44"/>
                </a:solidFill>
                <a:latin typeface="Aptos"/>
              </a:rPr>
              <a:t>Textverarbeitung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1600200"/>
            <a:ext cx="2468880" cy="2148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18288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Daten ordnen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256032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C2D44"/>
                </a:solidFill>
                <a:latin typeface="Aptos"/>
              </a:rPr>
              <a:t>Tabellenkalkulation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2468880" cy="2148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8288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Folien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6032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C2D44"/>
                </a:solidFill>
                <a:latin typeface="Aptos"/>
              </a:rPr>
              <a:t>Präsentationssoftware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19" y="1600200"/>
            <a:ext cx="2468880" cy="2148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19" y="18288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Bild bearbeiten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56032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C2D44"/>
                </a:solidFill>
                <a:latin typeface="Aptos"/>
              </a:rPr>
              <a:t>Grafik-/Bildsoftware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B94945"/>
                </a:solidFill>
                <a:latin typeface="Aptos"/>
              </a:rPr>
              <a:t>Werkzeug nach Aufgabe auswählen – nicht nur nach Gewohnheit.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Automatisierung in Anwendersoftware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und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C2D44"/>
                </a:solidFill>
                <a:latin typeface="Aptos"/>
              </a:rPr>
              <a:t>Programme können wiederkehrende Arbeit automatisch übernehmen.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3291840" cy="1828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Rechtschreibprüfung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C2D44"/>
                </a:solidFill>
                <a:latin typeface="Aptos"/>
              </a:rPr>
              <a:t>Text automatisch prüfen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331720"/>
            <a:ext cx="3291840" cy="1828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56032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Formatvorlage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246120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C2D44"/>
                </a:solidFill>
                <a:latin typeface="Aptos"/>
              </a:rPr>
              <a:t>gleiche Gestaltung wiederverwenden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331720"/>
            <a:ext cx="3291840" cy="1828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B9E37"/>
                </a:solidFill>
                <a:latin typeface="Aptos"/>
              </a:rPr>
              <a:t>Formel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C2D44"/>
                </a:solidFill>
                <a:latin typeface="Aptos"/>
              </a:rPr>
              <a:t>Ergebnis nach Änderung neu berechnen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Sicherung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und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969264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Daten sind Darstellungen.
Information entsteht durch Bedeutung im Kontext.
Darstellungsformen werden nach Zweck und Zielgruppe gewählt.
Gute Gestaltung unterstützt den Inhalt.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Ausblick: Objekte mit Eigenschaften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Informationen und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Wenn Programme mit Dokumenten arbeiten: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3069AA"/>
                </a:solidFill>
                <a:latin typeface="Aptos"/>
              </a:rPr>
              <a:t>Welche Dinge darin kann man als Objekte
mit Eigenschaften beschreiben?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