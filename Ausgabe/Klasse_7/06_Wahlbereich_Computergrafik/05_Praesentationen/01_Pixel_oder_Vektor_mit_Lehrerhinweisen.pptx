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Einstieg: Titel zunächst stehen lassen und Vorwissen aktivieren. Fragen Sie: „Welche Begriffe kennt ihr bereits?“ Die Präsentation ist als visualisierende Unterrichtsbegleitung gedacht; die Folien nicht vorlesen. Hinweis zur Differenzierung: schwächere Lernende erhalten konkrete Alltagsbeispiele, stärkere begründen Zusammenhänge. Lehrplanbezug/Orientierung: https://schule.sachsen.de/lehrplaene-und-arbeitsmaterialien-6025.html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Einstieg: Zeigen Sie möglichst ein Foto und ein einfaches Logo und vergrößern Sie beide stark. Beobachtungen sammeln, noch keine Begriffe vorgeben. Ziel: Die Lernenden entwickeln die Frage nach der unterschiedlichen internen Beschreibung. Sprachsensibel: 'pixelig' als Alltagssprache aufnehmen und anschließend mit Raster/Bildpunkten fachlich präzisieren. Lehrplan-/Materialorientierung: aktuelle sächsische Lehrpläne und Arbeitsmaterialien über die dynamische Lehrplandatenbank: https://schule.sachsen.de/lehrplaene-und-arbeitsmaterialien-6025.html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Lehrerhinweis: Das Rasterprinzip mit der vergrößerten 4×4-Darstellung erläutern. Ein Pixel ist ein einzelner Bildpunkt; das Bild entsteht aus vielen Bildpunkten. Nicht behaupten, jeder Pixel sei auf jedem Display physisch genau gleich groß. Hier geht es um die logische Bildbeschreibung. Aktivierung: Lernende beschreiben, wie man ein sehr kleines Smiley-Bild als Raster codieren könnte.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Rechenbezug: Breite × Höhe als Pixelanzahl. 'Mehr Pixel = immer besser' vermeiden: Anzeigegröße, Aufnahmequalität, Dateigröße und Einsatzzweck spielen mit hinein. Kurze Aufgabe: Welche Darstellung enthält mehr Pixel? Danach qualitative Frage: Brauche ich diese Auflösung für ein kleines Symbol? Differenzierung: stärkere Lernende schätzen Faktoren bei Verdopplung beider Seitenlängen.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Rechenfolie: Rechnung gemeinsam durchführen. Darauf achten, dass 800 × 600 nicht 1 400, sondern 480 000 ergibt. Transfer: 1 600 × 1 200 hat viermal so viele Pixel wie 800 × 600, weil beide Seiten verdoppelt wurden. Optional Taschenrechner verwenden; Schwerpunkt ist Größenverständnis, nicht Kopfrechnen.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Grafik ist absichtlich grob. Erklären: Beim Vergrößern eines Rasters werden vorhandene Bildpunkte größer dargestellt bzw. Zwischenwerte berechnet; ursprüngliche Details entstehen dadurch nicht neu. Optional als externe Vergleichsquelle zeigen: Wikimedia Commons 'Pixel Vector Comparison' von Editor B, CC BY 4.0. Quelle: https://commons.wikimedia.org/wiki/File:Pixel_Vector_Comparison.svg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Lehrerhinweis: Vektorgrafik als Objektbeschreibung erklären, nicht als 'Bild ohne Pixel'. Auf einem Bildschirm wird auch eine Vektorgrafik letztlich gerastert dargestellt; entscheidend ist die gespeicherte Beschreibung. Beispiele: Kreis mit Mittelpunkt/Radius/Farbe, Linie mit Start-/Endpunkt. Praxis: In einem Vektorgrafikprogramm ein Objekt auswählen und Eigenschaften verändern.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Praxisorientiert arbeiten: Rechteck anlegen und nacheinander nur ein Attribut ändern. Lernende benennen jeweils, was gleich bleibt und was sich verändert. Begriff 'Attribut' ausdrücklich sichern. Verbindung zu vorherigem Lernbereich möglich: Objekte besitzen Eigenschaften. Differenzierung: zusätzliche Attribute wie Transparenz oder Drehung nur optional.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Lehrerhinweis: Den Stern klein und groß vergleichen. Die gespeicherte geometrische Beschreibung kann neu berechnet werden. Wichtig: 'unendlich perfekt' vermeiden; Ausgabe- und Bildschirmauflösung setzen praktische Grenzen, aber die Vektordatei selbst ist nicht an ein festes Pixelraster gebunden. Transferfrage: Warum eignen sich Vektoren gut für Logos auf Visitenkarte und Plakat?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Vergleich nicht als 'gut vs. schlecht' vermitteln. Beide Grafiktypen haben geeignete Einsatzbereiche. Lernende sollen je ein Beispiel begründet zuordnen: Urlaubsfoto → meist Pixel; Schullogo → häufig Vektor. Externe fachliche Vergleichsgrafik als optionale Quelle: Wikimedia Commons, 'Pixel Vector Comparison', Editor B, CC BY 4.0. https://commons.wikimedia.org/wiki/File:Pixel_Vector_Comparison.svg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Arbeitsphase: Auftrag vorlesen und Erfolgskriterien sichtbar lassen. Mindestprodukt: drei unterscheidbare Objekte + dokumentierte Attribute + begründete Wahl des Grafiktyps. Hilfen: Satzstarter 'Ich wähle …, weil …'; Attributliste bereitstellen. Erweiterung: gleiche Grafik in zwei Größen exportieren und Unterschiede untersuchen. Bewertungsschwerpunkt: fachliche Begründung und nachvollziehbare Objektbeschreibung, nicht künstlerische Perfektion.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Fehlvorstellungen explizit bearbeiten. Aussagen als Wahr/Falsch-Karten einsetzen. 1) 'Vektoren bestehen aus besonders kleinen Pixeln.' → falsch. 2) 'Für Fotos sind Pixelgrafiken oft passend.' → richtig. 3) 'Eine größere Pixelzahl garantiert immer ein besseres Bild.' → falsch/zu pauschal. Lernende sollen jede Entscheidung mit einem Fachbegriff begründen.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Abschluss: Jede Person nennt einen konkreten Einsatzzweck und entscheidet Pixel/Vektor mit Begründung. Exit-Ticket: 'Ein Foto ist meist …, weil …'; 'Ein Logo ist häufig …, weil …'; 'Ein Attribut eines Rechtecks ist …'. Optional die externe Wikimedia-Vergleichsgrafik als Wiederholung einsetzen. Bild-/Vergleichsquelle: Editor B, Pixel Vector Comparison, Wikimedia Commons, CC BY 4.0: https://commons.wikimedia.org/wiki/File:Pixel_Vector_Comparison.svg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Pixel oder Vektor?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718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FFFFFF"/>
                </a:solidFill>
              </a:rPr>
              <a:t>Klasse 7 · Wahlbereich Computergrafik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F374E"/>
                </a:solidFill>
              </a:rPr>
              <a:t>Leitfrage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25880"/>
            <a:ext cx="10607040" cy="201168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700" b="1">
                <a:solidFill>
                  <a:srgbClr val="1F374E"/>
                </a:solidFill>
              </a:rPr>
              <a:t>Warum wird ein Foto beim starken Vergrößern pixelig, eine einfache Vektorgrafik aber nicht?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96969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F374E"/>
                </a:solidFill>
              </a:rPr>
              <a:t>Pixelgrafik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5623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Raster aus einzelnen Bildpunkten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Jeder Pixel besitzt Position und Farbwert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Typisch für Fotos und detailreiche Bilder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325880"/>
            <a:ext cx="621792" cy="621792"/>
          </a:xfrm>
          <a:prstGeom prst="rect">
            <a:avLst/>
          </a:prstGeom>
          <a:solidFill>
            <a:srgbClr val="FFFFFF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59168" y="1325880"/>
            <a:ext cx="621792" cy="621792"/>
          </a:xfrm>
          <a:prstGeom prst="rect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17536" y="1325880"/>
            <a:ext cx="621792" cy="621792"/>
          </a:xfrm>
          <a:prstGeom prst="rect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75904" y="1325880"/>
            <a:ext cx="621792" cy="621792"/>
          </a:xfrm>
          <a:prstGeom prst="rect">
            <a:avLst/>
          </a:prstGeom>
          <a:solidFill>
            <a:srgbClr val="FFFFFF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984248"/>
            <a:ext cx="621792" cy="621792"/>
          </a:xfrm>
          <a:prstGeom prst="rect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59168" y="1984248"/>
            <a:ext cx="621792" cy="621792"/>
          </a:xfrm>
          <a:prstGeom prst="rect">
            <a:avLst/>
          </a:prstGeom>
          <a:solidFill>
            <a:srgbClr val="FFFFFF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17536" y="1984248"/>
            <a:ext cx="621792" cy="621792"/>
          </a:xfrm>
          <a:prstGeom prst="rect">
            <a:avLst/>
          </a:prstGeom>
          <a:solidFill>
            <a:srgbClr val="FFFFFF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75904" y="1984248"/>
            <a:ext cx="621792" cy="621792"/>
          </a:xfrm>
          <a:prstGeom prst="rect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2642615"/>
            <a:ext cx="621792" cy="621792"/>
          </a:xfrm>
          <a:prstGeom prst="rect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59168" y="2642615"/>
            <a:ext cx="621792" cy="621792"/>
          </a:xfrm>
          <a:prstGeom prst="rect">
            <a:avLst/>
          </a:prstGeom>
          <a:solidFill>
            <a:srgbClr val="FFFFFF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17536" y="2642615"/>
            <a:ext cx="621792" cy="621792"/>
          </a:xfrm>
          <a:prstGeom prst="rect">
            <a:avLst/>
          </a:prstGeom>
          <a:solidFill>
            <a:srgbClr val="FFFFFF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75904" y="2642615"/>
            <a:ext cx="621792" cy="621792"/>
          </a:xfrm>
          <a:prstGeom prst="rect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300984"/>
            <a:ext cx="621792" cy="621792"/>
          </a:xfrm>
          <a:prstGeom prst="rect">
            <a:avLst/>
          </a:prstGeom>
          <a:solidFill>
            <a:srgbClr val="FFFFFF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59168" y="3300984"/>
            <a:ext cx="621792" cy="621792"/>
          </a:xfrm>
          <a:prstGeom prst="rect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17536" y="3300984"/>
            <a:ext cx="621792" cy="621792"/>
          </a:xfrm>
          <a:prstGeom prst="rect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75904" y="3300984"/>
            <a:ext cx="621792" cy="621792"/>
          </a:xfrm>
          <a:prstGeom prst="rect">
            <a:avLst/>
          </a:prstGeom>
          <a:solidFill>
            <a:srgbClr val="FFFFFF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72600" y="1965960"/>
            <a:ext cx="1645920" cy="822960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374E"/>
                </a:solidFill>
              </a:rPr>
              <a:t>4 × 4
Pixel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96969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F374E"/>
                </a:solidFill>
              </a:rPr>
              <a:t>Auflösung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5623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Breite × Höhe bestimmt die Pixelanzahl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Mehr Pixel können mehr Bilddetails ermöglichen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Sinnvolle Auflösung hängt vom Einsatzzweck ab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234440"/>
            <a:ext cx="1920240" cy="50292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374E"/>
                </a:solidFill>
              </a:rPr>
              <a:t>niedrig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37960" y="1965960"/>
            <a:ext cx="329184" cy="329184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67144" y="1965960"/>
            <a:ext cx="329184" cy="329184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96328" y="1965960"/>
            <a:ext cx="329184" cy="329184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25512" y="1965960"/>
            <a:ext cx="329184" cy="329184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54696" y="1965960"/>
            <a:ext cx="329184" cy="329184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37960" y="2295144"/>
            <a:ext cx="329184" cy="329184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67144" y="2295144"/>
            <a:ext cx="329184" cy="329184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96328" y="2295144"/>
            <a:ext cx="329184" cy="329184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25512" y="2295144"/>
            <a:ext cx="329184" cy="329184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54696" y="2295144"/>
            <a:ext cx="329184" cy="329184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624328"/>
            <a:ext cx="329184" cy="329184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67144" y="2624328"/>
            <a:ext cx="329184" cy="329184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96328" y="2624328"/>
            <a:ext cx="329184" cy="329184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25512" y="2624328"/>
            <a:ext cx="329184" cy="329184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54696" y="2624328"/>
            <a:ext cx="329184" cy="329184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37960" y="2953512"/>
            <a:ext cx="329184" cy="329184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67144" y="2953512"/>
            <a:ext cx="329184" cy="329184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96328" y="2953512"/>
            <a:ext cx="329184" cy="329184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25512" y="2953512"/>
            <a:ext cx="329184" cy="329184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54696" y="2953512"/>
            <a:ext cx="329184" cy="329184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37960" y="3282696"/>
            <a:ext cx="329184" cy="329184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67144" y="3282696"/>
            <a:ext cx="329184" cy="329184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96328" y="3282696"/>
            <a:ext cx="329184" cy="329184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525512" y="3282696"/>
            <a:ext cx="329184" cy="329184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854696" y="3282696"/>
            <a:ext cx="329184" cy="329184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732520" y="1234440"/>
            <a:ext cx="1920240" cy="50292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374E"/>
                </a:solidFill>
              </a:rPr>
              <a:t>höher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69680" y="1965960"/>
            <a:ext cx="182880" cy="182880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52560" y="1965960"/>
            <a:ext cx="182880" cy="182880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35440" y="1965960"/>
            <a:ext cx="182880" cy="182880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18320" y="1965960"/>
            <a:ext cx="182880" cy="182880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01200" y="1965960"/>
            <a:ext cx="182880" cy="182880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784080" y="1965960"/>
            <a:ext cx="182880" cy="182880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966960" y="1965960"/>
            <a:ext cx="182880" cy="182880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149840" y="1965960"/>
            <a:ext cx="182880" cy="182880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332720" y="1965960"/>
            <a:ext cx="182880" cy="182880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869680" y="2148840"/>
            <a:ext cx="182880" cy="182880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52560" y="2148840"/>
            <a:ext cx="182880" cy="182880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35440" y="2148840"/>
            <a:ext cx="182880" cy="182880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418320" y="2148840"/>
            <a:ext cx="182880" cy="182880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601200" y="2148840"/>
            <a:ext cx="182880" cy="182880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784080" y="2148840"/>
            <a:ext cx="182880" cy="182880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966960" y="2148840"/>
            <a:ext cx="182880" cy="182880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149840" y="2148840"/>
            <a:ext cx="182880" cy="182880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332720" y="2148840"/>
            <a:ext cx="182880" cy="182880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869680" y="2331720"/>
            <a:ext cx="182880" cy="182880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052560" y="2331720"/>
            <a:ext cx="182880" cy="182880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235440" y="2331720"/>
            <a:ext cx="182880" cy="182880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418320" y="2331720"/>
            <a:ext cx="182880" cy="182880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01200" y="2331720"/>
            <a:ext cx="182880" cy="182880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784080" y="2331720"/>
            <a:ext cx="182880" cy="182880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966960" y="2331720"/>
            <a:ext cx="182880" cy="182880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149840" y="2331720"/>
            <a:ext cx="182880" cy="182880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332720" y="2331720"/>
            <a:ext cx="182880" cy="182880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869680" y="2514600"/>
            <a:ext cx="182880" cy="182880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052560" y="2514600"/>
            <a:ext cx="182880" cy="182880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235440" y="2514600"/>
            <a:ext cx="182880" cy="182880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418320" y="2514600"/>
            <a:ext cx="182880" cy="182880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601200" y="2514600"/>
            <a:ext cx="182880" cy="182880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784080" y="2514600"/>
            <a:ext cx="182880" cy="182880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966960" y="2514600"/>
            <a:ext cx="182880" cy="182880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149840" y="2514600"/>
            <a:ext cx="182880" cy="182880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332720" y="2514600"/>
            <a:ext cx="182880" cy="182880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869680" y="2697480"/>
            <a:ext cx="182880" cy="182880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052560" y="2697480"/>
            <a:ext cx="182880" cy="182880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235440" y="2697480"/>
            <a:ext cx="182880" cy="182880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418320" y="2697480"/>
            <a:ext cx="182880" cy="182880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601200" y="2697480"/>
            <a:ext cx="182880" cy="182880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784080" y="2697480"/>
            <a:ext cx="182880" cy="182880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966960" y="2697480"/>
            <a:ext cx="182880" cy="182880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149840" y="2697480"/>
            <a:ext cx="182880" cy="182880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332720" y="2697480"/>
            <a:ext cx="182880" cy="182880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869680" y="2880360"/>
            <a:ext cx="182880" cy="182880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052560" y="2880360"/>
            <a:ext cx="182880" cy="182880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235440" y="2880360"/>
            <a:ext cx="182880" cy="182880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418320" y="2880360"/>
            <a:ext cx="182880" cy="182880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601200" y="2880360"/>
            <a:ext cx="182880" cy="182880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784080" y="2880360"/>
            <a:ext cx="182880" cy="182880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966960" y="2880360"/>
            <a:ext cx="182880" cy="182880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149840" y="2880360"/>
            <a:ext cx="182880" cy="182880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332720" y="2880360"/>
            <a:ext cx="182880" cy="182880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869680" y="3063240"/>
            <a:ext cx="182880" cy="182880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052560" y="3063240"/>
            <a:ext cx="182880" cy="182880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235440" y="3063240"/>
            <a:ext cx="182880" cy="182880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418320" y="3063240"/>
            <a:ext cx="182880" cy="182880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601200" y="3063240"/>
            <a:ext cx="182880" cy="182880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784080" y="3063240"/>
            <a:ext cx="182880" cy="182880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966960" y="3063240"/>
            <a:ext cx="182880" cy="182880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149840" y="3063240"/>
            <a:ext cx="182880" cy="182880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332720" y="3063240"/>
            <a:ext cx="182880" cy="182880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869680" y="3246120"/>
            <a:ext cx="182880" cy="182880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052560" y="3246120"/>
            <a:ext cx="182880" cy="182880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235440" y="3246120"/>
            <a:ext cx="182880" cy="182880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418320" y="3246120"/>
            <a:ext cx="182880" cy="182880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601200" y="3246120"/>
            <a:ext cx="182880" cy="182880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784080" y="3246120"/>
            <a:ext cx="182880" cy="182880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966960" y="3246120"/>
            <a:ext cx="182880" cy="182880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149840" y="3246120"/>
            <a:ext cx="182880" cy="182880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332720" y="3246120"/>
            <a:ext cx="182880" cy="182880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869680" y="3429000"/>
            <a:ext cx="182880" cy="182880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52560" y="3429000"/>
            <a:ext cx="182880" cy="182880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35440" y="3429000"/>
            <a:ext cx="182880" cy="182880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18320" y="3429000"/>
            <a:ext cx="182880" cy="182880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601200" y="3429000"/>
            <a:ext cx="182880" cy="182880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784080" y="3429000"/>
            <a:ext cx="182880" cy="182880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966960" y="3429000"/>
            <a:ext cx="182880" cy="182880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0149840" y="3429000"/>
            <a:ext cx="182880" cy="182880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332720" y="3429000"/>
            <a:ext cx="182880" cy="182880"/>
          </a:xfrm>
          <a:prstGeom prst="rect">
            <a:avLst/>
          </a:prstGeom>
          <a:solidFill>
            <a:srgbClr val="DCE6F1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96969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F374E"/>
                </a:solidFill>
              </a:rPr>
              <a:t>Beispiel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25880"/>
            <a:ext cx="10607040" cy="201168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700" b="1">
                <a:solidFill>
                  <a:srgbClr val="1F374E"/>
                </a:solidFill>
              </a:rPr>
              <a:t>800 × 600 = 480 000 Pixel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96969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F374E"/>
                </a:solidFill>
              </a:rPr>
              <a:t>Vergrößern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5623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Bei starker Vergrößerung werden einzelne Pixel sichtbar.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Kanten wirken stufig oder unscharf.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Vergrößern erzeugt nicht automatisch neue Bilddetails.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645920"/>
            <a:ext cx="192024" cy="192024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01968" y="1645920"/>
            <a:ext cx="192024" cy="192024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03136" y="1645920"/>
            <a:ext cx="192024" cy="192024"/>
          </a:xfrm>
          <a:prstGeom prst="rect">
            <a:avLst/>
          </a:prstGeom>
          <a:solidFill>
            <a:srgbClr val="4472C4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004304" y="1645920"/>
            <a:ext cx="192024" cy="192024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05472" y="1645920"/>
            <a:ext cx="192024" cy="192024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847088"/>
            <a:ext cx="192024" cy="192024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01968" y="1847088"/>
            <a:ext cx="192024" cy="192024"/>
          </a:xfrm>
          <a:prstGeom prst="rect">
            <a:avLst/>
          </a:prstGeom>
          <a:solidFill>
            <a:srgbClr val="4472C4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03136" y="1847088"/>
            <a:ext cx="192024" cy="192024"/>
          </a:xfrm>
          <a:prstGeom prst="rect">
            <a:avLst/>
          </a:prstGeom>
          <a:solidFill>
            <a:srgbClr val="4472C4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04304" y="1847088"/>
            <a:ext cx="192024" cy="192024"/>
          </a:xfrm>
          <a:prstGeom prst="rect">
            <a:avLst/>
          </a:prstGeom>
          <a:solidFill>
            <a:srgbClr val="4472C4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05472" y="1847088"/>
            <a:ext cx="192024" cy="192024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2048256"/>
            <a:ext cx="192024" cy="192024"/>
          </a:xfrm>
          <a:prstGeom prst="rect">
            <a:avLst/>
          </a:prstGeom>
          <a:solidFill>
            <a:srgbClr val="4472C4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01968" y="2048256"/>
            <a:ext cx="192024" cy="192024"/>
          </a:xfrm>
          <a:prstGeom prst="rect">
            <a:avLst/>
          </a:prstGeom>
          <a:solidFill>
            <a:srgbClr val="4472C4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03136" y="2048256"/>
            <a:ext cx="192024" cy="192024"/>
          </a:xfrm>
          <a:prstGeom prst="rect">
            <a:avLst/>
          </a:prstGeom>
          <a:solidFill>
            <a:srgbClr val="4472C4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04304" y="2048256"/>
            <a:ext cx="192024" cy="192024"/>
          </a:xfrm>
          <a:prstGeom prst="rect">
            <a:avLst/>
          </a:prstGeom>
          <a:solidFill>
            <a:srgbClr val="4472C4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05472" y="2048256"/>
            <a:ext cx="192024" cy="192024"/>
          </a:xfrm>
          <a:prstGeom prst="rect">
            <a:avLst/>
          </a:prstGeom>
          <a:solidFill>
            <a:srgbClr val="4472C4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2249424"/>
            <a:ext cx="192024" cy="192024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01968" y="2249424"/>
            <a:ext cx="192024" cy="192024"/>
          </a:xfrm>
          <a:prstGeom prst="rect">
            <a:avLst/>
          </a:prstGeom>
          <a:solidFill>
            <a:srgbClr val="4472C4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03136" y="2249424"/>
            <a:ext cx="192024" cy="192024"/>
          </a:xfrm>
          <a:prstGeom prst="rect">
            <a:avLst/>
          </a:prstGeom>
          <a:solidFill>
            <a:srgbClr val="4472C4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04304" y="2249424"/>
            <a:ext cx="192024" cy="192024"/>
          </a:xfrm>
          <a:prstGeom prst="rect">
            <a:avLst/>
          </a:prstGeom>
          <a:solidFill>
            <a:srgbClr val="4472C4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05472" y="2249424"/>
            <a:ext cx="192024" cy="192024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2450592"/>
            <a:ext cx="192024" cy="192024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01968" y="2450592"/>
            <a:ext cx="192024" cy="192024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03136" y="2450592"/>
            <a:ext cx="192024" cy="192024"/>
          </a:xfrm>
          <a:prstGeom prst="rect">
            <a:avLst/>
          </a:prstGeom>
          <a:solidFill>
            <a:srgbClr val="4472C4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04304" y="2450592"/>
            <a:ext cx="192024" cy="192024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05472" y="2450592"/>
            <a:ext cx="192024" cy="192024"/>
          </a:xfrm>
          <a:prstGeom prst="rect">
            <a:avLst/>
          </a:prstGeom>
          <a:solidFill>
            <a:srgbClr val="FFFFFF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ght Arrow 29"/>
          <p:cNvSpPr/>
          <p:nvPr/>
        </p:nvSpPr>
        <p:spPr>
          <a:xfrm>
            <a:off x="7635240" y="1965960"/>
            <a:ext cx="685800" cy="365760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49640" y="1234440"/>
            <a:ext cx="420624" cy="420624"/>
          </a:xfrm>
          <a:prstGeom prst="rect">
            <a:avLst/>
          </a:prstGeom>
          <a:solidFill>
            <a:srgbClr val="FFFFFF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88552" y="1234440"/>
            <a:ext cx="420624" cy="420624"/>
          </a:xfrm>
          <a:prstGeom prst="rect">
            <a:avLst/>
          </a:prstGeom>
          <a:solidFill>
            <a:srgbClr val="FFFFFF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27463" y="1234440"/>
            <a:ext cx="420624" cy="420624"/>
          </a:xfrm>
          <a:prstGeom prst="rect">
            <a:avLst/>
          </a:prstGeom>
          <a:solidFill>
            <a:srgbClr val="4472C4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866376" y="1234440"/>
            <a:ext cx="420624" cy="420624"/>
          </a:xfrm>
          <a:prstGeom prst="rect">
            <a:avLst/>
          </a:prstGeom>
          <a:solidFill>
            <a:srgbClr val="FFFFFF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305288" y="1234440"/>
            <a:ext cx="420624" cy="420624"/>
          </a:xfrm>
          <a:prstGeom prst="rect">
            <a:avLst/>
          </a:prstGeom>
          <a:solidFill>
            <a:srgbClr val="FFFFFF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549640" y="1673352"/>
            <a:ext cx="420624" cy="420624"/>
          </a:xfrm>
          <a:prstGeom prst="rect">
            <a:avLst/>
          </a:prstGeom>
          <a:solidFill>
            <a:srgbClr val="FFFFFF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988552" y="1673352"/>
            <a:ext cx="420624" cy="420624"/>
          </a:xfrm>
          <a:prstGeom prst="rect">
            <a:avLst/>
          </a:prstGeom>
          <a:solidFill>
            <a:srgbClr val="4472C4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427463" y="1673352"/>
            <a:ext cx="420624" cy="420624"/>
          </a:xfrm>
          <a:prstGeom prst="rect">
            <a:avLst/>
          </a:prstGeom>
          <a:solidFill>
            <a:srgbClr val="4472C4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866376" y="1673352"/>
            <a:ext cx="420624" cy="420624"/>
          </a:xfrm>
          <a:prstGeom prst="rect">
            <a:avLst/>
          </a:prstGeom>
          <a:solidFill>
            <a:srgbClr val="4472C4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305288" y="1673352"/>
            <a:ext cx="420624" cy="420624"/>
          </a:xfrm>
          <a:prstGeom prst="rect">
            <a:avLst/>
          </a:prstGeom>
          <a:solidFill>
            <a:srgbClr val="FFFFFF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549640" y="2112264"/>
            <a:ext cx="420624" cy="420624"/>
          </a:xfrm>
          <a:prstGeom prst="rect">
            <a:avLst/>
          </a:prstGeom>
          <a:solidFill>
            <a:srgbClr val="4472C4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988552" y="2112264"/>
            <a:ext cx="420624" cy="420624"/>
          </a:xfrm>
          <a:prstGeom prst="rect">
            <a:avLst/>
          </a:prstGeom>
          <a:solidFill>
            <a:srgbClr val="4472C4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427463" y="2112264"/>
            <a:ext cx="420624" cy="420624"/>
          </a:xfrm>
          <a:prstGeom prst="rect">
            <a:avLst/>
          </a:prstGeom>
          <a:solidFill>
            <a:srgbClr val="4472C4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866376" y="2112264"/>
            <a:ext cx="420624" cy="420624"/>
          </a:xfrm>
          <a:prstGeom prst="rect">
            <a:avLst/>
          </a:prstGeom>
          <a:solidFill>
            <a:srgbClr val="4472C4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305288" y="2112264"/>
            <a:ext cx="420624" cy="420624"/>
          </a:xfrm>
          <a:prstGeom prst="rect">
            <a:avLst/>
          </a:prstGeom>
          <a:solidFill>
            <a:srgbClr val="4472C4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549640" y="2551176"/>
            <a:ext cx="420624" cy="420624"/>
          </a:xfrm>
          <a:prstGeom prst="rect">
            <a:avLst/>
          </a:prstGeom>
          <a:solidFill>
            <a:srgbClr val="FFFFFF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988552" y="2551176"/>
            <a:ext cx="420624" cy="420624"/>
          </a:xfrm>
          <a:prstGeom prst="rect">
            <a:avLst/>
          </a:prstGeom>
          <a:solidFill>
            <a:srgbClr val="4472C4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427463" y="2551176"/>
            <a:ext cx="420624" cy="420624"/>
          </a:xfrm>
          <a:prstGeom prst="rect">
            <a:avLst/>
          </a:prstGeom>
          <a:solidFill>
            <a:srgbClr val="4472C4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66376" y="2551176"/>
            <a:ext cx="420624" cy="420624"/>
          </a:xfrm>
          <a:prstGeom prst="rect">
            <a:avLst/>
          </a:prstGeom>
          <a:solidFill>
            <a:srgbClr val="4472C4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305288" y="2551176"/>
            <a:ext cx="420624" cy="420624"/>
          </a:xfrm>
          <a:prstGeom prst="rect">
            <a:avLst/>
          </a:prstGeom>
          <a:solidFill>
            <a:srgbClr val="FFFFFF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549640" y="2990088"/>
            <a:ext cx="420624" cy="420624"/>
          </a:xfrm>
          <a:prstGeom prst="rect">
            <a:avLst/>
          </a:prstGeom>
          <a:solidFill>
            <a:srgbClr val="FFFFFF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988552" y="2990088"/>
            <a:ext cx="420624" cy="420624"/>
          </a:xfrm>
          <a:prstGeom prst="rect">
            <a:avLst/>
          </a:prstGeom>
          <a:solidFill>
            <a:srgbClr val="FFFFFF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427463" y="2990088"/>
            <a:ext cx="420624" cy="420624"/>
          </a:xfrm>
          <a:prstGeom prst="rect">
            <a:avLst/>
          </a:prstGeom>
          <a:solidFill>
            <a:srgbClr val="4472C4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866376" y="2990088"/>
            <a:ext cx="420624" cy="420624"/>
          </a:xfrm>
          <a:prstGeom prst="rect">
            <a:avLst/>
          </a:prstGeom>
          <a:solidFill>
            <a:srgbClr val="FFFFFF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305288" y="2990088"/>
            <a:ext cx="420624" cy="420624"/>
          </a:xfrm>
          <a:prstGeom prst="rect">
            <a:avLst/>
          </a:prstGeom>
          <a:solidFill>
            <a:srgbClr val="FFFFFF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96969"/>
                </a:solidFill>
              </a:rPr>
              <a:t>Grafik: eigene Darstellung · Vergleichsquelle: Wikimedia Commons, Editor B, CC BY 4.0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F374E"/>
                </a:solidFill>
              </a:rPr>
              <a:t>Vektorgrafik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5623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Grafische Objekte werden durch Eigenschaften beschrieben.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Objekte können unabhängig verändert werden.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Typisch für Logos, Symbole, Pläne und einfache Illustrationen.</a:t>
            </a:r>
          </a:p>
        </p:txBody>
      </p:sp>
      <p:sp>
        <p:nvSpPr>
          <p:cNvPr id="5" name="Oval 4"/>
          <p:cNvSpPr/>
          <p:nvPr/>
        </p:nvSpPr>
        <p:spPr>
          <a:xfrm>
            <a:off x="6583680" y="1417320"/>
            <a:ext cx="1828800" cy="1828800"/>
          </a:xfrm>
          <a:prstGeom prst="ellipse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8869680" y="1417320"/>
            <a:ext cx="1828800" cy="1828800"/>
          </a:xfrm>
          <a:prstGeom prst="triangle">
            <a:avLst/>
          </a:prstGeom>
          <a:solidFill>
            <a:srgbClr val="FFE699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0" y="3840480"/>
            <a:ext cx="2926080" cy="68580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374E"/>
                </a:solidFill>
              </a:rPr>
              <a:t>Objekte + Eigenschaften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96969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F374E"/>
                </a:solidFill>
              </a:rPr>
              <a:t>Objekt und Attribute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5623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Rechteck: Position, Breite, Höhe, Füllfarbe und Rand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Attribute beschreiben das Objekt.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Änderungen wirken gezielt auf das ausgewählte Objekt.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554480"/>
            <a:ext cx="3474720" cy="2011680"/>
          </a:xfrm>
          <a:prstGeom prst="roundRect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F374E"/>
                </a:solidFill>
              </a:rPr>
              <a:t>RECHTECK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3977639"/>
            <a:ext cx="2011680" cy="566928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374E"/>
                </a:solidFill>
              </a:rPr>
              <a:t>Position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3977639"/>
            <a:ext cx="2011680" cy="566928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374E"/>
                </a:solidFill>
              </a:rPr>
              <a:t>Breite/Höhe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4754879"/>
            <a:ext cx="2011680" cy="566928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374E"/>
                </a:solidFill>
              </a:rPr>
              <a:t>Füllfarbe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4754879"/>
            <a:ext cx="2011680" cy="566928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374E"/>
                </a:solidFill>
              </a:rPr>
              <a:t>Rand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96969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F374E"/>
                </a:solidFill>
              </a:rPr>
              <a:t>Skalieren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5623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Objektbeschreibung bleibt erhalten.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Grafik wird für die gewünschte Größe neu dargestellt.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Einfache Kanten bleiben auch bei starker Vergrößerung glatt.</a:t>
            </a:r>
          </a:p>
        </p:txBody>
      </p:sp>
      <p:sp>
        <p:nvSpPr>
          <p:cNvPr id="5" name="5-Point Star 4"/>
          <p:cNvSpPr/>
          <p:nvPr/>
        </p:nvSpPr>
        <p:spPr>
          <a:xfrm>
            <a:off x="6583680" y="2011680"/>
            <a:ext cx="1097280" cy="1097280"/>
          </a:xfrm>
          <a:prstGeom prst="star5">
            <a:avLst/>
          </a:prstGeom>
          <a:solidFill>
            <a:srgbClr val="FFE699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7909560" y="2331720"/>
            <a:ext cx="731520" cy="365760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8961120" y="1280160"/>
            <a:ext cx="2560320" cy="2560320"/>
          </a:xfrm>
          <a:prstGeom prst="star5">
            <a:avLst/>
          </a:prstGeom>
          <a:solidFill>
            <a:srgbClr val="FFE699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96969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F374E"/>
                </a:solidFill>
              </a:rPr>
              <a:t>Pixel und Vektor im Vergleich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5623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Aufbau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Skalierung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typische Verwendung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Bearbeitung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25880"/>
            <a:ext cx="2240280" cy="685800"/>
          </a:xfrm>
          <a:prstGeom prst="roundRect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F374E"/>
                </a:solidFill>
              </a:rPr>
              <a:t>PIXEL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1325880"/>
            <a:ext cx="2240280" cy="685800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F374E"/>
                </a:solidFill>
              </a:rPr>
              <a:t>VEKTOR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331720"/>
            <a:ext cx="2240280" cy="530352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F374E"/>
                </a:solidFill>
              </a:rPr>
              <a:t>Raster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2331720"/>
            <a:ext cx="2240280" cy="530352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F374E"/>
                </a:solidFill>
              </a:rPr>
              <a:t>Objekte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044952"/>
            <a:ext cx="2240280" cy="530352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F374E"/>
                </a:solidFill>
              </a:rPr>
              <a:t>auflösungsabhängig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3044952"/>
            <a:ext cx="2240280" cy="530352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F374E"/>
                </a:solidFill>
              </a:rPr>
              <a:t>skalierbar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758183"/>
            <a:ext cx="2240280" cy="530352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F374E"/>
                </a:solidFill>
              </a:rPr>
              <a:t>Fotos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3758183"/>
            <a:ext cx="2240280" cy="530352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F374E"/>
                </a:solidFill>
              </a:rPr>
              <a:t>Logos/Symbole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471416"/>
            <a:ext cx="2240280" cy="530352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F374E"/>
                </a:solidFill>
              </a:rPr>
              <a:t>pixelweise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4471416"/>
            <a:ext cx="2240280" cy="530352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F374E"/>
                </a:solidFill>
              </a:rPr>
              <a:t>objektweise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96969"/>
                </a:solidFill>
              </a:rPr>
              <a:t>Grafik: eigene Darstellung · Vergleichsquelle: Wikimedia Commons, Editor B, CC BY 4.0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F374E"/>
                </a:solidFill>
              </a:rPr>
              <a:t>Gestaltungsauftrag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5623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Erstelle eine Grafik mit mindestens drei Objekten.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Dokumentiere für drei Objekte wichtige Attribute.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Entscheide: Pixel- oder Vektorgrafik?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Begründe die Wahl anhand des Einsatzzwecks.</a:t>
            </a:r>
          </a:p>
        </p:txBody>
      </p:sp>
      <p:sp>
        <p:nvSpPr>
          <p:cNvPr id="5" name="Oval 4"/>
          <p:cNvSpPr/>
          <p:nvPr/>
        </p:nvSpPr>
        <p:spPr>
          <a:xfrm>
            <a:off x="6583680" y="1417320"/>
            <a:ext cx="1828800" cy="1828800"/>
          </a:xfrm>
          <a:prstGeom prst="ellipse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8869680" y="1417320"/>
            <a:ext cx="1828800" cy="1828800"/>
          </a:xfrm>
          <a:prstGeom prst="triangle">
            <a:avLst/>
          </a:prstGeom>
          <a:solidFill>
            <a:srgbClr val="FFE699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0" y="3840480"/>
            <a:ext cx="2926080" cy="68580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374E"/>
                </a:solidFill>
              </a:rPr>
              <a:t>Objekte + Eigenschaften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96969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F374E"/>
                </a:solidFill>
              </a:rPr>
              <a:t>Typische Fehler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5623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Vektor ist nicht „Pixel mit höherer Auflösung“.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Mehr Pixel sind nicht automatisch immer besser.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Grafiktyp nach Einsatzzweck und Bearbeitung wählen.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25880"/>
            <a:ext cx="2240280" cy="685800"/>
          </a:xfrm>
          <a:prstGeom prst="roundRect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F374E"/>
                </a:solidFill>
              </a:rPr>
              <a:t>PIXEL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1325880"/>
            <a:ext cx="2240280" cy="685800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F374E"/>
                </a:solidFill>
              </a:rPr>
              <a:t>VEKTOR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331720"/>
            <a:ext cx="2240280" cy="530352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F374E"/>
                </a:solidFill>
              </a:rPr>
              <a:t>Raster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2331720"/>
            <a:ext cx="2240280" cy="530352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F374E"/>
                </a:solidFill>
              </a:rPr>
              <a:t>Objekte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044952"/>
            <a:ext cx="2240280" cy="530352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F374E"/>
                </a:solidFill>
              </a:rPr>
              <a:t>auflösungsabhängig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3044952"/>
            <a:ext cx="2240280" cy="530352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F374E"/>
                </a:solidFill>
              </a:rPr>
              <a:t>skalierbar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758183"/>
            <a:ext cx="2240280" cy="530352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F374E"/>
                </a:solidFill>
              </a:rPr>
              <a:t>Fotos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3758183"/>
            <a:ext cx="2240280" cy="530352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F374E"/>
                </a:solidFill>
              </a:rPr>
              <a:t>Logos/Symbole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471416"/>
            <a:ext cx="2240280" cy="530352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F374E"/>
                </a:solidFill>
              </a:rPr>
              <a:t>pixelweise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4471416"/>
            <a:ext cx="2240280" cy="530352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F374E"/>
                </a:solidFill>
              </a:rPr>
              <a:t>objektweise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96969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F374E"/>
                </a:solidFill>
              </a:rPr>
              <a:t>Sicherung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25880"/>
            <a:ext cx="10607040" cy="201168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700" b="1">
                <a:solidFill>
                  <a:srgbClr val="1F374E"/>
                </a:solidFill>
              </a:rPr>
              <a:t>Grafiktyp nach Einsatzzweck wählen.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96969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