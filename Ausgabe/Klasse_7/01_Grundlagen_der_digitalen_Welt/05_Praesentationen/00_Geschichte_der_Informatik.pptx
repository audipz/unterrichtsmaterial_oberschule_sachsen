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 offen lassen. Vermutungen sammeln; noch nicht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Schülerantworten sammeln. Erst danach zur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den Schülerantworten vergleichen und weitere Beispiele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Ideen sammeln: Finger, Kerben, Rechenbrett, Abakus, schriftliches Rechnen.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Abakus als Beispiel. Dann Gruppenauftrag starten.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Materialkarten verteilen. Sicherungsfolien erst nach den Gruppenbeiträgen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Noch keine Antwort zeigen. Gruppenbeitrag zu Blaise Pascal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jetzt sichern. Schlüsselwort: Rechnen mechanisieren.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Noch keine Antwort zeigen. Gruppenbeitrag zu Gottfried W. Leibniz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jetzt sichern. Schlüsselwort: 0 und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Noch keine Antwort zeigen. Gruppenbeitrag zu Babbage &amp; Lovelace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jetzt sichern. Schlüsselwort: programmierbar.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Noch keine Antwort zeigen. Gruppenbeitrag zu Herman Hollerith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jetzt sichern. Schlüsselwort: 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Noch keine Antwort zeigen. Gruppenbeitrag zu Konrad Zuse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jetzt sichern. Schlüsselwort: Programmsteuerung.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Noch keine Antwort zeigen. Gruppenbeitrag zu John von Neumann abwarten.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jetzt sichern. Schlüsselwort: Speicher.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sammeln. Erwartung: schneller, zuverlässiger, automatisch rechnen bzw. Informationen verarbeiten.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Sicherung erst nach den Schülerantworten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Offen stehen lassen. Binärsystem noch nicht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Woher kommen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D2DCE8"/>
                </a:solidFill>
                <a:latin typeface="Aptos"/>
              </a:rPr>
              <a:t>Geschichte der Informatik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685800"/>
            <a:ext cx="2377440" cy="1600200"/>
          </a:xfrm>
          <a:prstGeom prst="roundRect">
            <a:avLst/>
          </a:prstGeom>
          <a:solidFill>
            <a:srgbClr val="2C3E55"/>
          </a:solidFill>
          <a:ln w="50800">
            <a:solidFill>
              <a:srgbClr val="6FC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79408" y="896112"/>
            <a:ext cx="1975104" cy="1143000"/>
          </a:xfrm>
          <a:prstGeom prst="rect">
            <a:avLst/>
          </a:prstGeom>
          <a:solidFill>
            <a:srgbClr val="EBF5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02368" y="2286000"/>
            <a:ext cx="329184" cy="384048"/>
          </a:xfrm>
          <a:prstGeom prst="rect">
            <a:avLst/>
          </a:prstGeom>
          <a:solidFill>
            <a:srgbClr val="6FC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0" y="2633472"/>
            <a:ext cx="1097280" cy="137160"/>
          </a:xfrm>
          <a:prstGeom prst="roundRect">
            <a:avLst/>
          </a:prstGeom>
          <a:solidFill>
            <a:srgbClr val="6FC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1508760"/>
          </a:xfrm>
          <a:prstGeom prst="roundRect">
            <a:avLst/>
          </a:prstGeom>
          <a:solidFill>
            <a:srgbClr val="283A50"/>
          </a:solidFill>
          <a:ln w="25400">
            <a:solidFill>
              <a:srgbClr val="6FC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10058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Warum entwickelten Menschen zuerst Rechenmaschinen –
und später Computer?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8D6"/>
                </a:solidFill>
                <a:latin typeface="Aptos"/>
              </a:rPr>
              <a:t>Einstieg · Informatik Klasse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645920"/>
            <a:ext cx="10241280" cy="2834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95097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E2D43"/>
                </a:solidFill>
                <a:latin typeface="Aptos"/>
              </a:rPr>
              <a:t>Wo steckt heute ein Computer,
obwohl das Gerät nicht wie ein PC aussieht?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Computer sind überall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>
                <a:solidFill>
                  <a:srgbClr val="646E78"/>
                </a:solidFill>
                <a:latin typeface="Aptos"/>
              </a:rPr>
              <a:t>Mögliche Antworten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240280" cy="14630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Aptos"/>
              </a:rPr>
              <a:t>Smartphone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920240"/>
            <a:ext cx="2240280" cy="14630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28600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Aptos"/>
              </a:rPr>
              <a:t>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240280" cy="14630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Aptos"/>
              </a:rPr>
              <a:t>Spielkonsole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920240"/>
            <a:ext cx="2240280" cy="14630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228600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Aptos"/>
              </a:rPr>
              <a:t>Fahrkartenautomat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E2D43"/>
                </a:solidFill>
                <a:latin typeface="Aptos"/>
              </a:rPr>
              <a:t>Viele Computer erkennen wir nicht an Tastatur und Monitor.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Blick zurück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10241280" cy="2834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95097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E2D43"/>
                </a:solidFill>
                <a:latin typeface="Aptos"/>
              </a:rPr>
              <a:t>Wie haben Menschen gerechnet,
bevor es elektronische Computer gab?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Rechnen vor dem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8412480" cy="32004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7440" y="168249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71800" y="168249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168249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168249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168249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2331720"/>
            <a:ext cx="8412480" cy="32004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2185415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2185415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185415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7800" y="2185415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0" y="2185415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2185415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2834640"/>
            <a:ext cx="8412480" cy="32004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77440" y="268833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71800" y="268833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66160" y="268833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268833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54880" y="268833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3337560"/>
            <a:ext cx="8412480" cy="32004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319125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69080" y="319125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3440" y="319125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319125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52160" y="319125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319125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3840480"/>
            <a:ext cx="8412480" cy="32004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377440" y="369417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71800" y="369417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66160" y="369417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60520" y="369417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0" y="3694176"/>
            <a:ext cx="292608" cy="292608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4709160"/>
            <a:ext cx="8412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167A6"/>
                </a:solidFill>
                <a:latin typeface="Aptos"/>
              </a:rPr>
              <a:t>Rechenhilfen → Maschinen → Computer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Euer Forschungsauftrag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Gruppenarbeit · anschließend Kurzvortrag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463040"/>
            <a:ext cx="566928" cy="566928"/>
          </a:xfrm>
          <a:prstGeom prst="ellipse">
            <a:avLst/>
          </a:prstGeom>
          <a:solidFill>
            <a:srgbClr val="31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17320"/>
            <a:ext cx="9052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ptos"/>
              </a:rPr>
              <a:t>Welches Problem gab es?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51760"/>
            <a:ext cx="566928" cy="566928"/>
          </a:xfrm>
          <a:prstGeom prst="ellipse">
            <a:avLst/>
          </a:prstGeom>
          <a:solidFill>
            <a:srgbClr val="31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9052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ptos"/>
              </a:rPr>
              <a:t>Welche Idee entstand?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66928" cy="566928"/>
          </a:xfrm>
          <a:prstGeom prst="ellipse">
            <a:avLst/>
          </a:prstGeom>
          <a:solidFill>
            <a:srgbClr val="31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94760"/>
            <a:ext cx="9052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ptos"/>
              </a:rPr>
              <a:t>Was hat das mit heutigen Computern zu tun?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Kurzvortrag: höchstens 2 Minuten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Blaise Pascal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1642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E2D43"/>
                </a:solidFill>
                <a:latin typeface="Aptos"/>
              </a:rPr>
              <a:t>Was war die entscheidende Idee?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8321040" cy="1417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Blaise Pascal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1642 · 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46E78"/>
                </a:solidFill>
                <a:latin typeface="Aptos"/>
              </a:rPr>
              <a:t>Schlüsselidee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167A6"/>
                </a:solidFill>
                <a:latin typeface="Aptos"/>
              </a:rPr>
              <a:t>Rechnen mechanisieren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553212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31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1920240"/>
            <a:ext cx="914400" cy="914400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1920240"/>
            <a:ext cx="914400" cy="914400"/>
          </a:xfrm>
          <a:prstGeom prst="ellipse">
            <a:avLst/>
          </a:prstGeom>
          <a:solidFill>
            <a:srgbClr val="41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4983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46E78"/>
                </a:solidFill>
                <a:latin typeface="Aptos"/>
              </a:rPr>
              <a:t>Idee → Umsetzung → Wirkung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Eine Maschine übernimmt Rechenschritte.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Gottfried W. Leibniz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1679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E2D43"/>
                </a:solidFill>
                <a:latin typeface="Aptos"/>
              </a:rPr>
              <a:t>Was war die entscheidende Idee?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8321040" cy="1417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Gottfried W. Leibniz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1679 · 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46E78"/>
                </a:solidFill>
                <a:latin typeface="Aptos"/>
              </a:rPr>
              <a:t>Schlüsselidee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167A6"/>
                </a:solidFill>
                <a:latin typeface="Aptos"/>
              </a:rPr>
              <a:t>0 und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553212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74519"/>
            <a:ext cx="4983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E2D43"/>
                </a:solidFill>
                <a:latin typeface="Aptos"/>
              </a:rPr>
              <a:t>0   1   0   1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880360"/>
            <a:ext cx="4983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646E78"/>
                </a:solidFill>
                <a:latin typeface="Aptos"/>
              </a:rPr>
              <a:t>zwei Ziffern – viele Zahlen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Zwei Ziffern können ein vollständiges Zahlensystem bilden.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Babbage &amp; Lovelace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1830er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E2D43"/>
                </a:solidFill>
                <a:latin typeface="Aptos"/>
              </a:rPr>
              <a:t>Was war die entscheidende Idee?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8321040" cy="1417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Babbage &amp; Lovelace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1830er · 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46E78"/>
                </a:solidFill>
                <a:latin typeface="Aptos"/>
              </a:rPr>
              <a:t>Schlüsselidee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167A6"/>
                </a:solidFill>
                <a:latin typeface="Aptos"/>
              </a:rPr>
              <a:t>programmierbar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553212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31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1920240"/>
            <a:ext cx="914400" cy="914400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1920240"/>
            <a:ext cx="914400" cy="914400"/>
          </a:xfrm>
          <a:prstGeom prst="ellipse">
            <a:avLst/>
          </a:prstGeom>
          <a:solidFill>
            <a:srgbClr val="41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4983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46E78"/>
                </a:solidFill>
                <a:latin typeface="Aptos"/>
              </a:rPr>
              <a:t>Idee → Umsetzung → Wirkung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Eine Maschine soll verschiedene Abläufe ausführen.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Herman Hollerith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1890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E2D43"/>
                </a:solidFill>
                <a:latin typeface="Aptos"/>
              </a:rPr>
              <a:t>Was war die entscheidende Idee?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8321040" cy="1417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Herman Hollerith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1890 · 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46E78"/>
                </a:solidFill>
                <a:latin typeface="Aptos"/>
              </a:rPr>
              <a:t>Schlüsselidee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167A6"/>
                </a:solidFill>
                <a:latin typeface="Aptos"/>
              </a:rPr>
              <a:t>Daten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553212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182880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36208" y="18288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11696" y="18288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87183" y="182880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62671" y="18288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18288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13648" y="182880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89136" y="18288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64624" y="18288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2331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6208" y="2331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11696" y="233172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87183" y="2331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1" y="2331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60" y="233172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13648" y="2331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89136" y="2331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64624" y="233172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60720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36208" y="283464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11696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7183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62671" y="283464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38160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89136" y="2834640"/>
            <a:ext cx="146304" cy="146304"/>
          </a:xfrm>
          <a:prstGeom prst="ellipse">
            <a:avLst/>
          </a:prstGeom>
          <a:solidFill>
            <a:srgbClr val="1E2D43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64624" y="28346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333756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46E78"/>
                </a:solidFill>
                <a:latin typeface="Aptos"/>
              </a:rPr>
              <a:t>Lochkarte: Information durch Positionen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Informationen können codiert und maschinell ausgewertet werden.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Konrad Zuse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1941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E2D43"/>
                </a:solidFill>
                <a:latin typeface="Aptos"/>
              </a:rPr>
              <a:t>Was war die entscheidende Idee?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8321040" cy="1417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Konrad Zuse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1941 · 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46E78"/>
                </a:solidFill>
                <a:latin typeface="Aptos"/>
              </a:rPr>
              <a:t>Schlüsselidee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167A6"/>
                </a:solidFill>
                <a:latin typeface="Aptos"/>
              </a:rPr>
              <a:t>Programmsteuerung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553212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31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1920240"/>
            <a:ext cx="914400" cy="914400"/>
          </a:xfrm>
          <a:prstGeom prst="ellipse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1920240"/>
            <a:ext cx="914400" cy="914400"/>
          </a:xfrm>
          <a:prstGeom prst="ellipse">
            <a:avLst/>
          </a:prstGeom>
          <a:solidFill>
            <a:srgbClr val="418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05740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4983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646E78"/>
                </a:solidFill>
                <a:latin typeface="Aptos"/>
              </a:rPr>
              <a:t>Idee → Umsetzung → Wirkung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Berechnungen werden automatisch nach einem Programm ausgeführt.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John von Neumann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E2D43"/>
                </a:solidFill>
                <a:latin typeface="Aptos"/>
              </a:rPr>
              <a:t>Was war die entscheidende Idee?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51760"/>
            <a:ext cx="8321040" cy="14173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John von Neumann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1945 · 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46E78"/>
                </a:solidFill>
                <a:latin typeface="Aptos"/>
              </a:rPr>
              <a:t>Schlüsselidee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167A6"/>
                </a:solidFill>
                <a:latin typeface="Aptos"/>
              </a:rPr>
              <a:t>Speicher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553212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5000" y="1874519"/>
            <a:ext cx="1874519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57400"/>
            <a:ext cx="18745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D43"/>
                </a:solidFill>
                <a:latin typeface="Aptos"/>
              </a:rPr>
              <a:t>Programm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1874519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057400"/>
            <a:ext cx="18745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D43"/>
                </a:solidFill>
                <a:latin typeface="Aptos"/>
              </a:rPr>
              <a:t>Daten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108960"/>
            <a:ext cx="4983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167A6"/>
                </a:solidFill>
                <a:latin typeface="Aptos"/>
              </a:rPr>
              <a:t>gemeinsam im Speicher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Daten und Programme können im Speicher liegen.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645920"/>
            <a:ext cx="10241280" cy="2834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95097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E2D43"/>
                </a:solidFill>
                <a:latin typeface="Aptos"/>
              </a:rPr>
              <a:t>Was verbindet alle diese Entwicklungen?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E2D43"/>
                </a:solidFill>
                <a:latin typeface="Aptos"/>
              </a:rPr>
              <a:t>Gemeinsame Idee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EB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6E78"/>
                </a:solidFill>
                <a:latin typeface="Aptos"/>
              </a:rPr>
              <a:t>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E78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6E78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2971800" cy="10972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971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167A6"/>
                </a:solidFill>
                <a:latin typeface="Aptos"/>
              </a:rPr>
              <a:t>schneller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331720"/>
            <a:ext cx="2971800" cy="10972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14600"/>
            <a:ext cx="2971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167A6"/>
                </a:solidFill>
                <a:latin typeface="Aptos"/>
              </a:rPr>
              <a:t>zuverlässiger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331720"/>
            <a:ext cx="2971800" cy="10972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1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514600"/>
            <a:ext cx="2971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167A6"/>
                </a:solidFill>
                <a:latin typeface="Aptos"/>
              </a:rPr>
              <a:t>automatisch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E2D43"/>
                </a:solidFill>
                <a:latin typeface="Aptos"/>
              </a:rPr>
              <a:t>Rechnen und Informationen verarbeiten – mit immer weniger Handarbeit.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EC8D6"/>
                </a:solidFill>
                <a:latin typeface="Aptos"/>
              </a:rPr>
              <a:t>Ausblick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ptos"/>
              </a:rPr>
              <a:t>0     1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9966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Könnt ihr euch vorstellen,
eine ganze Sprache nur aus 0 und 1 zu gestalten?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D2DCE8"/>
                </a:solidFill>
                <a:latin typeface="Aptos"/>
              </a:rPr>
              <a:t>Nächste Stunde: Binärzahlen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