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1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trike="noStrike" u="none">
                <a:solidFill>
                  <a:schemeClr val="dk1"/>
                </a:solidFill>
                <a:effectLst/>
                <a:uFillTx/>
                <a:latin typeface="Calibri"/>
              </a:rPr>
              <a:t>Click to move the slide</a:t>
            </a:r>
            <a:endParaRPr b="0" lang="en-US" sz="1800" strike="noStrike" u="none">
              <a:solidFill>
                <a:schemeClr val="dk1"/>
              </a:solidFill>
              <a:effectLst/>
              <a:uFillTx/>
              <a:latin typeface="Calibri"/>
            </a:endParaRPr>
          </a:p>
        </p:txBody>
      </p:sp>
      <p:sp>
        <p:nvSpPr>
          <p:cNvPr id="6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61"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62"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63"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64"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79D51423-131F-406B-8267-954F935685D6}"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sldImg"/>
          </p:nvPr>
        </p:nvSpPr>
        <p:spPr>
          <a:xfrm>
            <a:off x="1143000" y="685800"/>
            <a:ext cx="4571640" cy="3428640"/>
          </a:xfrm>
          <a:prstGeom prst="rect">
            <a:avLst/>
          </a:prstGeom>
          <a:ln w="0">
            <a:noFill/>
          </a:ln>
        </p:spPr>
      </p:sp>
      <p:sp>
        <p:nvSpPr>
          <p:cNvPr id="72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Die Präsentation begleitet mehrere Unterrichtsstunden und ist nicht als 40-Folien-Vortrag in einer Einzelstunde gedacht. Durchgängiges Beispiel: Schülerfestival-Webanwendung.</a:t>
            </a:r>
            <a:endParaRPr b="0" lang="en-US" sz="2000" strike="noStrike" u="none">
              <a:solidFill>
                <a:srgbClr val="000000"/>
              </a:solidFill>
              <a:effectLst/>
              <a:uFillTx/>
              <a:latin typeface="Arial"/>
            </a:endParaRPr>
          </a:p>
        </p:txBody>
      </p:sp>
      <p:sp>
        <p:nvSpPr>
          <p:cNvPr id="722"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7DBE3BFB-14A4-4881-9CA7-0F2739A0473C}"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Img"/>
          </p:nvPr>
        </p:nvSpPr>
        <p:spPr>
          <a:xfrm>
            <a:off x="1143000" y="685800"/>
            <a:ext cx="4571640" cy="3428640"/>
          </a:xfrm>
          <a:prstGeom prst="rect">
            <a:avLst/>
          </a:prstGeom>
          <a:ln w="0">
            <a:noFill/>
          </a:ln>
        </p:spPr>
      </p:sp>
      <p:sp>
        <p:nvSpPr>
          <p:cNvPr id="72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Mehrere Antworten können gleichzeitig richtig sein. Webanwendungen können Code auf Client und Server ausführen. Die Mehrdeutigkeit ist der Einstieg in die Architekturbetrachtung.</a:t>
            </a:r>
            <a:endParaRPr b="0" lang="en-US" sz="2000" strike="noStrike" u="none">
              <a:solidFill>
                <a:srgbClr val="000000"/>
              </a:solidFill>
              <a:effectLst/>
              <a:uFillTx/>
              <a:latin typeface="Arial"/>
            </a:endParaRPr>
          </a:p>
        </p:txBody>
      </p:sp>
      <p:sp>
        <p:nvSpPr>
          <p:cNvPr id="725"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7DC604E4-02CD-4735-AA67-5C09894CCF6B}"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sldImg"/>
          </p:nvPr>
        </p:nvSpPr>
        <p:spPr>
          <a:xfrm>
            <a:off x="1143000" y="685800"/>
            <a:ext cx="4571640" cy="3428640"/>
          </a:xfrm>
          <a:prstGeom prst="rect">
            <a:avLst/>
          </a:prstGeom>
          <a:ln w="0">
            <a:noFill/>
          </a:ln>
        </p:spPr>
      </p:sp>
      <p:sp>
        <p:nvSpPr>
          <p:cNvPr id="72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Frontend ist der benutzernahe Teil; Backend umfasst servernahe Dienste/Logik. Datenhaltung kann Datenbanken, Dateien oder Objektspeicher umfassen. Eine Webanwendung ist ein Gesamtsystem, nicht nur die sichtbare Seite.</a:t>
            </a:r>
            <a:endParaRPr b="0" lang="en-US" sz="2000" strike="noStrike" u="none">
              <a:solidFill>
                <a:srgbClr val="000000"/>
              </a:solidFill>
              <a:effectLst/>
              <a:uFillTx/>
              <a:latin typeface="Arial"/>
            </a:endParaRPr>
          </a:p>
        </p:txBody>
      </p:sp>
      <p:sp>
        <p:nvSpPr>
          <p:cNvPr id="728"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60DF6ED1-F179-46C7-9E98-1843E35E29A4}"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1143000" y="685800"/>
            <a:ext cx="4571640" cy="3428640"/>
          </a:xfrm>
          <a:prstGeom prst="rect">
            <a:avLst/>
          </a:prstGeom>
          <a:ln w="0">
            <a:noFill/>
          </a:ln>
        </p:spPr>
      </p:sp>
      <p:sp>
        <p:nvSpPr>
          <p:cNvPr id="73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defRPr sz="1100"/>
            </a:pPr>
            <a:r>
              <a:rPr b="1"/>
              <a:t>LEHRERHINWEIS: Ein Tier bezeichnet in diesem Modell eine Architektur- bzw. Bereitstellungsebene. Drei Tiers bedeuten nicht zwingend drei physische Rechner. Mehrere Tiers können auf einem System laufen; ein Tier kann umgekehrt auf mehrere Systeme verteilt sein.</a:t>
            </a:r>
            <a:endParaRPr b="0" lang="en-US" sz="2000" strike="noStrike" u="none">
              <a:solidFill>
                <a:srgbClr val="000000"/>
              </a:solidFill>
              <a:effectLst/>
              <a:uFillTx/>
              <a:latin typeface="Arial"/>
            </a:endParaRPr>
          </a:p>
          <a:p>
            <a:pPr>
              <a:defRPr sz="1100"/>
            </a:pPr>
            <a:r>
              <a:rPr b="1"/>
              <a:t>Presentation Tier: Benutzeroberfläche sowie Ein- und Ausgabe.</a:t>
            </a:r>
          </a:p>
          <a:p>
            <a:pPr>
              <a:defRPr sz="1100"/>
            </a:pPr>
            <a:r>
              <a:rPr b="1"/>
              <a:t>Application Tier: Hier befindet sich typischerweise die Anwendungs- bzw. Geschäftslogik (Business Logic).</a:t>
            </a:r>
          </a:p>
          <a:p>
            <a:pPr>
              <a:defRPr sz="1100"/>
            </a:pPr>
            <a:r>
              <a:rPr b="1"/>
              <a:t>Data Tier: Verantwortlich für Datenhaltung und Datenzugriff, beispielsweise über eine Datenbank.</a:t>
            </a:r>
          </a:p>
          <a:p>
            <a:pPr>
              <a:defRPr sz="1100"/>
            </a:pPr>
            <a:r>
              <a:rPr b="1"/>
              <a:t>Layer / Schicht: Im Deutschen wird häufig von einer Drei-Schichten-Architektur gesprochen. Fachlich können Layer und Tier unterschieden werden: Layer beschreibt eher die logische Struktur, Tier eher die Bereitstellung. Im Schulkontext werden die Begriffe häufig vereinfachend ähnlich verwendet.</a:t>
            </a:r>
          </a:p>
          <a:p>
            <a:pPr>
              <a:defRPr sz="1100"/>
            </a:pPr>
            <a:r>
              <a:rPr b="1"/>
              <a:t>Beispiel: Presentation-, Application- und Data-Layer können logisch getrennt sein, obwohl alle drei auf demselben Rechner laufen. Umgekehrt kann beispielsweise das Application Tier aus mehreren Backend-Instanzen bestehen.</a:t>
            </a:r>
          </a:p>
        </p:txBody>
      </p:sp>
      <p:sp>
        <p:nvSpPr>
          <p:cNvPr id="731"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332F376C-92F0-438F-B92B-13125D8DEDD6}"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Img"/>
          </p:nvPr>
        </p:nvSpPr>
        <p:spPr>
          <a:xfrm>
            <a:off x="1143000" y="685800"/>
            <a:ext cx="4571640" cy="3428640"/>
          </a:xfrm>
          <a:prstGeom prst="rect">
            <a:avLst/>
          </a:prstGeom>
          <a:ln w="0">
            <a:noFill/>
          </a:ln>
        </p:spPr>
      </p:sp>
      <p:sp>
        <p:nvSpPr>
          <p:cNvPr id="73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defRPr sz="1100"/>
            </a:pPr>
            <a:r>
              <a:rPr b="1"/>
              <a:t>LEHRERHINWEIS: „Frontend = Client“ und „Backend = Server“ ist ein grobes Einstiegsmodell, aber nicht allgemeingültig.</a:t>
            </a:r>
            <a:endParaRPr b="0" lang="en-US" sz="2000" strike="noStrike" u="none">
              <a:solidFill>
                <a:srgbClr val="000000"/>
              </a:solidFill>
              <a:effectLst/>
              <a:uFillTx/>
              <a:latin typeface="Arial"/>
            </a:endParaRPr>
          </a:p>
          <a:p>
            <a:pPr>
              <a:defRPr sz="1100"/>
            </a:pPr>
            <a:r>
              <a:rPr b="1"/>
              <a:t>Serverseitiges Rendering: Bei serverseitig gerenderten Webanwendungen erzeugt der Server die anzuzeigende HTML-Seite ganz oder teilweise. Der Browser erhält anschließend das bereits erzeugte HTML und stellt es dar.</a:t>
            </a:r>
          </a:p>
          <a:p>
            <a:pPr>
              <a:defRPr sz="1100"/>
            </a:pPr>
            <a:r>
              <a:rPr b="1"/>
              <a:t>Beispiele: PHP, JavaServer Pages (JSP), JavaServer Faces (JSF) oder Oracle Application Development Framework (Oracle ADF) können für serverseitige Seitenerzeugung eingesetzt werden. Die Technologien sind Lehrerwissen und kein Lernziel für die Schülerinnen und Schüler.</a:t>
            </a:r>
          </a:p>
          <a:p>
            <a:pPr>
              <a:defRPr sz="1100"/>
            </a:pPr>
            <a:r>
              <a:rPr b="1"/>
              <a:t>Single Page Application (SPA): Bei einer SPA, beispielsweise mit Angular, wird ein größerer Teil der Benutzeroberfläche durch JavaScript im Browser erzeugt und verändert. Der Server stellt dafür häufig Daten und Funktionen über Schnittstellen bereit.</a:t>
            </a:r>
          </a:p>
          <a:p>
            <a:pPr>
              <a:defRPr sz="1100"/>
            </a:pPr>
            <a:r>
              <a:rPr b="1"/>
              <a:t>Abgrenzung: Client/Server beschreibt Rollen in einer Kommunikation. Frontend/Backend beschreibt Bereiche bzw. Verantwortlichkeiten einer Anwendung. Die Begriffspaare sind deshalb nicht synonym.</a:t>
            </a:r>
          </a:p>
          <a:p>
            <a:pPr>
              <a:defRPr sz="1100"/>
            </a:pPr>
            <a:r>
              <a:rPr b="1"/>
              <a:t>Praxis: Moderne Webanwendungen können client- und serverseitiges Rendering kombinieren.</a:t>
            </a:r>
          </a:p>
        </p:txBody>
      </p:sp>
      <p:sp>
        <p:nvSpPr>
          <p:cNvPr id="734"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0007DCF5-368F-495B-919D-99B120FF1D65}"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Img"/>
          </p:nvPr>
        </p:nvSpPr>
        <p:spPr>
          <a:xfrm>
            <a:off x="1143000" y="685800"/>
            <a:ext cx="4571640" cy="3428640"/>
          </a:xfrm>
          <a:prstGeom prst="rect">
            <a:avLst/>
          </a:prstGeom>
          <a:ln w="0">
            <a:noFill/>
          </a:ln>
        </p:spPr>
      </p:sp>
      <p:sp>
        <p:nvSpPr>
          <p:cNvPr id="73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defRPr sz="1100"/>
            </a:pPr>
            <a:r>
              <a:rPr b="1"/>
              <a:t>LEHRERHINWEIS: Single Page Application (SPA) bezeichnet eine Webanwendung, bei der ein großer Teil der Benutzeroberfläche nach dem initialen Laden im Browser durch JavaScript aufgebaut und verändert wird.</a:t>
            </a:r>
            <a:endParaRPr b="0" lang="en-US" sz="2000" strike="noStrike" u="none">
              <a:solidFill>
                <a:srgbClr val="000000"/>
              </a:solidFill>
              <a:effectLst/>
              <a:uFillTx/>
              <a:latin typeface="Arial"/>
            </a:endParaRPr>
          </a:p>
          <a:p>
            <a:pPr>
              <a:defRPr sz="1100"/>
            </a:pPr>
            <a:r>
              <a:rPr b="1"/>
              <a:t>Angular: Angular ist nur ein Beispiel für ein Framework zur Entwicklung solcher Frontends.</a:t>
            </a:r>
          </a:p>
          <a:p>
            <a:pPr>
              <a:defRPr sz="1100"/>
            </a:pPr>
            <a:r>
              <a:rPr b="1"/>
              <a:t>Backend: Auch bei einer SPA bleibt das Backend Teil der Webanwendung. Es stellt häufig Daten und Funktionen über Schnittstellen bereit.</a:t>
            </a:r>
          </a:p>
        </p:txBody>
      </p:sp>
      <p:sp>
        <p:nvSpPr>
          <p:cNvPr id="737"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2D4575DF-A620-4952-B1D2-94FADA4405E7}"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1143000" y="685800"/>
            <a:ext cx="4571640" cy="3428640"/>
          </a:xfrm>
          <a:prstGeom prst="rect">
            <a:avLst/>
          </a:prstGeom>
          <a:ln w="0">
            <a:noFill/>
          </a:ln>
        </p:spPr>
      </p:sp>
      <p:sp>
        <p:nvSpPr>
          <p:cNvPr id="73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Beim serverseitigen Rendering erzeugt der Server HTML für die Antwort. JavaScript kann zusätzlich clientseitig laufen. PHP ist nur ein anschauliches Beispiel.</a:t>
            </a:r>
            <a:endParaRPr b="0" lang="en-US" sz="2000" strike="noStrike" u="none">
              <a:solidFill>
                <a:srgbClr val="000000"/>
              </a:solidFill>
              <a:effectLst/>
              <a:uFillTx/>
              <a:latin typeface="Arial"/>
            </a:endParaRPr>
          </a:p>
        </p:txBody>
      </p:sp>
      <p:sp>
        <p:nvSpPr>
          <p:cNvPr id="740"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4D13B577-B487-499C-A9B1-017230B4BD32}"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1143000" y="685800"/>
            <a:ext cx="4571640" cy="3428640"/>
          </a:xfrm>
          <a:prstGeom prst="rect">
            <a:avLst/>
          </a:prstGeom>
          <a:ln w="0">
            <a:noFill/>
          </a:ln>
        </p:spPr>
      </p:sp>
      <p:sp>
        <p:nvSpPr>
          <p:cNvPr id="74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Moderne Frameworks kombinieren häufig client- und serverseitige Verarbeitung. Schwarz-Weiß-Einteilung vermeiden.</a:t>
            </a:r>
            <a:endParaRPr b="0" lang="en-US" sz="2000" strike="noStrike" u="none">
              <a:solidFill>
                <a:srgbClr val="000000"/>
              </a:solidFill>
              <a:effectLst/>
              <a:uFillTx/>
              <a:latin typeface="Arial"/>
            </a:endParaRPr>
          </a:p>
        </p:txBody>
      </p:sp>
      <p:sp>
        <p:nvSpPr>
          <p:cNvPr id="743"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964213A2-3AC7-4B89-BAA3-894B3077A2AC}"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Img"/>
          </p:nvPr>
        </p:nvSpPr>
        <p:spPr>
          <a:xfrm>
            <a:off x="1143000" y="685800"/>
            <a:ext cx="4571640" cy="3428640"/>
          </a:xfrm>
          <a:prstGeom prst="rect">
            <a:avLst/>
          </a:prstGeom>
          <a:ln w="0">
            <a:noFill/>
          </a:ln>
        </p:spPr>
      </p:sp>
      <p:sp>
        <p:nvSpPr>
          <p:cNvPr id="74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defRPr sz="1100"/>
            </a:pPr>
            <a:r>
              <a:rPr b="1"/>
              <a:t>LEHRERHINWEIS: Hypertext Transfer Protocol (HTTP) ist ein Anwendungsprotokoll für den Austausch von Nachrichten zwischen Kommunikationspartnern.</a:t>
            </a:r>
            <a:endParaRPr b="0" lang="en-US" sz="2000" strike="noStrike" u="none">
              <a:solidFill>
                <a:srgbClr val="000000"/>
              </a:solidFill>
              <a:effectLst/>
              <a:uFillTx/>
              <a:latin typeface="Arial"/>
            </a:endParaRPr>
          </a:p>
          <a:p>
            <a:pPr>
              <a:defRPr sz="1100"/>
            </a:pPr>
            <a:r>
              <a:rPr b="1"/>
              <a:t>Request: Eine Anfrage des Clients an einen Server, beispielsweise zum Laden einer Workshopliste.</a:t>
            </a:r>
          </a:p>
          <a:p>
            <a:pPr>
              <a:defRPr sz="1100"/>
            </a:pPr>
            <a:r>
              <a:rPr b="1"/>
              <a:t>Response: Die Antwort des Servers auf eine Anfrage.</a:t>
            </a:r>
          </a:p>
          <a:p>
            <a:pPr>
              <a:defRPr sz="1100"/>
            </a:pPr>
            <a:r>
              <a:rPr b="1"/>
              <a:t>Application Programming Interface (API): Eine definierte Softwareschnittstelle, über die Funktionen oder Daten angeboten werden.</a:t>
            </a:r>
          </a:p>
          <a:p>
            <a:pPr>
              <a:defRPr sz="1100"/>
            </a:pPr>
            <a:r>
              <a:rPr b="1"/>
              <a:t>Hypertext Transfer Protocol Secure (HTTPS): HTTP über eine durch Transport Layer Security (TLS) geschützte Verbindung. HTTPS schützt insbesondere die Übertragung; es garantiert nicht, dass Inhalt oder Anwendung vertrauenswürdig sind.</a:t>
            </a:r>
          </a:p>
          <a:p>
            <a:pPr>
              <a:defRPr sz="1100"/>
            </a:pPr>
            <a:r>
              <a:rPr b="1"/>
              <a:t>Transport Layer Security (TLS): Das Sicherheitsprotokoll schützt die Verbindung unter anderem gegen einfaches Mitlesen und Manipulation auf dem Transportweg.</a:t>
            </a:r>
          </a:p>
        </p:txBody>
      </p:sp>
      <p:sp>
        <p:nvSpPr>
          <p:cNvPr id="746" name="PlaceHolder 3"/>
          <p:cNvSpPr>
            <a:spLocks noGrp="1"/>
          </p:cNvSpPr>
          <p:nvPr>
            <p:ph type="sldNum" idx="4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4CF03293-E6B3-4834-AF07-B0FF3D2C218A}"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sldImg"/>
          </p:nvPr>
        </p:nvSpPr>
        <p:spPr>
          <a:xfrm>
            <a:off x="1143000" y="685800"/>
            <a:ext cx="4571640" cy="3428640"/>
          </a:xfrm>
          <a:prstGeom prst="rect">
            <a:avLst/>
          </a:prstGeom>
          <a:ln w="0">
            <a:noFill/>
          </a:ln>
        </p:spPr>
      </p:sp>
      <p:sp>
        <p:nvSpPr>
          <p:cNvPr id="74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Diese Folie erzeugt den Bedarf für Polling, SSE und WebSocket. Der Browser kennt serverseitige Änderungen nicht automatisch. Zuerst Schülerideen sammeln.</a:t>
            </a:r>
            <a:endParaRPr b="0" lang="en-US" sz="2000" strike="noStrike" u="none">
              <a:solidFill>
                <a:srgbClr val="000000"/>
              </a:solidFill>
              <a:effectLst/>
              <a:uFillTx/>
              <a:latin typeface="Arial"/>
            </a:endParaRPr>
          </a:p>
        </p:txBody>
      </p:sp>
      <p:sp>
        <p:nvSpPr>
          <p:cNvPr id="749" name="PlaceHolder 3"/>
          <p:cNvSpPr>
            <a:spLocks noGrp="1"/>
          </p:cNvSpPr>
          <p:nvPr>
            <p:ph type="sldNum" idx="4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846A4F39-C2A8-435C-979C-B1A6E430856F}"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sldImg"/>
          </p:nvPr>
        </p:nvSpPr>
        <p:spPr>
          <a:xfrm>
            <a:off x="1143000" y="685800"/>
            <a:ext cx="4571640" cy="3428640"/>
          </a:xfrm>
          <a:prstGeom prst="rect">
            <a:avLst/>
          </a:prstGeom>
          <a:ln w="0">
            <a:noFill/>
          </a:ln>
        </p:spPr>
      </p:sp>
      <p:sp>
        <p:nvSpPr>
          <p:cNvPr id="75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defRPr sz="1100"/>
            </a:pPr>
            <a:r>
              <a:rPr b="1"/>
              <a:t>LEHRERHINWEIS: Polling bedeutet regelmäßiges Nachfragen.</a:t>
            </a:r>
            <a:endParaRPr b="0" lang="en-US" sz="2000" strike="noStrike" u="none">
              <a:solidFill>
                <a:srgbClr val="000000"/>
              </a:solidFill>
              <a:effectLst/>
              <a:uFillTx/>
              <a:latin typeface="Arial"/>
            </a:endParaRPr>
          </a:p>
          <a:p>
            <a:pPr>
              <a:defRPr sz="1100"/>
            </a:pPr>
            <a:r>
              <a:rPr b="1"/>
              <a:t>Polling: Polling ist kein eigenes Netzwerkprotokoll. Bei Webanwendungen wird es häufig durch wiederholte HTTP-Request-/Response-Zyklen umgesetzt.</a:t>
            </a:r>
          </a:p>
          <a:p>
            <a:pPr>
              <a:defRPr sz="1100"/>
            </a:pPr>
            <a:r>
              <a:rPr b="1"/>
              <a:t>Abfrageintervall: Kurze Intervalle reagieren schneller, erzeugen aber mehr Anfragen. Lange Intervalle reduzieren die Last, Änderungen werden dafür später erkannt.</a:t>
            </a:r>
          </a:p>
          <a:p>
            <a:pPr>
              <a:defRPr sz="1100"/>
            </a:pPr>
            <a:r>
              <a:rPr b="1"/>
              <a:t>Beispiel: Der Browser fragt alle fünf Sekunden, ob sich der Raum eines Workshops geändert hat.</a:t>
            </a:r>
          </a:p>
        </p:txBody>
      </p:sp>
      <p:sp>
        <p:nvSpPr>
          <p:cNvPr id="752" name="PlaceHolder 3"/>
          <p:cNvSpPr>
            <a:spLocks noGrp="1"/>
          </p:cNvSpPr>
          <p:nvPr>
            <p:ph type="sldNum" idx="4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5511929A-1944-45D6-A372-15D0332E65C2}"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sldImg"/>
          </p:nvPr>
        </p:nvSpPr>
        <p:spPr>
          <a:xfrm>
            <a:off x="1143000" y="685800"/>
            <a:ext cx="4571640" cy="3428640"/>
          </a:xfrm>
          <a:prstGeom prst="rect">
            <a:avLst/>
          </a:prstGeom>
          <a:ln w="0">
            <a:noFill/>
          </a:ln>
        </p:spPr>
      </p:sp>
      <p:sp>
        <p:nvSpPr>
          <p:cNvPr id="75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defRPr sz="1100"/>
            </a:pPr>
            <a:r>
              <a:rPr b="1"/>
              <a:t>LEHRERHINWEIS: Server-Sent Events (SSE) ist eine Webtechnik für Ereignisse vom Server zum Client.</a:t>
            </a:r>
            <a:endParaRPr b="0" lang="en-US" sz="2000" strike="noStrike" u="none">
              <a:solidFill>
                <a:srgbClr val="000000"/>
              </a:solidFill>
              <a:effectLst/>
              <a:uFillTx/>
              <a:latin typeface="Arial"/>
            </a:endParaRPr>
          </a:p>
          <a:p>
            <a:pPr>
              <a:defRPr sz="1100"/>
            </a:pPr>
            <a:r>
              <a:rPr b="1"/>
              <a:t>Verbindung: Der Browser baut eine HTTP-Verbindung auf, die länger geöffnet bleibt. Sobald neue Informationen vorliegen, kann der Server darüber Ereignisse senden, ohne dass der Client wie beim Polling ständig neue Anfragen stellen muss.</a:t>
            </a:r>
          </a:p>
          <a:p>
            <a:pPr>
              <a:defRPr sz="1100"/>
            </a:pPr>
            <a:r>
              <a:rPr b="1"/>
              <a:t>Richtung: Der Ereignisstrom läuft im Wesentlichen vom Server zum Client. Für Daten in Gegenrichtung kann der Client weiterhin normale HTTP-Anfragen verwenden.</a:t>
            </a:r>
          </a:p>
          <a:p>
            <a:pPr>
              <a:defRPr sz="1100"/>
            </a:pPr>
            <a:r>
              <a:rPr b="1"/>
              <a:t>Beispiel: Raumänderungen oder Statusmeldungen können unmittelbar an einen geöffneten Browser übertragen werden.</a:t>
            </a:r>
          </a:p>
        </p:txBody>
      </p:sp>
      <p:sp>
        <p:nvSpPr>
          <p:cNvPr id="755" name="PlaceHolder 3"/>
          <p:cNvSpPr>
            <a:spLocks noGrp="1"/>
          </p:cNvSpPr>
          <p:nvPr>
            <p:ph type="sldNum" idx="4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FCAAA46D-E4B6-4832-BEFA-A488307F914E}"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sldImg"/>
          </p:nvPr>
        </p:nvSpPr>
        <p:spPr>
          <a:xfrm>
            <a:off x="1143000" y="685800"/>
            <a:ext cx="4571640" cy="3428640"/>
          </a:xfrm>
          <a:prstGeom prst="rect">
            <a:avLst/>
          </a:prstGeom>
          <a:ln w="0">
            <a:noFill/>
          </a:ln>
        </p:spPr>
      </p:sp>
      <p:sp>
        <p:nvSpPr>
          <p:cNvPr id="75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defRPr sz="1100"/>
            </a:pPr>
            <a:r>
              <a:rPr b="1"/>
              <a:t>LEHRERHINWEIS: WebSocket ist ein Kommunikationsprotokoll für eine länger bestehende bidirektionale Verbindung.</a:t>
            </a:r>
            <a:endParaRPr b="0" lang="en-US" sz="2000" strike="noStrike" u="none">
              <a:solidFill>
                <a:srgbClr val="000000"/>
              </a:solidFill>
              <a:effectLst/>
              <a:uFillTx/>
              <a:latin typeface="Arial"/>
            </a:endParaRPr>
          </a:p>
          <a:p>
            <a:pPr>
              <a:defRPr sz="1100"/>
            </a:pPr>
            <a:r>
              <a:rPr b="1"/>
              <a:t>Dauerhaft: Die Verbindung bleibt nach dem Aufbau bestehen, bis sie beendet wird oder abbricht.</a:t>
            </a:r>
          </a:p>
          <a:p>
            <a:pPr>
              <a:defRPr sz="1100"/>
            </a:pPr>
            <a:r>
              <a:rPr b="1"/>
              <a:t>Bidirektional: Client und Server können über die bestehende Verbindung Nachrichten senden.</a:t>
            </a:r>
          </a:p>
          <a:p>
            <a:pPr>
              <a:defRPr sz="1100"/>
            </a:pPr>
            <a:r>
              <a:rPr b="1"/>
              <a:t>Subscription: Ein fachliches Registrieren auf Ereignisse kann die Anwendung über WebSocket implementieren. Dieses Subscription-Modell ist Anwendungslogik und nicht automatisch Bestandteil des WebSocket-Protokolls.</a:t>
            </a:r>
          </a:p>
        </p:txBody>
      </p:sp>
      <p:sp>
        <p:nvSpPr>
          <p:cNvPr id="758" name="PlaceHolder 3"/>
          <p:cNvSpPr>
            <a:spLocks noGrp="1"/>
          </p:cNvSpPr>
          <p:nvPr>
            <p:ph type="sldNum" idx="4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B9C8D270-6C74-4B3F-BAC5-4B525FE1497D}"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sldImg"/>
          </p:nvPr>
        </p:nvSpPr>
        <p:spPr>
          <a:xfrm>
            <a:off x="1143000" y="685800"/>
            <a:ext cx="4571640" cy="3428640"/>
          </a:xfrm>
          <a:prstGeom prst="rect">
            <a:avLst/>
          </a:prstGeom>
          <a:ln w="0">
            <a:noFill/>
          </a:ln>
        </p:spPr>
      </p:sp>
      <p:sp>
        <p:nvSpPr>
          <p:cNvPr id="76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Moderne Loadbalancer/Reverse Proxies können WebSocket-Verbindungen weiterleiten. Beim Aufbau wird eine Backend-Instanz ausgewählt; die bestehende TCP/WebSocket-Verbindung bleibt anschließend dieser Instanz zugeordnet. Sticky Sessions sind für die bereits etablierte Verbindung nicht automatisch erforderlich.</a:t>
            </a:r>
            <a:endParaRPr b="0" lang="en-US" sz="2000" strike="noStrike" u="none">
              <a:solidFill>
                <a:srgbClr val="000000"/>
              </a:solidFill>
              <a:effectLst/>
              <a:uFillTx/>
              <a:latin typeface="Arial"/>
            </a:endParaRPr>
          </a:p>
        </p:txBody>
      </p:sp>
      <p:sp>
        <p:nvSpPr>
          <p:cNvPr id="761" name="PlaceHolder 3"/>
          <p:cNvSpPr>
            <a:spLocks noGrp="1"/>
          </p:cNvSpPr>
          <p:nvPr>
            <p:ph type="sldNum" idx="5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D2E82FBC-59A8-4F71-A50D-764890518CD5}"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sldImg"/>
          </p:nvPr>
        </p:nvSpPr>
        <p:spPr>
          <a:xfrm>
            <a:off x="1143000" y="685800"/>
            <a:ext cx="4571640" cy="3428640"/>
          </a:xfrm>
          <a:prstGeom prst="rect">
            <a:avLst/>
          </a:prstGeom>
          <a:ln w="0">
            <a:noFill/>
          </a:ln>
        </p:spPr>
      </p:sp>
      <p:sp>
        <p:nvSpPr>
          <p:cNvPr id="76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Stateless bedeutet hier: Die Bearbeitung einer neuen Anfrage hängt möglichst nicht von nur lokal in einer bestimmten Backend-Instanz gespeichertem Sitzungszustand ab. Anwendungsdaten können selbstverständlich in Datenbanken liegen. Eine WebSocket-Verbindung besitzt dagegen zwangsläufig Connection State auf der Instanz, die diese Verbindung hält.</a:t>
            </a:r>
            <a:endParaRPr b="0" lang="en-US" sz="2000" strike="noStrike" u="none">
              <a:solidFill>
                <a:srgbClr val="000000"/>
              </a:solidFill>
              <a:effectLst/>
              <a:uFillTx/>
              <a:latin typeface="Arial"/>
            </a:endParaRPr>
          </a:p>
        </p:txBody>
      </p:sp>
      <p:sp>
        <p:nvSpPr>
          <p:cNvPr id="764" name="PlaceHolder 3"/>
          <p:cNvSpPr>
            <a:spLocks noGrp="1"/>
          </p:cNvSpPr>
          <p:nvPr>
            <p:ph type="sldNum" idx="5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BBFAD5DD-4062-4D22-A208-139575AC3A68}"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sldImg"/>
          </p:nvPr>
        </p:nvSpPr>
        <p:spPr>
          <a:xfrm>
            <a:off x="1143000" y="685800"/>
            <a:ext cx="4571640" cy="3428640"/>
          </a:xfrm>
          <a:prstGeom prst="rect">
            <a:avLst/>
          </a:prstGeom>
          <a:ln w="0">
            <a:noFill/>
          </a:ln>
        </p:spPr>
      </p:sp>
      <p:sp>
        <p:nvSpPr>
          <p:cNvPr id="76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Bei Reconnect kann eine andere Backend-Instanz gewählt werden. Deshalb sollte die Schnittstelle den benötigten Zustand nach dem Verbindungsaufbau reproduzierbar herstellen können, z.B. Authentifizierung und erneutes Anmelden relevanter Subscriptions. Sticky Sessions können eine Option sein, sind aber keine notwendige oder vollständige WebSocket-Lösung.</a:t>
            </a:r>
            <a:endParaRPr b="0" lang="en-US" sz="2000" strike="noStrike" u="none">
              <a:solidFill>
                <a:srgbClr val="000000"/>
              </a:solidFill>
              <a:effectLst/>
              <a:uFillTx/>
              <a:latin typeface="Arial"/>
            </a:endParaRPr>
          </a:p>
        </p:txBody>
      </p:sp>
      <p:sp>
        <p:nvSpPr>
          <p:cNvPr id="767" name="PlaceHolder 3"/>
          <p:cNvSpPr>
            <a:spLocks noGrp="1"/>
          </p:cNvSpPr>
          <p:nvPr>
            <p:ph type="sldNum" idx="5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7BACDEAC-B885-4120-ADD2-79724E206F8A}"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PlaceHolder 1"/>
          <p:cNvSpPr>
            <a:spLocks noGrp="1"/>
          </p:cNvSpPr>
          <p:nvPr>
            <p:ph type="sldImg"/>
          </p:nvPr>
        </p:nvSpPr>
        <p:spPr>
          <a:xfrm>
            <a:off x="1143000" y="685800"/>
            <a:ext cx="4571640" cy="3428640"/>
          </a:xfrm>
          <a:prstGeom prst="rect">
            <a:avLst/>
          </a:prstGeom>
          <a:ln w="0">
            <a:noFill/>
          </a:ln>
        </p:spPr>
      </p:sp>
      <p:sp>
        <p:nvSpPr>
          <p:cNvPr id="76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Zusammenfassung erst nach der Einzel-Erklärung. Für eine normale Seite reicht oft HTTP. Polling ist einfach, kann aber unnötige Last erzeugen. SSE eignet sich für serverseitige Live-Updates. WebSocket ist sinnvoll, wenn beide Seiten laufend Nachrichten austauschen.</a:t>
            </a:r>
            <a:endParaRPr b="0" lang="en-US" sz="2000" strike="noStrike" u="none">
              <a:solidFill>
                <a:srgbClr val="000000"/>
              </a:solidFill>
              <a:effectLst/>
              <a:uFillTx/>
              <a:latin typeface="Arial"/>
            </a:endParaRPr>
          </a:p>
        </p:txBody>
      </p:sp>
      <p:sp>
        <p:nvSpPr>
          <p:cNvPr id="770" name="PlaceHolder 3"/>
          <p:cNvSpPr>
            <a:spLocks noGrp="1"/>
          </p:cNvSpPr>
          <p:nvPr>
            <p:ph type="sldNum" idx="5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4D337368-24AD-43B8-AE49-AEB04080E0A8}"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1" name="PlaceHolder 1"/>
          <p:cNvSpPr>
            <a:spLocks noGrp="1"/>
          </p:cNvSpPr>
          <p:nvPr>
            <p:ph type="sldImg"/>
          </p:nvPr>
        </p:nvSpPr>
        <p:spPr>
          <a:xfrm>
            <a:off x="1143000" y="685800"/>
            <a:ext cx="4571640" cy="3428640"/>
          </a:xfrm>
          <a:prstGeom prst="rect">
            <a:avLst/>
          </a:prstGeom>
          <a:ln w="0">
            <a:noFill/>
          </a:ln>
        </p:spPr>
      </p:sp>
      <p:sp>
        <p:nvSpPr>
          <p:cNvPr id="77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HTML ist eine Auszeichnungssprache, keine Programmiersprache im engeren Sinn. Hypertext verbindet Dokumente/Ressourcen durch Verweise.</a:t>
            </a:r>
            <a:endParaRPr b="0" lang="en-US" sz="2000" strike="noStrike" u="none">
              <a:solidFill>
                <a:srgbClr val="000000"/>
              </a:solidFill>
              <a:effectLst/>
              <a:uFillTx/>
              <a:latin typeface="Arial"/>
            </a:endParaRPr>
          </a:p>
        </p:txBody>
      </p:sp>
      <p:sp>
        <p:nvSpPr>
          <p:cNvPr id="773" name="PlaceHolder 3"/>
          <p:cNvSpPr>
            <a:spLocks noGrp="1"/>
          </p:cNvSpPr>
          <p:nvPr>
            <p:ph type="sldNum" idx="5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E3A5CDE1-2C39-4FEB-9B56-43A5BA9A1B40}"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PlaceHolder 1"/>
          <p:cNvSpPr>
            <a:spLocks noGrp="1"/>
          </p:cNvSpPr>
          <p:nvPr>
            <p:ph type="sldImg"/>
          </p:nvPr>
        </p:nvSpPr>
        <p:spPr>
          <a:xfrm>
            <a:off x="1143000" y="685800"/>
            <a:ext cx="4571640" cy="3428640"/>
          </a:xfrm>
          <a:prstGeom prst="rect">
            <a:avLst/>
          </a:prstGeom>
          <a:ln w="0">
            <a:noFill/>
          </a:ln>
        </p:spPr>
      </p:sp>
      <p:sp>
        <p:nvSpPr>
          <p:cNvPr id="77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Die Analogie zu Objekten dient nur der Strukturbetrachtung. HTML-Elemente sind nicht automatisch Domänenobjekte einer objektorientierten Anwendung.</a:t>
            </a:r>
            <a:endParaRPr b="0" lang="en-US" sz="2000" strike="noStrike" u="none">
              <a:solidFill>
                <a:srgbClr val="000000"/>
              </a:solidFill>
              <a:effectLst/>
              <a:uFillTx/>
              <a:latin typeface="Arial"/>
            </a:endParaRPr>
          </a:p>
        </p:txBody>
      </p:sp>
      <p:sp>
        <p:nvSpPr>
          <p:cNvPr id="776" name="PlaceHolder 3"/>
          <p:cNvSpPr>
            <a:spLocks noGrp="1"/>
          </p:cNvSpPr>
          <p:nvPr>
            <p:ph type="sldNum" idx="5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7929BB9C-59E2-42EA-AF51-194CCE7050E1}"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PlaceHolder 1"/>
          <p:cNvSpPr>
            <a:spLocks noGrp="1"/>
          </p:cNvSpPr>
          <p:nvPr>
            <p:ph type="sldImg"/>
          </p:nvPr>
        </p:nvSpPr>
        <p:spPr>
          <a:xfrm>
            <a:off x="1143000" y="685800"/>
            <a:ext cx="4571640" cy="3428640"/>
          </a:xfrm>
          <a:prstGeom prst="rect">
            <a:avLst/>
          </a:prstGeom>
          <a:ln w="0">
            <a:noFill/>
          </a:ln>
        </p:spPr>
      </p:sp>
      <p:sp>
        <p:nvSpPr>
          <p:cNvPr id="77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3-Tier beschreibt Anwendungsstruktur; Cloud beschreibt Bereitstellung/Nutzung von IT-Ressourcen und Diensten. Beides kann kombiniert werden.</a:t>
            </a:r>
            <a:endParaRPr b="0" lang="en-US" sz="2000" strike="noStrike" u="none">
              <a:solidFill>
                <a:srgbClr val="000000"/>
              </a:solidFill>
              <a:effectLst/>
              <a:uFillTx/>
              <a:latin typeface="Arial"/>
            </a:endParaRPr>
          </a:p>
        </p:txBody>
      </p:sp>
      <p:sp>
        <p:nvSpPr>
          <p:cNvPr id="779" name="PlaceHolder 3"/>
          <p:cNvSpPr>
            <a:spLocks noGrp="1"/>
          </p:cNvSpPr>
          <p:nvPr>
            <p:ph type="sldNum" idx="5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6DF7C78B-F464-4E62-A6EC-54E2CBAA49F5}"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PlaceHolder 1"/>
          <p:cNvSpPr>
            <a:spLocks noGrp="1"/>
          </p:cNvSpPr>
          <p:nvPr>
            <p:ph type="sldImg"/>
          </p:nvPr>
        </p:nvSpPr>
        <p:spPr>
          <a:xfrm>
            <a:off x="1143000" y="685800"/>
            <a:ext cx="4571640" cy="3428640"/>
          </a:xfrm>
          <a:prstGeom prst="rect">
            <a:avLst/>
          </a:prstGeom>
          <a:ln w="0">
            <a:noFill/>
          </a:ln>
        </p:spPr>
      </p:sp>
      <p:sp>
        <p:nvSpPr>
          <p:cNvPr id="78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Cloud ist nicht ortlos. Physische Systeme stehen in Rechenzentren. Betreiber, Region, Vertrag und Dienstmodell können für Datenschutz, Verfügbarkeit und Abhängigkeiten relevant sein.</a:t>
            </a:r>
            <a:endParaRPr b="0" lang="en-US" sz="2000" strike="noStrike" u="none">
              <a:solidFill>
                <a:srgbClr val="000000"/>
              </a:solidFill>
              <a:effectLst/>
              <a:uFillTx/>
              <a:latin typeface="Arial"/>
            </a:endParaRPr>
          </a:p>
        </p:txBody>
      </p:sp>
      <p:sp>
        <p:nvSpPr>
          <p:cNvPr id="782" name="PlaceHolder 3"/>
          <p:cNvSpPr>
            <a:spLocks noGrp="1"/>
          </p:cNvSpPr>
          <p:nvPr>
            <p:ph type="sldNum" idx="5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1A2FD2E5-FE0B-43C6-8B9C-DC46739054A1}"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PlaceHolder 1"/>
          <p:cNvSpPr>
            <a:spLocks noGrp="1"/>
          </p:cNvSpPr>
          <p:nvPr>
            <p:ph type="sldImg"/>
          </p:nvPr>
        </p:nvSpPr>
        <p:spPr>
          <a:xfrm>
            <a:off x="1143000" y="685800"/>
            <a:ext cx="4571640" cy="3428640"/>
          </a:xfrm>
          <a:prstGeom prst="rect">
            <a:avLst/>
          </a:prstGeom>
          <a:ln w="0">
            <a:noFill/>
          </a:ln>
        </p:spPr>
      </p:sp>
      <p:sp>
        <p:nvSpPr>
          <p:cNvPr id="78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SaaS: Anbieter betreibt typischerweise Anwendung, Plattform und Infrastruktur; Kunde konfiguriert/nutzt und bleibt u.a. für Benutzer, Rechte und Daten verantwortlich. PaaS: Anbieter stellt Laufzeit/Plattform bereit; Entwickler deployen eigenen Code. IaaS: virtuelle Maschinen, Speicher und Netzwerke; Kunde betreibt Betriebssystem/Laufzeit/Anwendung stärker selbst. Reale Angebote sind nicht immer eindeutig; Managed DB/Serverless sind Vertiefung.</a:t>
            </a:r>
            <a:endParaRPr b="0" lang="en-US" sz="2000" strike="noStrike" u="none">
              <a:solidFill>
                <a:srgbClr val="000000"/>
              </a:solidFill>
              <a:effectLst/>
              <a:uFillTx/>
              <a:latin typeface="Arial"/>
            </a:endParaRPr>
          </a:p>
        </p:txBody>
      </p:sp>
      <p:sp>
        <p:nvSpPr>
          <p:cNvPr id="785" name="PlaceHolder 3"/>
          <p:cNvSpPr>
            <a:spLocks noGrp="1"/>
          </p:cNvSpPr>
          <p:nvPr>
            <p:ph type="sldNum" idx="5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5EF41330-12C8-4086-8F7F-7682B75A6A2E}"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PlaceHolder 1"/>
          <p:cNvSpPr>
            <a:spLocks noGrp="1"/>
          </p:cNvSpPr>
          <p:nvPr>
            <p:ph type="sldImg"/>
          </p:nvPr>
        </p:nvSpPr>
        <p:spPr>
          <a:xfrm>
            <a:off x="1143000" y="685800"/>
            <a:ext cx="4571640" cy="3428640"/>
          </a:xfrm>
          <a:prstGeom prst="rect">
            <a:avLst/>
          </a:prstGeom>
          <a:ln w="0">
            <a:noFill/>
          </a:ln>
        </p:spPr>
      </p:sp>
      <p:sp>
        <p:nvSpPr>
          <p:cNvPr id="78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Shared Responsibility = geteilte Verantwortung. Konkrete Aufteilung hängt von Dienstmodell und Vertrag ab. Bei SaaS übernimmt Anbieter mehr technische Schichten als bei IaaS; eigene Benutzer, Berechtigungen, Daten und Fehlkonfigurationen bleiben relevant.</a:t>
            </a:r>
            <a:endParaRPr b="0" lang="en-US" sz="2000" strike="noStrike" u="none">
              <a:solidFill>
                <a:srgbClr val="000000"/>
              </a:solidFill>
              <a:effectLst/>
              <a:uFillTx/>
              <a:latin typeface="Arial"/>
            </a:endParaRPr>
          </a:p>
        </p:txBody>
      </p:sp>
      <p:sp>
        <p:nvSpPr>
          <p:cNvPr id="788" name="PlaceHolder 3"/>
          <p:cNvSpPr>
            <a:spLocks noGrp="1"/>
          </p:cNvSpPr>
          <p:nvPr>
            <p:ph type="sldNum" idx="5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135CDF54-65B0-4BAE-B006-4F4DED1C9391}"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 name="PlaceHolder 1"/>
          <p:cNvSpPr>
            <a:spLocks noGrp="1"/>
          </p:cNvSpPr>
          <p:nvPr>
            <p:ph type="sldImg"/>
          </p:nvPr>
        </p:nvSpPr>
        <p:spPr>
          <a:xfrm>
            <a:off x="1143000" y="685800"/>
            <a:ext cx="4571640" cy="3428640"/>
          </a:xfrm>
          <a:prstGeom prst="rect">
            <a:avLst/>
          </a:prstGeom>
          <a:ln w="0">
            <a:noFill/>
          </a:ln>
        </p:spPr>
      </p:sp>
      <p:sp>
        <p:nvSpPr>
          <p:cNvPr id="79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Funktionierende Software kann trotzdem unsicher, unzuverlässig oder datenschutzwidrig sein. Übergang vom Bauen zum verantwortlichen Betrieb.</a:t>
            </a:r>
            <a:endParaRPr b="0" lang="en-US" sz="2000" strike="noStrike" u="none">
              <a:solidFill>
                <a:srgbClr val="000000"/>
              </a:solidFill>
              <a:effectLst/>
              <a:uFillTx/>
              <a:latin typeface="Arial"/>
            </a:endParaRPr>
          </a:p>
        </p:txBody>
      </p:sp>
      <p:sp>
        <p:nvSpPr>
          <p:cNvPr id="791" name="PlaceHolder 3"/>
          <p:cNvSpPr>
            <a:spLocks noGrp="1"/>
          </p:cNvSpPr>
          <p:nvPr>
            <p:ph type="sldNum" idx="6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1C37CA01-0EC8-4BCA-8E6F-A82611F98635}"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2" name="PlaceHolder 1"/>
          <p:cNvSpPr>
            <a:spLocks noGrp="1"/>
          </p:cNvSpPr>
          <p:nvPr>
            <p:ph type="sldImg"/>
          </p:nvPr>
        </p:nvSpPr>
        <p:spPr>
          <a:xfrm>
            <a:off x="1143000" y="685800"/>
            <a:ext cx="4571640" cy="3428640"/>
          </a:xfrm>
          <a:prstGeom prst="rect">
            <a:avLst/>
          </a:prstGeom>
          <a:ln w="0">
            <a:noFill/>
          </a:ln>
        </p:spPr>
      </p:sp>
      <p:sp>
        <p:nvSpPr>
          <p:cNvPr id="79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CIA-Triade ist ein Grundmodell der Informationssicherheit. Ein Vorfall kann mehrere Schutzziele betreffen. Security umfasst Technik, Menschen, Prozesse und Organisation.</a:t>
            </a:r>
            <a:endParaRPr b="0" lang="en-US" sz="2000" strike="noStrike" u="none">
              <a:solidFill>
                <a:srgbClr val="000000"/>
              </a:solidFill>
              <a:effectLst/>
              <a:uFillTx/>
              <a:latin typeface="Arial"/>
            </a:endParaRPr>
          </a:p>
        </p:txBody>
      </p:sp>
      <p:sp>
        <p:nvSpPr>
          <p:cNvPr id="794" name="PlaceHolder 3"/>
          <p:cNvSpPr>
            <a:spLocks noGrp="1"/>
          </p:cNvSpPr>
          <p:nvPr>
            <p:ph type="sldNum" idx="6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25E6E9D6-96D6-4B83-A2B1-34AB94D0ABF5}"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5" name="PlaceHolder 1"/>
          <p:cNvSpPr>
            <a:spLocks noGrp="1"/>
          </p:cNvSpPr>
          <p:nvPr>
            <p:ph type="sldImg"/>
          </p:nvPr>
        </p:nvSpPr>
        <p:spPr>
          <a:xfrm>
            <a:off x="1143000" y="685800"/>
            <a:ext cx="4571640" cy="3428640"/>
          </a:xfrm>
          <a:prstGeom prst="rect">
            <a:avLst/>
          </a:prstGeom>
          <a:ln w="0">
            <a:noFill/>
          </a:ln>
        </p:spPr>
      </p:sp>
      <p:sp>
        <p:nvSpPr>
          <p:cNvPr id="79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Angriffsfläche = Gesamtheit möglicher Ansatzpunkte. Nicht nur Softwarefehler, sondern auch Konten, Konfiguration, Schnittstellen, Lieferketten und menschliche Prozesse. Keine fremden Systeme testen.</a:t>
            </a:r>
            <a:endParaRPr b="0" lang="en-US" sz="2000" strike="noStrike" u="none">
              <a:solidFill>
                <a:srgbClr val="000000"/>
              </a:solidFill>
              <a:effectLst/>
              <a:uFillTx/>
              <a:latin typeface="Arial"/>
            </a:endParaRPr>
          </a:p>
        </p:txBody>
      </p:sp>
      <p:sp>
        <p:nvSpPr>
          <p:cNvPr id="797" name="PlaceHolder 3"/>
          <p:cNvSpPr>
            <a:spLocks noGrp="1"/>
          </p:cNvSpPr>
          <p:nvPr>
            <p:ph type="sldNum" idx="6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CC376962-9EFB-440B-8F7D-EE95ECCF002B}"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 name="PlaceHolder 1"/>
          <p:cNvSpPr>
            <a:spLocks noGrp="1"/>
          </p:cNvSpPr>
          <p:nvPr>
            <p:ph type="sldImg"/>
          </p:nvPr>
        </p:nvSpPr>
        <p:spPr>
          <a:xfrm>
            <a:off x="1143000" y="685800"/>
            <a:ext cx="4571640" cy="3428640"/>
          </a:xfrm>
          <a:prstGeom prst="rect">
            <a:avLst/>
          </a:prstGeom>
          <a:ln w="0">
            <a:noFill/>
          </a:ln>
        </p:spPr>
      </p:sp>
      <p:sp>
        <p:nvSpPr>
          <p:cNvPr id="79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Farben sind vereinfachte populäre Kategorien. Entscheidend sind Autorisierung, Handlung und Kontext. Gute Absicht legitimiert keinen Zugriff auf fremde Systeme.</a:t>
            </a:r>
            <a:endParaRPr b="0" lang="en-US" sz="2000" strike="noStrike" u="none">
              <a:solidFill>
                <a:srgbClr val="000000"/>
              </a:solidFill>
              <a:effectLst/>
              <a:uFillTx/>
              <a:latin typeface="Arial"/>
            </a:endParaRPr>
          </a:p>
        </p:txBody>
      </p:sp>
      <p:sp>
        <p:nvSpPr>
          <p:cNvPr id="800" name="PlaceHolder 3"/>
          <p:cNvSpPr>
            <a:spLocks noGrp="1"/>
          </p:cNvSpPr>
          <p:nvPr>
            <p:ph type="sldNum" idx="6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01E97BAA-D3C3-4EA1-A68B-E300F8A1BCC2}"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PlaceHolder 1"/>
          <p:cNvSpPr>
            <a:spLocks noGrp="1"/>
          </p:cNvSpPr>
          <p:nvPr>
            <p:ph type="sldImg"/>
          </p:nvPr>
        </p:nvSpPr>
        <p:spPr>
          <a:xfrm>
            <a:off x="1143000" y="685800"/>
            <a:ext cx="4571640" cy="3428640"/>
          </a:xfrm>
          <a:prstGeom prst="rect">
            <a:avLst/>
          </a:prstGeom>
          <a:ln w="0">
            <a:noFill/>
          </a:ln>
        </p:spPr>
      </p:sp>
      <p:sp>
        <p:nvSpPr>
          <p:cNvPr id="80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Penetrationstest = geplanter, autorisierter Sicherheitstest mit definiertem Scope, Regeln, Zeitraum und Dokumentation. Schwerpunkt im Unterricht: professionelle Prüfung, nicht Angriffsanleitungen.</a:t>
            </a:r>
            <a:endParaRPr b="0" lang="en-US" sz="2000" strike="noStrike" u="none">
              <a:solidFill>
                <a:srgbClr val="000000"/>
              </a:solidFill>
              <a:effectLst/>
              <a:uFillTx/>
              <a:latin typeface="Arial"/>
            </a:endParaRPr>
          </a:p>
        </p:txBody>
      </p:sp>
      <p:sp>
        <p:nvSpPr>
          <p:cNvPr id="803" name="PlaceHolder 3"/>
          <p:cNvSpPr>
            <a:spLocks noGrp="1"/>
          </p:cNvSpPr>
          <p:nvPr>
            <p:ph type="sldNum" idx="6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E10755F2-BD59-484D-95EB-328837BFBF1C}"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PlaceHolder 1"/>
          <p:cNvSpPr>
            <a:spLocks noGrp="1"/>
          </p:cNvSpPr>
          <p:nvPr>
            <p:ph type="sldImg"/>
          </p:nvPr>
        </p:nvSpPr>
        <p:spPr>
          <a:xfrm>
            <a:off x="1143000" y="685800"/>
            <a:ext cx="4571640" cy="3428640"/>
          </a:xfrm>
          <a:prstGeom prst="rect">
            <a:avLst/>
          </a:prstGeom>
          <a:ln w="0">
            <a:noFill/>
          </a:ln>
        </p:spPr>
      </p:sp>
      <p:sp>
        <p:nvSpPr>
          <p:cNvPr id="80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Security by Design = Sicherheit schon bei Anforderungen/Architektur berücksichtigen. Beispiele: Least Privilege, sichere Defaults, Eingabeprüfung, Patchkonzept, Logging, Backup/Restore. Monitoring = laufende Beobachtung; Logging = Aufzeichnung relevanter Ereignisse. Logs können sensible/personenbezogene Daten enthalten.</a:t>
            </a:r>
            <a:endParaRPr b="0" lang="en-US" sz="2000" strike="noStrike" u="none">
              <a:solidFill>
                <a:srgbClr val="000000"/>
              </a:solidFill>
              <a:effectLst/>
              <a:uFillTx/>
              <a:latin typeface="Arial"/>
            </a:endParaRPr>
          </a:p>
        </p:txBody>
      </p:sp>
      <p:sp>
        <p:nvSpPr>
          <p:cNvPr id="806" name="PlaceHolder 3"/>
          <p:cNvSpPr>
            <a:spLocks noGrp="1"/>
          </p:cNvSpPr>
          <p:nvPr>
            <p:ph type="sldNum" idx="6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E743F19F-00CD-44CB-9C13-5AF339692EB2}"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7" name="PlaceHolder 1"/>
          <p:cNvSpPr>
            <a:spLocks noGrp="1"/>
          </p:cNvSpPr>
          <p:nvPr>
            <p:ph type="sldImg"/>
          </p:nvPr>
        </p:nvSpPr>
        <p:spPr>
          <a:xfrm>
            <a:off x="1143000" y="685800"/>
            <a:ext cx="4571640" cy="3428640"/>
          </a:xfrm>
          <a:prstGeom prst="rect">
            <a:avLst/>
          </a:prstGeom>
          <a:ln w="0">
            <a:noFill/>
          </a:ln>
        </p:spPr>
      </p:sp>
      <p:sp>
        <p:nvSpPr>
          <p:cNvPr id="80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Authentifizierung prüft Identität, Autorisierung entscheidet über erlaubte Aktionen/Ressourcen. Least Privilege = nur tatsächlich notwendige Rechte vergeben.</a:t>
            </a:r>
            <a:endParaRPr b="0" lang="en-US" sz="2000" strike="noStrike" u="none">
              <a:solidFill>
                <a:srgbClr val="000000"/>
              </a:solidFill>
              <a:effectLst/>
              <a:uFillTx/>
              <a:latin typeface="Arial"/>
            </a:endParaRPr>
          </a:p>
        </p:txBody>
      </p:sp>
      <p:sp>
        <p:nvSpPr>
          <p:cNvPr id="809" name="PlaceHolder 3"/>
          <p:cNvSpPr>
            <a:spLocks noGrp="1"/>
          </p:cNvSpPr>
          <p:nvPr>
            <p:ph type="sldNum" idx="6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259A2385-CF9C-4650-B500-47B8DD1CEB4F}"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0" name="PlaceHolder 1"/>
          <p:cNvSpPr>
            <a:spLocks noGrp="1"/>
          </p:cNvSpPr>
          <p:nvPr>
            <p:ph type="sldImg"/>
          </p:nvPr>
        </p:nvSpPr>
        <p:spPr>
          <a:xfrm>
            <a:off x="1143000" y="685800"/>
            <a:ext cx="4571640" cy="3428640"/>
          </a:xfrm>
          <a:prstGeom prst="rect">
            <a:avLst/>
          </a:prstGeom>
          <a:ln w="0">
            <a:noFill/>
          </a:ln>
        </p:spPr>
      </p:sp>
      <p:sp>
        <p:nvSpPr>
          <p:cNvPr id="81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MFA = mindestens zwei unterschiedliche Faktoren, z.B. Wissen, Besitz, biometrisches Merkmal. Keine Pauschalregel Sonderzeichen=sicher; Länge, Einzigartigkeit, sichere Speicherung und MFA sind wichtiger.</a:t>
            </a:r>
            <a:endParaRPr b="0" lang="en-US" sz="2000" strike="noStrike" u="none">
              <a:solidFill>
                <a:srgbClr val="000000"/>
              </a:solidFill>
              <a:effectLst/>
              <a:uFillTx/>
              <a:latin typeface="Arial"/>
            </a:endParaRPr>
          </a:p>
        </p:txBody>
      </p:sp>
      <p:sp>
        <p:nvSpPr>
          <p:cNvPr id="812" name="PlaceHolder 3"/>
          <p:cNvSpPr>
            <a:spLocks noGrp="1"/>
          </p:cNvSpPr>
          <p:nvPr>
            <p:ph type="sldNum" idx="6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9C7719BA-2020-446C-8886-B9A17625B799}"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3" name="PlaceHolder 1"/>
          <p:cNvSpPr>
            <a:spLocks noGrp="1"/>
          </p:cNvSpPr>
          <p:nvPr>
            <p:ph type="sldImg"/>
          </p:nvPr>
        </p:nvSpPr>
        <p:spPr>
          <a:xfrm>
            <a:off x="1143000" y="685800"/>
            <a:ext cx="4571640" cy="3428640"/>
          </a:xfrm>
          <a:prstGeom prst="rect">
            <a:avLst/>
          </a:prstGeom>
          <a:ln w="0">
            <a:noFill/>
          </a:ln>
        </p:spPr>
      </p:sp>
      <p:sp>
        <p:nvSpPr>
          <p:cNvPr id="81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Social Engineering nutzt Vertrauen, Autorität, Hilfsbereitschaft, Angst oder Zeitdruck. Identitäten und ungewöhnliche Forderungen über unabhängigen Kommunikationsweg prüfen. Security betrifft nicht nur Technik.</a:t>
            </a:r>
            <a:endParaRPr b="0" lang="en-US" sz="2000" strike="noStrike" u="none">
              <a:solidFill>
                <a:srgbClr val="000000"/>
              </a:solidFill>
              <a:effectLst/>
              <a:uFillTx/>
              <a:latin typeface="Arial"/>
            </a:endParaRPr>
          </a:p>
        </p:txBody>
      </p:sp>
      <p:sp>
        <p:nvSpPr>
          <p:cNvPr id="815" name="PlaceHolder 3"/>
          <p:cNvSpPr>
            <a:spLocks noGrp="1"/>
          </p:cNvSpPr>
          <p:nvPr>
            <p:ph type="sldNum" idx="6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D9ACF410-346A-4C67-9D47-9428905D5D8F}"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6" name="PlaceHolder 1"/>
          <p:cNvSpPr>
            <a:spLocks noGrp="1"/>
          </p:cNvSpPr>
          <p:nvPr>
            <p:ph type="sldImg"/>
          </p:nvPr>
        </p:nvSpPr>
        <p:spPr>
          <a:xfrm>
            <a:off x="1143000" y="685800"/>
            <a:ext cx="4571640" cy="3428640"/>
          </a:xfrm>
          <a:prstGeom prst="rect">
            <a:avLst/>
          </a:prstGeom>
          <a:ln w="0">
            <a:noFill/>
          </a:ln>
        </p:spPr>
      </p:sp>
      <p:sp>
        <p:nvSpPr>
          <p:cNvPr id="81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Phishing ist nicht nur schlecht geschriebene E-Mail und nicht nur Passwortdiebstahl. Kanäle: E-Mail, SMS, Messenger, soziale Netze. Ziele können Zugangsdaten, MFA-Freigaben, Zahlungen oder schädliche Inhalte sein. Spear Phishing = stärker zielgerichtet, optional.</a:t>
            </a:r>
            <a:endParaRPr b="0" lang="en-US" sz="2000" strike="noStrike" u="none">
              <a:solidFill>
                <a:srgbClr val="000000"/>
              </a:solidFill>
              <a:effectLst/>
              <a:uFillTx/>
              <a:latin typeface="Arial"/>
            </a:endParaRPr>
          </a:p>
        </p:txBody>
      </p:sp>
      <p:sp>
        <p:nvSpPr>
          <p:cNvPr id="818" name="PlaceHolder 3"/>
          <p:cNvSpPr>
            <a:spLocks noGrp="1"/>
          </p:cNvSpPr>
          <p:nvPr>
            <p:ph type="sldNum" idx="6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3DE3DA63-48D7-4E6F-8CB6-A65253D5B8D6}"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PlaceHolder 1"/>
          <p:cNvSpPr>
            <a:spLocks noGrp="1"/>
          </p:cNvSpPr>
          <p:nvPr>
            <p:ph type="sldImg"/>
          </p:nvPr>
        </p:nvSpPr>
        <p:spPr>
          <a:xfrm>
            <a:off x="1143000" y="685800"/>
            <a:ext cx="4571640" cy="3428640"/>
          </a:xfrm>
          <a:prstGeom prst="rect">
            <a:avLst/>
          </a:prstGeom>
          <a:ln w="0">
            <a:noFill/>
          </a:ln>
        </p:spPr>
      </p:sp>
      <p:sp>
        <p:nvSpPr>
          <p:cNvPr id="82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Cloud-Synchronisation ist nicht automatisch Backup. Backup soll früheren Datenstand wiederherstellen und sollte angemessen vom Produktivsystem getrennt sein. Restore muss getestet werden. 3-2-1 ist Faustregel. RPO = akzeptabler zeitlicher Datenverlust; RTO = akzeptable Wiederherstellungsdauer.</a:t>
            </a:r>
            <a:endParaRPr b="0" lang="en-US" sz="2000" strike="noStrike" u="none">
              <a:solidFill>
                <a:srgbClr val="000000"/>
              </a:solidFill>
              <a:effectLst/>
              <a:uFillTx/>
              <a:latin typeface="Arial"/>
            </a:endParaRPr>
          </a:p>
        </p:txBody>
      </p:sp>
      <p:sp>
        <p:nvSpPr>
          <p:cNvPr id="821" name="PlaceHolder 3"/>
          <p:cNvSpPr>
            <a:spLocks noGrp="1"/>
          </p:cNvSpPr>
          <p:nvPr>
            <p:ph type="sldNum" idx="7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9ABFD0B3-D1FF-4B2A-AA17-54F8EF515517}"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PlaceHolder 1"/>
          <p:cNvSpPr>
            <a:spLocks noGrp="1"/>
          </p:cNvSpPr>
          <p:nvPr>
            <p:ph type="sldImg"/>
          </p:nvPr>
        </p:nvSpPr>
        <p:spPr>
          <a:xfrm>
            <a:off x="1143000" y="685800"/>
            <a:ext cx="4571640" cy="3428640"/>
          </a:xfrm>
          <a:prstGeom prst="rect">
            <a:avLst/>
          </a:prstGeom>
          <a:ln w="0">
            <a:noFill/>
          </a:ln>
        </p:spPr>
      </p:sp>
      <p:sp>
        <p:nvSpPr>
          <p:cNvPr id="82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Backups können vollständige Kopien sensibler Daten enthalten und sind selbst schützenswert. Mehr Sicherungen erhöhen nicht automatisch Sicherheit, wenn Zugriff, Aufbewahrung und Löschung ungeklärt sind.</a:t>
            </a:r>
            <a:endParaRPr b="0" lang="en-US" sz="2000" strike="noStrike" u="none">
              <a:solidFill>
                <a:srgbClr val="000000"/>
              </a:solidFill>
              <a:effectLst/>
              <a:uFillTx/>
              <a:latin typeface="Arial"/>
            </a:endParaRPr>
          </a:p>
        </p:txBody>
      </p:sp>
      <p:sp>
        <p:nvSpPr>
          <p:cNvPr id="824" name="PlaceHolder 3"/>
          <p:cNvSpPr>
            <a:spLocks noGrp="1"/>
          </p:cNvSpPr>
          <p:nvPr>
            <p:ph type="sldNum" idx="7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3B443DE2-B4E1-4BFD-9DBF-67377793FC40}"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5" name="PlaceHolder 1"/>
          <p:cNvSpPr>
            <a:spLocks noGrp="1"/>
          </p:cNvSpPr>
          <p:nvPr>
            <p:ph type="sldImg"/>
          </p:nvPr>
        </p:nvSpPr>
        <p:spPr>
          <a:xfrm>
            <a:off x="1143000" y="685800"/>
            <a:ext cx="4571640" cy="3428640"/>
          </a:xfrm>
          <a:prstGeom prst="rect">
            <a:avLst/>
          </a:prstGeom>
          <a:ln w="0">
            <a:noFill/>
          </a:ln>
        </p:spPr>
      </p:sp>
      <p:sp>
        <p:nvSpPr>
          <p:cNvPr id="82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Verschlüsselung schützt vor allem Vertraulichkeit gegen unberechtigtes Lesen; Schutzwirkung hängt vom Bedrohungsmodell ab. Data in Use = Daten während Verarbeitung; klassische Verschlüsselung löst dort nicht alle Risiken.</a:t>
            </a:r>
            <a:endParaRPr b="0" lang="en-US" sz="2000" strike="noStrike" u="none">
              <a:solidFill>
                <a:srgbClr val="000000"/>
              </a:solidFill>
              <a:effectLst/>
              <a:uFillTx/>
              <a:latin typeface="Arial"/>
            </a:endParaRPr>
          </a:p>
        </p:txBody>
      </p:sp>
      <p:sp>
        <p:nvSpPr>
          <p:cNvPr id="827" name="PlaceHolder 3"/>
          <p:cNvSpPr>
            <a:spLocks noGrp="1"/>
          </p:cNvSpPr>
          <p:nvPr>
            <p:ph type="sldNum" idx="7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7F0A808D-68D5-4ADE-991A-DA5241FF6EA5}"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8" name="PlaceHolder 1"/>
          <p:cNvSpPr>
            <a:spLocks noGrp="1"/>
          </p:cNvSpPr>
          <p:nvPr>
            <p:ph type="sldImg"/>
          </p:nvPr>
        </p:nvSpPr>
        <p:spPr>
          <a:xfrm>
            <a:off x="1143000" y="685800"/>
            <a:ext cx="4571640" cy="3428640"/>
          </a:xfrm>
          <a:prstGeom prst="rect">
            <a:avLst/>
          </a:prstGeom>
          <a:ln w="0">
            <a:noFill/>
          </a:ln>
        </p:spPr>
      </p:sp>
      <p:sp>
        <p:nvSpPr>
          <p:cNvPr id="82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TLS = Transport Layer Security. Schützt auf Transportweg gegen einfaches Mitlesen/Manipulation und ermöglicht Authentisierung der Gegenstelle über Zertifikate. HTTPS = HTTP über TLS. Eine HTTPS-Seite kann trotzdem betrügerisch sein.</a:t>
            </a:r>
            <a:endParaRPr b="0" lang="en-US" sz="2000" strike="noStrike" u="none">
              <a:solidFill>
                <a:srgbClr val="000000"/>
              </a:solidFill>
              <a:effectLst/>
              <a:uFillTx/>
              <a:latin typeface="Arial"/>
            </a:endParaRPr>
          </a:p>
        </p:txBody>
      </p:sp>
      <p:sp>
        <p:nvSpPr>
          <p:cNvPr id="830" name="PlaceHolder 3"/>
          <p:cNvSpPr>
            <a:spLocks noGrp="1"/>
          </p:cNvSpPr>
          <p:nvPr>
            <p:ph type="sldNum" idx="7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298F7A77-19DB-4026-92D1-BFABB37DDEE5}"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1" name="PlaceHolder 1"/>
          <p:cNvSpPr>
            <a:spLocks noGrp="1"/>
          </p:cNvSpPr>
          <p:nvPr>
            <p:ph type="sldImg"/>
          </p:nvPr>
        </p:nvSpPr>
        <p:spPr>
          <a:xfrm>
            <a:off x="1143000" y="685800"/>
            <a:ext cx="4571640" cy="3428640"/>
          </a:xfrm>
          <a:prstGeom prst="rect">
            <a:avLst/>
          </a:prstGeom>
          <a:ln w="0">
            <a:noFill/>
          </a:ln>
        </p:spPr>
      </p:sp>
      <p:sp>
        <p:nvSpPr>
          <p:cNvPr id="83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Datenträgerverschlüsselung schützt z.B. bei Verlust eines ausgeschalteten Geräts. Bei entsperrtem/kompromittiertem System kann Anwendung ggf. entschlüsselte Daten lesen. Backup und Schlüssel am selben ungeschützten Ort schwächen Schutz; Schlüsselverlust kann Restore unmöglich machen.</a:t>
            </a:r>
            <a:endParaRPr b="0" lang="en-US" sz="2000" strike="noStrike" u="none">
              <a:solidFill>
                <a:srgbClr val="000000"/>
              </a:solidFill>
              <a:effectLst/>
              <a:uFillTx/>
              <a:latin typeface="Arial"/>
            </a:endParaRPr>
          </a:p>
        </p:txBody>
      </p:sp>
      <p:sp>
        <p:nvSpPr>
          <p:cNvPr id="833" name="PlaceHolder 3"/>
          <p:cNvSpPr>
            <a:spLocks noGrp="1"/>
          </p:cNvSpPr>
          <p:nvPr>
            <p:ph type="sldNum" idx="7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1A327698-DB64-4AE2-8BD3-2142D086409A}"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4" name="PlaceHolder 1"/>
          <p:cNvSpPr>
            <a:spLocks noGrp="1"/>
          </p:cNvSpPr>
          <p:nvPr>
            <p:ph type="sldImg"/>
          </p:nvPr>
        </p:nvSpPr>
        <p:spPr>
          <a:xfrm>
            <a:off x="1143000" y="685800"/>
            <a:ext cx="4571640" cy="3428640"/>
          </a:xfrm>
          <a:prstGeom prst="rect">
            <a:avLst/>
          </a:prstGeom>
          <a:ln w="0">
            <a:noFill/>
          </a:ln>
        </p:spPr>
      </p:sp>
      <p:sp>
        <p:nvSpPr>
          <p:cNvPr id="83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Reale Protokolle wie TLS kombinieren Verfahren. Nicht behaupten, gesamte HTTPS-Kommunikation werde einfach asymmetrisch verschlüsselt. Public-Key-Verfahren helfen u.a. bei Authentisierung/Schlüsselaushandlung; Datenübertragung typischerweise symmetrisch.</a:t>
            </a:r>
            <a:endParaRPr b="0" lang="en-US" sz="2000" strike="noStrike" u="none">
              <a:solidFill>
                <a:srgbClr val="000000"/>
              </a:solidFill>
              <a:effectLst/>
              <a:uFillTx/>
              <a:latin typeface="Arial"/>
            </a:endParaRPr>
          </a:p>
        </p:txBody>
      </p:sp>
      <p:sp>
        <p:nvSpPr>
          <p:cNvPr id="836" name="PlaceHolder 3"/>
          <p:cNvSpPr>
            <a:spLocks noGrp="1"/>
          </p:cNvSpPr>
          <p:nvPr>
            <p:ph type="sldNum" idx="7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A2966795-1F66-483E-8F9D-3C5055A68BCD}"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7" name="PlaceHolder 1"/>
          <p:cNvSpPr>
            <a:spLocks noGrp="1"/>
          </p:cNvSpPr>
          <p:nvPr>
            <p:ph type="sldImg"/>
          </p:nvPr>
        </p:nvSpPr>
        <p:spPr>
          <a:xfrm>
            <a:off x="1143000" y="685800"/>
            <a:ext cx="4571640" cy="3428640"/>
          </a:xfrm>
          <a:prstGeom prst="rect">
            <a:avLst/>
          </a:prstGeom>
          <a:ln w="0">
            <a:noFill/>
          </a:ln>
        </p:spPr>
      </p:sp>
      <p:sp>
        <p:nvSpPr>
          <p:cNvPr id="83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Hashing ist keine Verschlüsselung und wird nicht entschlüsselt. Passwörter serverseitig nicht einfach reversibel verschlüsseln, sondern mit geeigneten Passwort-Hashing-Verfahren plus Salt verarbeiten. Schüler sollen Zwecke unterscheiden; Details sind Vertiefung.</a:t>
            </a:r>
            <a:endParaRPr b="0" lang="en-US" sz="2000" strike="noStrike" u="none">
              <a:solidFill>
                <a:srgbClr val="000000"/>
              </a:solidFill>
              <a:effectLst/>
              <a:uFillTx/>
              <a:latin typeface="Arial"/>
            </a:endParaRPr>
          </a:p>
        </p:txBody>
      </p:sp>
      <p:sp>
        <p:nvSpPr>
          <p:cNvPr id="839" name="PlaceHolder 3"/>
          <p:cNvSpPr>
            <a:spLocks noGrp="1"/>
          </p:cNvSpPr>
          <p:nvPr>
            <p:ph type="sldNum" idx="7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C8F54653-3A83-480F-8380-86DEC7697C90}"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0" name="PlaceHolder 1"/>
          <p:cNvSpPr>
            <a:spLocks noGrp="1"/>
          </p:cNvSpPr>
          <p:nvPr>
            <p:ph type="sldImg"/>
          </p:nvPr>
        </p:nvSpPr>
        <p:spPr>
          <a:xfrm>
            <a:off x="1143000" y="685800"/>
            <a:ext cx="4571640" cy="3428640"/>
          </a:xfrm>
          <a:prstGeom prst="rect">
            <a:avLst/>
          </a:prstGeom>
          <a:ln w="0">
            <a:noFill/>
          </a:ln>
        </p:spPr>
      </p:sp>
      <p:sp>
        <p:nvSpPr>
          <p:cNvPr id="84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Eine technisch gut verschlüsselte Datenbank kann trotzdem unnötige oder unrechtmäßig erhobene personenbezogene Daten enthalten. Datenschutz braucht technische/organisatorische Schutzmaßnahmen; Bereiche überschneiden sich, sind aber nicht identisch.</a:t>
            </a:r>
            <a:endParaRPr b="0" lang="en-US" sz="2000" strike="noStrike" u="none">
              <a:solidFill>
                <a:srgbClr val="000000"/>
              </a:solidFill>
              <a:effectLst/>
              <a:uFillTx/>
              <a:latin typeface="Arial"/>
            </a:endParaRPr>
          </a:p>
        </p:txBody>
      </p:sp>
      <p:sp>
        <p:nvSpPr>
          <p:cNvPr id="842" name="PlaceHolder 3"/>
          <p:cNvSpPr>
            <a:spLocks noGrp="1"/>
          </p:cNvSpPr>
          <p:nvPr>
            <p:ph type="sldNum" idx="7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C561F432-1637-4D28-B32B-C03B8402F459}"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3" name="PlaceHolder 1"/>
          <p:cNvSpPr>
            <a:spLocks noGrp="1"/>
          </p:cNvSpPr>
          <p:nvPr>
            <p:ph type="sldImg"/>
          </p:nvPr>
        </p:nvSpPr>
        <p:spPr>
          <a:xfrm>
            <a:off x="1143000" y="685800"/>
            <a:ext cx="4571640" cy="3428640"/>
          </a:xfrm>
          <a:prstGeom prst="rect">
            <a:avLst/>
          </a:prstGeom>
          <a:ln w="0">
            <a:noFill/>
          </a:ln>
        </p:spPr>
      </p:sp>
      <p:sp>
        <p:nvSpPr>
          <p:cNvPr id="84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DSGVO = Datenschutz-Grundverordnung der EU. Im Unterricht: Zweckbindung, Datenminimierung, Transparenz, angemessener Schutz und Rechte betroffener Personen. Keine Rechtsberatung/Paragraphenprüfung.</a:t>
            </a:r>
            <a:endParaRPr b="0" lang="en-US" sz="2000" strike="noStrike" u="none">
              <a:solidFill>
                <a:srgbClr val="000000"/>
              </a:solidFill>
              <a:effectLst/>
              <a:uFillTx/>
              <a:latin typeface="Arial"/>
            </a:endParaRPr>
          </a:p>
        </p:txBody>
      </p:sp>
      <p:sp>
        <p:nvSpPr>
          <p:cNvPr id="845" name="PlaceHolder 3"/>
          <p:cNvSpPr>
            <a:spLocks noGrp="1"/>
          </p:cNvSpPr>
          <p:nvPr>
            <p:ph type="sldNum" idx="7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3A911CBD-1975-4709-9CEE-980323F9A6A0}"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6" name="PlaceHolder 1"/>
          <p:cNvSpPr>
            <a:spLocks noGrp="1"/>
          </p:cNvSpPr>
          <p:nvPr>
            <p:ph type="sldImg"/>
          </p:nvPr>
        </p:nvSpPr>
        <p:spPr>
          <a:xfrm>
            <a:off x="1143000" y="685800"/>
            <a:ext cx="4571640" cy="3428640"/>
          </a:xfrm>
          <a:prstGeom prst="rect">
            <a:avLst/>
          </a:prstGeom>
          <a:ln w="0">
            <a:noFill/>
          </a:ln>
        </p:spPr>
      </p:sp>
      <p:sp>
        <p:nvSpPr>
          <p:cNvPr id="84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NIS = Network and Information Systems. NIS2 ist die zweite EU-Richtlinie zur Cybersicherheit von Netz- und Informationssystemen. Sie betrifft nicht pauschal jedes Unternehmen/jede Website; konkrete Erfassung hängt u.a. von Sektor, Größe und nationaler Umsetzung ab. NIS2 zeigt Security als Management-, Prozess- und Organisationsaufgabe. DSGVO und NIS2 nicht vermischen. Konkrete Pflichten/Schwellenwerte vor Vertiefung anhand aktueller offizieller Quellen prüfen; keine Rechtsberatung.</a:t>
            </a:r>
            <a:endParaRPr b="0" lang="en-US" sz="2000" strike="noStrike" u="none">
              <a:solidFill>
                <a:srgbClr val="000000"/>
              </a:solidFill>
              <a:effectLst/>
              <a:uFillTx/>
              <a:latin typeface="Arial"/>
            </a:endParaRPr>
          </a:p>
        </p:txBody>
      </p:sp>
      <p:sp>
        <p:nvSpPr>
          <p:cNvPr id="848" name="PlaceHolder 3"/>
          <p:cNvSpPr>
            <a:spLocks noGrp="1"/>
          </p:cNvSpPr>
          <p:nvPr>
            <p:ph type="sldNum" idx="7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E6B2C086-85F8-40DE-AC25-0AB6732E93D8}"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9" name="PlaceHolder 1"/>
          <p:cNvSpPr>
            <a:spLocks noGrp="1"/>
          </p:cNvSpPr>
          <p:nvPr>
            <p:ph type="sldImg"/>
          </p:nvPr>
        </p:nvSpPr>
        <p:spPr>
          <a:xfrm>
            <a:off x="1143000" y="685800"/>
            <a:ext cx="4571640" cy="3428640"/>
          </a:xfrm>
          <a:prstGeom prst="rect">
            <a:avLst/>
          </a:prstGeom>
          <a:ln w="0">
            <a:noFill/>
          </a:ln>
        </p:spPr>
      </p:sp>
      <p:sp>
        <p:nvSpPr>
          <p:cNvPr id="85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KI ist weder automatisch Angriffs- noch Schutztechnik. Deepfake = künstlich erzeugte/manipulierte Medien, die reale Personen/Ereignisse glaubhaft vortäuschen. Anomalieerkennung sucht auffällige Abweichungen. KI-Ergebnisse können falsch sein und müssen geprüft werden.</a:t>
            </a:r>
            <a:endParaRPr b="0" lang="en-US" sz="2000" strike="noStrike" u="none">
              <a:solidFill>
                <a:srgbClr val="000000"/>
              </a:solidFill>
              <a:effectLst/>
              <a:uFillTx/>
              <a:latin typeface="Arial"/>
            </a:endParaRPr>
          </a:p>
        </p:txBody>
      </p:sp>
      <p:sp>
        <p:nvSpPr>
          <p:cNvPr id="851" name="PlaceHolder 3"/>
          <p:cNvSpPr>
            <a:spLocks noGrp="1"/>
          </p:cNvSpPr>
          <p:nvPr>
            <p:ph type="sldNum" idx="8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6C988108-B580-45B4-8351-66C00C5E5CD6}"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PlaceHolder 1"/>
          <p:cNvSpPr>
            <a:spLocks noGrp="1"/>
          </p:cNvSpPr>
          <p:nvPr>
            <p:ph type="sldImg"/>
          </p:nvPr>
        </p:nvSpPr>
        <p:spPr>
          <a:xfrm>
            <a:off x="1143000" y="685800"/>
            <a:ext cx="4571640" cy="3428640"/>
          </a:xfrm>
          <a:prstGeom prst="rect">
            <a:avLst/>
          </a:prstGeom>
          <a:ln w="0">
            <a:noFill/>
          </a:ln>
        </p:spPr>
      </p:sp>
      <p:sp>
        <p:nvSpPr>
          <p:cNvPr id="85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Der Code läuft ist kein Qualitäts- oder Sicherheitsnachweis. Wer Code übernimmt, muss ihn verstehen, erklären, testen, warten und verantworten können. Besonders kritisch: Login, Rechteprüfung, Kryptografie, Eingabevalidierung, Datenbankzugriffe. KI kann vorschlagen; Verantwortung bleibt beim Menschen/betreibenden Team.</a:t>
            </a:r>
            <a:endParaRPr b="0" lang="en-US" sz="2000" strike="noStrike" u="none">
              <a:solidFill>
                <a:srgbClr val="000000"/>
              </a:solidFill>
              <a:effectLst/>
              <a:uFillTx/>
              <a:latin typeface="Arial"/>
            </a:endParaRPr>
          </a:p>
        </p:txBody>
      </p:sp>
      <p:sp>
        <p:nvSpPr>
          <p:cNvPr id="854" name="PlaceHolder 3"/>
          <p:cNvSpPr>
            <a:spLocks noGrp="1"/>
          </p:cNvSpPr>
          <p:nvPr>
            <p:ph type="sldNum" idx="8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233850D9-49D0-44BA-886A-B0C4DC0B59EA}"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5" name="PlaceHolder 1"/>
          <p:cNvSpPr>
            <a:spLocks noGrp="1"/>
          </p:cNvSpPr>
          <p:nvPr>
            <p:ph type="sldImg"/>
          </p:nvPr>
        </p:nvSpPr>
        <p:spPr>
          <a:xfrm>
            <a:off x="1143000" y="685800"/>
            <a:ext cx="4571640" cy="3428640"/>
          </a:xfrm>
          <a:prstGeom prst="rect">
            <a:avLst/>
          </a:prstGeom>
          <a:ln w="0">
            <a:noFill/>
          </a:ln>
        </p:spPr>
      </p:sp>
      <p:sp>
        <p:nvSpPr>
          <p:cNvPr id="85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Es gibt nicht nur eine richtige Architektur. Bewertet werden begründete Entscheidungen und das Erkennen von Abhängigkeiten/Zielkonflikten.</a:t>
            </a:r>
            <a:endParaRPr b="0" lang="en-US" sz="2000" strike="noStrike" u="none">
              <a:solidFill>
                <a:srgbClr val="000000"/>
              </a:solidFill>
              <a:effectLst/>
              <a:uFillTx/>
              <a:latin typeface="Arial"/>
            </a:endParaRPr>
          </a:p>
        </p:txBody>
      </p:sp>
      <p:sp>
        <p:nvSpPr>
          <p:cNvPr id="857" name="PlaceHolder 3"/>
          <p:cNvSpPr>
            <a:spLocks noGrp="1"/>
          </p:cNvSpPr>
          <p:nvPr>
            <p:ph type="sldNum" idx="8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DF569862-6A1A-433E-ACB9-F54A3A618DEF}"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8" name="PlaceHolder 1"/>
          <p:cNvSpPr>
            <a:spLocks noGrp="1"/>
          </p:cNvSpPr>
          <p:nvPr>
            <p:ph type="sldImg"/>
          </p:nvPr>
        </p:nvSpPr>
        <p:spPr>
          <a:xfrm>
            <a:off x="1143000" y="685800"/>
            <a:ext cx="4571640" cy="3428640"/>
          </a:xfrm>
          <a:prstGeom prst="rect">
            <a:avLst/>
          </a:prstGeom>
          <a:ln w="0">
            <a:noFill/>
          </a:ln>
        </p:spPr>
      </p:sp>
      <p:sp>
        <p:nvSpPr>
          <p:cNvPr id="85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Abschluss auf Systemverantwortung richten. Architektur, Daten, Sicherheit und Betrieb nicht als getrennte Themen behandeln.</a:t>
            </a:r>
            <a:endParaRPr b="0" lang="en-US" sz="2000" strike="noStrike" u="none">
              <a:solidFill>
                <a:srgbClr val="000000"/>
              </a:solidFill>
              <a:effectLst/>
              <a:uFillTx/>
              <a:latin typeface="Arial"/>
            </a:endParaRPr>
          </a:p>
        </p:txBody>
      </p:sp>
      <p:sp>
        <p:nvSpPr>
          <p:cNvPr id="860" name="PlaceHolder 3"/>
          <p:cNvSpPr>
            <a:spLocks noGrp="1"/>
          </p:cNvSpPr>
          <p:nvPr>
            <p:ph type="sldNum" idx="8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47A029AB-7580-4356-981B-42691395397E}"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1" name="PlaceHolder 1"/>
          <p:cNvSpPr>
            <a:spLocks noGrp="1"/>
          </p:cNvSpPr>
          <p:nvPr>
            <p:ph type="sldImg"/>
          </p:nvPr>
        </p:nvSpPr>
        <p:spPr>
          <a:xfrm>
            <a:off x="1143000" y="685800"/>
            <a:ext cx="4571640" cy="3428640"/>
          </a:xfrm>
          <a:prstGeom prst="rect">
            <a:avLst/>
          </a:prstGeom>
          <a:ln w="0">
            <a:noFill/>
          </a:ln>
        </p:spPr>
      </p:sp>
      <p:sp>
        <p:nvSpPr>
          <p:cNvPr id="86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LEHRERHINWEIS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Diese Folie erzeugt den Bedarf für Polling, SSE und WebSocket. Der Browser kennt serverseitige Änderungen nicht automatisch. Zuerst Schülerideen sammeln.</a:t>
            </a:r>
            <a:endParaRPr b="0" lang="en-US" sz="2000" strike="noStrike" u="none">
              <a:solidFill>
                <a:srgbClr val="000000"/>
              </a:solidFill>
              <a:effectLst/>
              <a:uFillTx/>
              <a:latin typeface="Arial"/>
            </a:endParaRPr>
          </a:p>
        </p:txBody>
      </p:sp>
      <p:sp>
        <p:nvSpPr>
          <p:cNvPr id="863" name="PlaceHolder 3"/>
          <p:cNvSpPr>
            <a:spLocks noGrp="1"/>
          </p:cNvSpPr>
          <p:nvPr>
            <p:ph type="sldNum" idx="8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7F326A6B-6039-4E4F-A774-77D7DB3C104D}"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AAC0C276-A4E0-4042-B82E-7F6D4D0ADD93}"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5"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6"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7"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E9B2694E-FEE4-4731-872B-71481AB5C68F}"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10"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11"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12"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3"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9F0FA963-2A02-40AF-AA20-1078C7A81AFD}"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15"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16"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17"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8"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08BFF890-A778-48B2-85CC-321FA8588D88}"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trike="noStrike" u="none" cap="all">
                <a:solidFill>
                  <a:schemeClr val="dk1"/>
                </a:solidFill>
                <a:effectLst/>
                <a:uFillTx/>
                <a:latin typeface="Calibri"/>
              </a:rPr>
              <a:t>Click to edit Master title style</a:t>
            </a:r>
            <a:endParaRPr b="0" lang="en-US" sz="4000" strike="noStrike" u="none">
              <a:solidFill>
                <a:schemeClr val="dk1"/>
              </a:solidFill>
              <a:effectLst/>
              <a:uFillTx/>
              <a:latin typeface="Calibri"/>
            </a:endParaRPr>
          </a:p>
        </p:txBody>
      </p:sp>
      <p:sp>
        <p:nvSpPr>
          <p:cNvPr id="20"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trike="noStrike" u="none">
                <a:solidFill>
                  <a:schemeClr val="dk1">
                    <a:tint val="75000"/>
                  </a:schemeClr>
                </a:solidFill>
                <a:effectLst/>
                <a:uFillTx/>
                <a:latin typeface="Calibri"/>
              </a:rPr>
              <a:t>Click to edit Master text styles</a:t>
            </a:r>
            <a:endParaRPr b="0" lang="en-US" sz="2000" strike="noStrike" u="none">
              <a:solidFill>
                <a:schemeClr val="dk1"/>
              </a:solidFill>
              <a:effectLst/>
              <a:uFillTx/>
              <a:latin typeface="Calibri"/>
            </a:endParaRPr>
          </a:p>
        </p:txBody>
      </p:sp>
      <p:sp>
        <p:nvSpPr>
          <p:cNvPr id="21"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22"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3"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BBB9DB5C-F2E1-4EA0-BFBE-158BEA668135}"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25"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chemeClr val="dk1"/>
              </a:solidFill>
              <a:effectLst/>
              <a:uFillTx/>
              <a:latin typeface="Calibri"/>
            </a:endParaRPr>
          </a:p>
          <a:p>
            <a:pPr lvl="1" marL="743040" indent="-28584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26"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chemeClr val="dk1"/>
              </a:solidFill>
              <a:effectLst/>
              <a:uFillTx/>
              <a:latin typeface="Calibri"/>
            </a:endParaRPr>
          </a:p>
          <a:p>
            <a:pPr lvl="1" marL="743040" indent="-28584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27"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28"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9"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562FDEB5-04E8-44A8-9A5C-4565AA5438FC}"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31"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p:txBody>
      </p:sp>
      <p:sp>
        <p:nvSpPr>
          <p:cNvPr id="32"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a:p>
            <a:pPr lvl="1" marL="743040" indent="-28584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en-US" sz="2000" strike="noStrike" u="none">
              <a:solidFill>
                <a:schemeClr val="dk1"/>
              </a:solidFill>
              <a:effectLst/>
              <a:uFillTx/>
              <a:latin typeface="Calibri"/>
            </a:endParaRPr>
          </a:p>
          <a:p>
            <a:pPr lvl="2" marL="11430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en-US" sz="1800" strike="noStrike" u="none">
              <a:solidFill>
                <a:schemeClr val="dk1"/>
              </a:solidFill>
              <a:effectLst/>
              <a:uFillTx/>
              <a:latin typeface="Calibri"/>
            </a:endParaRPr>
          </a:p>
          <a:p>
            <a:pPr lvl="3" marL="16002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US" sz="1600" strike="noStrike" u="none">
              <a:solidFill>
                <a:schemeClr val="dk1"/>
              </a:solidFill>
              <a:effectLst/>
              <a:uFillTx/>
              <a:latin typeface="Calibri"/>
            </a:endParaRPr>
          </a:p>
          <a:p>
            <a:pPr lvl="4" marL="20574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US" sz="1600" strike="noStrike" u="none">
              <a:solidFill>
                <a:schemeClr val="dk1"/>
              </a:solidFill>
              <a:effectLst/>
              <a:uFillTx/>
              <a:latin typeface="Calibri"/>
            </a:endParaRPr>
          </a:p>
        </p:txBody>
      </p:sp>
      <p:sp>
        <p:nvSpPr>
          <p:cNvPr id="33"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p:txBody>
      </p:sp>
      <p:sp>
        <p:nvSpPr>
          <p:cNvPr id="34"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a:p>
            <a:pPr lvl="1" marL="743040" indent="-28584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en-US" sz="2000" strike="noStrike" u="none">
              <a:solidFill>
                <a:schemeClr val="dk1"/>
              </a:solidFill>
              <a:effectLst/>
              <a:uFillTx/>
              <a:latin typeface="Calibri"/>
            </a:endParaRPr>
          </a:p>
          <a:p>
            <a:pPr lvl="2" marL="11430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en-US" sz="1800" strike="noStrike" u="none">
              <a:solidFill>
                <a:schemeClr val="dk1"/>
              </a:solidFill>
              <a:effectLst/>
              <a:uFillTx/>
              <a:latin typeface="Calibri"/>
            </a:endParaRPr>
          </a:p>
          <a:p>
            <a:pPr lvl="3" marL="16002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US" sz="1600" strike="noStrike" u="none">
              <a:solidFill>
                <a:schemeClr val="dk1"/>
              </a:solidFill>
              <a:effectLst/>
              <a:uFillTx/>
              <a:latin typeface="Calibri"/>
            </a:endParaRPr>
          </a:p>
          <a:p>
            <a:pPr lvl="4" marL="20574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US" sz="1600" strike="noStrike" u="none">
              <a:solidFill>
                <a:schemeClr val="dk1"/>
              </a:solidFill>
              <a:effectLst/>
              <a:uFillTx/>
              <a:latin typeface="Calibri"/>
            </a:endParaRPr>
          </a:p>
        </p:txBody>
      </p:sp>
      <p:sp>
        <p:nvSpPr>
          <p:cNvPr id="35"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36"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7"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5DDEF380-32A0-4C52-8A0F-A14C0B1D00E9}"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39"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40"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1"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E7BAECC4-4253-4DD5-8400-EB6CDCA0C7A6}"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43"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4"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673D38A7-7001-4DB2-97F3-EEC3D153DC7C}"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45"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Calibri"/>
              </a:rPr>
              <a:t>Click to edit the title text format</a:t>
            </a:r>
            <a:endParaRPr b="0" lang="en-US" sz="1800" strike="noStrike" u="none">
              <a:solidFill>
                <a:schemeClr val="dk1"/>
              </a:solidFill>
              <a:effectLst/>
              <a:uFillTx/>
              <a:latin typeface="Calibri"/>
            </a:endParaRPr>
          </a:p>
        </p:txBody>
      </p:sp>
      <p:sp>
        <p:nvSpPr>
          <p:cNvPr id="46"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trike="noStrike" u="none">
                <a:solidFill>
                  <a:schemeClr val="dk1"/>
                </a:solidFill>
                <a:effectLst/>
                <a:uFillTx/>
                <a:latin typeface="Calibri"/>
              </a:rPr>
              <a:t>Click to edit Master title style</a:t>
            </a:r>
            <a:endParaRPr b="0" lang="en-US" sz="2000" strike="noStrike" u="none">
              <a:solidFill>
                <a:schemeClr val="dk1"/>
              </a:solidFill>
              <a:effectLst/>
              <a:uFillTx/>
              <a:latin typeface="Calibri"/>
            </a:endParaRPr>
          </a:p>
        </p:txBody>
      </p:sp>
      <p:sp>
        <p:nvSpPr>
          <p:cNvPr id="48"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49"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chemeClr val="dk1"/>
              </a:solidFill>
              <a:effectLst/>
              <a:uFillTx/>
              <a:latin typeface="Calibri"/>
            </a:endParaRPr>
          </a:p>
        </p:txBody>
      </p:sp>
      <p:sp>
        <p:nvSpPr>
          <p:cNvPr id="50"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51"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2"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C4D3C589-A499-4867-82E8-6B8F66AE5A08}"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trike="noStrike" u="none">
                <a:solidFill>
                  <a:schemeClr val="dk1"/>
                </a:solidFill>
                <a:effectLst/>
                <a:uFillTx/>
                <a:latin typeface="Calibri"/>
              </a:rPr>
              <a:t>Click to edit Master title style</a:t>
            </a:r>
            <a:endParaRPr b="0" lang="en-US" sz="2000" strike="noStrike" u="none">
              <a:solidFill>
                <a:schemeClr val="dk1"/>
              </a:solidFill>
              <a:effectLst/>
              <a:uFillTx/>
              <a:latin typeface="Calibri"/>
            </a:endParaRPr>
          </a:p>
        </p:txBody>
      </p:sp>
      <p:sp>
        <p:nvSpPr>
          <p:cNvPr id="54"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55"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chemeClr val="dk1"/>
              </a:solidFill>
              <a:effectLst/>
              <a:uFillTx/>
              <a:latin typeface="Calibri"/>
            </a:endParaRPr>
          </a:p>
        </p:txBody>
      </p:sp>
      <p:sp>
        <p:nvSpPr>
          <p:cNvPr id="56"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57"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8"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C1F6F986-074A-4BDB-ABCD-A2BE0F6C3872}"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63f"/>
        </a:solidFill>
      </p:bgPr>
    </p:bg>
    <p:spTree>
      <p:nvGrpSpPr>
        <p:cNvPr id="1" name=""/>
        <p:cNvGrpSpPr/>
        <p:nvPr/>
      </p:nvGrpSpPr>
      <p:grpSpPr>
        <a:xfrm>
          <a:off x="0" y="0"/>
          <a:ext cx="0" cy="0"/>
          <a:chOff x="0" y="0"/>
          <a:chExt cx="0" cy="0"/>
        </a:xfrm>
      </p:grpSpPr>
      <p:sp>
        <p:nvSpPr>
          <p:cNvPr id="65" name="TextBox 1"/>
          <p:cNvSpPr/>
          <p:nvPr/>
        </p:nvSpPr>
        <p:spPr>
          <a:xfrm>
            <a:off x="731520" y="1051560"/>
            <a:ext cx="7954920" cy="1554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500" strike="noStrike" u="none">
                <a:solidFill>
                  <a:srgbClr val="ffffff"/>
                </a:solidFill>
                <a:effectLst/>
                <a:uFillTx/>
                <a:latin typeface="Calibri"/>
              </a:rPr>
              <a:t>WEBBASIERTE</a:t>
            </a:r>
            <a:br>
              <a:rPr sz="3500"/>
            </a:br>
            <a:r>
              <a:rPr b="1" lang="en-US" sz="3500" strike="noStrike" u="none">
                <a:solidFill>
                  <a:srgbClr val="ffffff"/>
                </a:solidFill>
                <a:effectLst/>
                <a:uFillTx/>
                <a:latin typeface="Calibri"/>
              </a:rPr>
              <a:t>ANWENDUNGEN</a:t>
            </a:r>
            <a:endParaRPr b="0" lang="en-US" sz="3500" strike="noStrike" u="none">
              <a:solidFill>
                <a:srgbClr val="ffffff"/>
              </a:solidFill>
              <a:effectLst/>
              <a:uFillTx/>
              <a:latin typeface="Arial"/>
            </a:endParaRPr>
          </a:p>
        </p:txBody>
      </p:sp>
      <p:sp>
        <p:nvSpPr>
          <p:cNvPr id="66" name="TextBox 2"/>
          <p:cNvSpPr/>
          <p:nvPr/>
        </p:nvSpPr>
        <p:spPr>
          <a:xfrm>
            <a:off x="749880" y="2880360"/>
            <a:ext cx="7314840" cy="45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100" strike="noStrike" u="none">
                <a:solidFill>
                  <a:srgbClr val="bee6f5"/>
                </a:solidFill>
                <a:effectLst/>
                <a:uFillTx/>
                <a:latin typeface="Calibri"/>
              </a:rPr>
              <a:t>Vom Browser zum Gesamtsystem</a:t>
            </a:r>
            <a:endParaRPr b="0" lang="en-US" sz="2100" strike="noStrike" u="none">
              <a:solidFill>
                <a:srgbClr val="ffffff"/>
              </a:solidFill>
              <a:effectLst/>
              <a:uFillTx/>
              <a:latin typeface="Arial"/>
            </a:endParaRPr>
          </a:p>
        </p:txBody>
      </p:sp>
      <p:sp>
        <p:nvSpPr>
          <p:cNvPr id="67" name="TextBox 3"/>
          <p:cNvSpPr/>
          <p:nvPr/>
        </p:nvSpPr>
        <p:spPr>
          <a:xfrm>
            <a:off x="749880" y="5303520"/>
            <a:ext cx="10698120" cy="411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400" strike="noStrike" u="none">
                <a:solidFill>
                  <a:srgbClr val="ffffff"/>
                </a:solidFill>
                <a:effectLst/>
                <a:uFillTx/>
                <a:latin typeface="Calibri"/>
              </a:rPr>
              <a:t>Architektur · Kommunikation · Cloud · IT-Security · Datenschutz · KI</a:t>
            </a:r>
            <a:endParaRPr b="0" lang="en-US" sz="1400" strike="noStrike" u="none">
              <a:solidFill>
                <a:srgbClr val="ffffff"/>
              </a:solidFill>
              <a:effectLst/>
              <a:uFillTx/>
              <a:latin typeface="Arial"/>
            </a:endParaRPr>
          </a:p>
        </p:txBody>
      </p:sp>
      <p:sp>
        <p:nvSpPr>
          <p:cNvPr id="68" name="TextBox 4"/>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ffffff"/>
              </a:solidFill>
              <a:effectLst/>
              <a:uFillTx/>
              <a:latin typeface="Arial"/>
            </a:endParaRPr>
          </a:p>
        </p:txBody>
      </p:sp>
      <p:sp>
        <p:nvSpPr>
          <p:cNvPr id="69" name="TextBox 5"/>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1</a:t>
            </a:r>
            <a:endParaRPr b="0" lang="en-US" sz="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70"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WEBBASIERTE ANWENDUNGEN</a:t>
            </a:r>
            <a:endParaRPr b="0" lang="en-US" sz="900" strike="noStrike" u="none">
              <a:solidFill>
                <a:srgbClr val="000000"/>
              </a:solidFill>
              <a:effectLst/>
              <a:uFillTx/>
              <a:latin typeface="Arial"/>
            </a:endParaRPr>
          </a:p>
        </p:txBody>
      </p:sp>
      <p:sp>
        <p:nvSpPr>
          <p:cNvPr id="71"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Wo läuft eine Webanwendung?</a:t>
            </a:r>
            <a:endParaRPr b="0" lang="en-US" sz="2700" strike="noStrike" u="none">
              <a:solidFill>
                <a:srgbClr val="000000"/>
              </a:solidFill>
              <a:effectLst/>
              <a:uFillTx/>
              <a:latin typeface="Arial"/>
            </a:endParaRPr>
          </a:p>
        </p:txBody>
      </p:sp>
      <p:sp>
        <p:nvSpPr>
          <p:cNvPr id="72"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73" name="TextBox 4"/>
          <p:cNvSpPr/>
          <p:nvPr/>
        </p:nvSpPr>
        <p:spPr>
          <a:xfrm>
            <a:off x="822960" y="1691640"/>
            <a:ext cx="10515240" cy="4388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200" strike="noStrike" u="none">
                <a:solidFill>
                  <a:srgbClr val="465264"/>
                </a:solidFill>
                <a:effectLst/>
                <a:uFillTx/>
                <a:latin typeface="Calibri"/>
              </a:rPr>
              <a:t>• im Browser?</a:t>
            </a:r>
            <a:endParaRPr b="0" lang="en-US" sz="2200" strike="noStrike" u="none">
              <a:solidFill>
                <a:srgbClr val="000000"/>
              </a:solidFill>
              <a:effectLst/>
              <a:uFillTx/>
              <a:latin typeface="Arial"/>
            </a:endParaRPr>
          </a:p>
          <a:p>
            <a:pPr defTabSz="457200">
              <a:lnSpc>
                <a:spcPct val="100000"/>
              </a:lnSpc>
              <a:spcAft>
                <a:spcPts val="799"/>
              </a:spcAft>
            </a:pPr>
            <a:r>
              <a:rPr b="0" lang="en-US" sz="2200" strike="noStrike" u="none">
                <a:solidFill>
                  <a:srgbClr val="465264"/>
                </a:solidFill>
                <a:effectLst/>
                <a:uFillTx/>
                <a:latin typeface="Calibri"/>
              </a:rPr>
              <a:t>• auf meinem Rechner?</a:t>
            </a:r>
            <a:endParaRPr b="0" lang="en-US" sz="2200" strike="noStrike" u="none">
              <a:solidFill>
                <a:srgbClr val="000000"/>
              </a:solidFill>
              <a:effectLst/>
              <a:uFillTx/>
              <a:latin typeface="Arial"/>
            </a:endParaRPr>
          </a:p>
          <a:p>
            <a:pPr defTabSz="457200">
              <a:lnSpc>
                <a:spcPct val="100000"/>
              </a:lnSpc>
              <a:spcAft>
                <a:spcPts val="799"/>
              </a:spcAft>
            </a:pPr>
            <a:r>
              <a:rPr b="0" lang="en-US" sz="2200" strike="noStrike" u="none">
                <a:solidFill>
                  <a:srgbClr val="465264"/>
                </a:solidFill>
                <a:effectLst/>
                <a:uFillTx/>
                <a:latin typeface="Calibri"/>
              </a:rPr>
              <a:t>• auf einem Server?</a:t>
            </a:r>
            <a:endParaRPr b="0" lang="en-US" sz="2200" strike="noStrike" u="none">
              <a:solidFill>
                <a:srgbClr val="000000"/>
              </a:solidFill>
              <a:effectLst/>
              <a:uFillTx/>
              <a:latin typeface="Arial"/>
            </a:endParaRPr>
          </a:p>
          <a:p>
            <a:pPr defTabSz="457200">
              <a:lnSpc>
                <a:spcPct val="100000"/>
              </a:lnSpc>
              <a:spcAft>
                <a:spcPts val="799"/>
              </a:spcAft>
            </a:pPr>
            <a:r>
              <a:rPr b="0" lang="en-US" sz="2200" strike="noStrike" u="none">
                <a:solidFill>
                  <a:srgbClr val="465264"/>
                </a:solidFill>
                <a:effectLst/>
                <a:uFillTx/>
                <a:latin typeface="Calibri"/>
              </a:rPr>
              <a:t>• im Rechenzentrum?</a:t>
            </a:r>
            <a:endParaRPr b="0" lang="en-US" sz="2200" strike="noStrike" u="none">
              <a:solidFill>
                <a:srgbClr val="000000"/>
              </a:solidFill>
              <a:effectLst/>
              <a:uFillTx/>
              <a:latin typeface="Arial"/>
            </a:endParaRPr>
          </a:p>
          <a:p>
            <a:pPr defTabSz="457200">
              <a:lnSpc>
                <a:spcPct val="100000"/>
              </a:lnSpc>
              <a:spcAft>
                <a:spcPts val="799"/>
              </a:spcAft>
            </a:pPr>
            <a:r>
              <a:rPr b="0" lang="en-US" sz="2200" strike="noStrike" u="none">
                <a:solidFill>
                  <a:srgbClr val="465264"/>
                </a:solidFill>
                <a:effectLst/>
                <a:uFillTx/>
                <a:latin typeface="Calibri"/>
              </a:rPr>
              <a:t>• in der Cloud?</a:t>
            </a:r>
            <a:endParaRPr b="0" lang="en-US" sz="2200" strike="noStrike" u="none">
              <a:solidFill>
                <a:srgbClr val="000000"/>
              </a:solidFill>
              <a:effectLst/>
              <a:uFillTx/>
              <a:latin typeface="Arial"/>
            </a:endParaRPr>
          </a:p>
        </p:txBody>
      </p:sp>
      <p:sp>
        <p:nvSpPr>
          <p:cNvPr id="74" name="TextBox 5"/>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75" name="TextBox 6"/>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2</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76"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WEBBASIERTE ANWENDUNGEN</a:t>
            </a:r>
            <a:endParaRPr b="0" lang="en-US" sz="900" strike="noStrike" u="none">
              <a:solidFill>
                <a:srgbClr val="000000"/>
              </a:solidFill>
              <a:effectLst/>
              <a:uFillTx/>
              <a:latin typeface="Arial"/>
            </a:endParaRPr>
          </a:p>
        </p:txBody>
      </p:sp>
      <p:sp>
        <p:nvSpPr>
          <p:cNvPr id="77"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Was gehört zur Webanwendung?</a:t>
            </a:r>
            <a:endParaRPr b="0" lang="en-US" sz="2700" strike="noStrike" u="none">
              <a:solidFill>
                <a:srgbClr val="000000"/>
              </a:solidFill>
              <a:effectLst/>
              <a:uFillTx/>
              <a:latin typeface="Arial"/>
            </a:endParaRPr>
          </a:p>
        </p:txBody>
      </p:sp>
      <p:sp>
        <p:nvSpPr>
          <p:cNvPr id="78"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79" name="TextBox 4"/>
          <p:cNvSpPr/>
          <p:nvPr/>
        </p:nvSpPr>
        <p:spPr>
          <a:xfrm>
            <a:off x="822960" y="1691640"/>
            <a:ext cx="10515240" cy="4388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200" strike="noStrike" u="none">
                <a:solidFill>
                  <a:srgbClr val="465264"/>
                </a:solidFill>
                <a:effectLst/>
                <a:uFillTx/>
                <a:latin typeface="Calibri"/>
              </a:rPr>
              <a:t>• Benutzeroberfläche</a:t>
            </a:r>
            <a:endParaRPr b="0" lang="en-US" sz="2200" strike="noStrike" u="none">
              <a:solidFill>
                <a:srgbClr val="000000"/>
              </a:solidFill>
              <a:effectLst/>
              <a:uFillTx/>
              <a:latin typeface="Arial"/>
            </a:endParaRPr>
          </a:p>
          <a:p>
            <a:pPr defTabSz="457200">
              <a:lnSpc>
                <a:spcPct val="100000"/>
              </a:lnSpc>
              <a:spcAft>
                <a:spcPts val="799"/>
              </a:spcAft>
            </a:pPr>
            <a:r>
              <a:rPr b="0" lang="en-US" sz="2200" strike="noStrike" u="none">
                <a:solidFill>
                  <a:srgbClr val="465264"/>
                </a:solidFill>
                <a:effectLst/>
                <a:uFillTx/>
                <a:latin typeface="Calibri"/>
              </a:rPr>
              <a:t>• Programmlogik</a:t>
            </a:r>
            <a:endParaRPr b="0" lang="en-US" sz="2200" strike="noStrike" u="none">
              <a:solidFill>
                <a:srgbClr val="000000"/>
              </a:solidFill>
              <a:effectLst/>
              <a:uFillTx/>
              <a:latin typeface="Arial"/>
            </a:endParaRPr>
          </a:p>
          <a:p>
            <a:pPr defTabSz="457200">
              <a:lnSpc>
                <a:spcPct val="100000"/>
              </a:lnSpc>
              <a:spcAft>
                <a:spcPts val="799"/>
              </a:spcAft>
            </a:pPr>
            <a:r>
              <a:rPr b="0" lang="en-US" sz="2200" strike="noStrike" u="none">
                <a:solidFill>
                  <a:srgbClr val="465264"/>
                </a:solidFill>
                <a:effectLst/>
                <a:uFillTx/>
                <a:latin typeface="Calibri"/>
              </a:rPr>
              <a:t>• Daten</a:t>
            </a:r>
            <a:endParaRPr b="0" lang="en-US" sz="2200" strike="noStrike" u="none">
              <a:solidFill>
                <a:srgbClr val="000000"/>
              </a:solidFill>
              <a:effectLst/>
              <a:uFillTx/>
              <a:latin typeface="Arial"/>
            </a:endParaRPr>
          </a:p>
          <a:p>
            <a:pPr defTabSz="457200">
              <a:lnSpc>
                <a:spcPct val="100000"/>
              </a:lnSpc>
              <a:spcAft>
                <a:spcPts val="799"/>
              </a:spcAft>
            </a:pPr>
            <a:r>
              <a:rPr b="0" lang="en-US" sz="2200" strike="noStrike" u="none">
                <a:solidFill>
                  <a:srgbClr val="465264"/>
                </a:solidFill>
                <a:effectLst/>
                <a:uFillTx/>
                <a:latin typeface="Calibri"/>
              </a:rPr>
              <a:t>• Benutzer- und Rechteverwaltung</a:t>
            </a:r>
            <a:endParaRPr b="0" lang="en-US" sz="2200" strike="noStrike" u="none">
              <a:solidFill>
                <a:srgbClr val="000000"/>
              </a:solidFill>
              <a:effectLst/>
              <a:uFillTx/>
              <a:latin typeface="Arial"/>
            </a:endParaRPr>
          </a:p>
          <a:p>
            <a:pPr defTabSz="457200">
              <a:lnSpc>
                <a:spcPct val="100000"/>
              </a:lnSpc>
              <a:spcAft>
                <a:spcPts val="799"/>
              </a:spcAft>
            </a:pPr>
            <a:r>
              <a:rPr b="0" lang="en-US" sz="2200" strike="noStrike" u="none">
                <a:solidFill>
                  <a:srgbClr val="465264"/>
                </a:solidFill>
                <a:effectLst/>
                <a:uFillTx/>
                <a:latin typeface="Calibri"/>
              </a:rPr>
              <a:t>• Netzwerkkommunikation</a:t>
            </a:r>
            <a:endParaRPr b="0" lang="en-US" sz="2200" strike="noStrike" u="none">
              <a:solidFill>
                <a:srgbClr val="000000"/>
              </a:solidFill>
              <a:effectLst/>
              <a:uFillTx/>
              <a:latin typeface="Arial"/>
            </a:endParaRPr>
          </a:p>
          <a:p>
            <a:pPr defTabSz="457200">
              <a:lnSpc>
                <a:spcPct val="100000"/>
              </a:lnSpc>
              <a:spcAft>
                <a:spcPts val="799"/>
              </a:spcAft>
            </a:pPr>
            <a:r>
              <a:rPr b="0" lang="en-US" sz="2200" strike="noStrike" u="none">
                <a:solidFill>
                  <a:srgbClr val="465264"/>
                </a:solidFill>
                <a:effectLst/>
                <a:uFillTx/>
                <a:latin typeface="Calibri"/>
              </a:rPr>
              <a:t>• ggf. externe Dienste</a:t>
            </a:r>
            <a:endParaRPr b="0" lang="en-US" sz="2200" strike="noStrike" u="none">
              <a:solidFill>
                <a:srgbClr val="000000"/>
              </a:solidFill>
              <a:effectLst/>
              <a:uFillTx/>
              <a:latin typeface="Arial"/>
            </a:endParaRPr>
          </a:p>
        </p:txBody>
      </p:sp>
      <p:sp>
        <p:nvSpPr>
          <p:cNvPr id="80" name="TextBox 5"/>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81" name="TextBox 6"/>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3</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82"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ARCHITEKTUR</a:t>
            </a:r>
            <a:endParaRPr b="0" lang="en-US" sz="900" strike="noStrike" u="none">
              <a:solidFill>
                <a:srgbClr val="000000"/>
              </a:solidFill>
              <a:effectLst/>
              <a:uFillTx/>
              <a:latin typeface="Arial"/>
            </a:endParaRPr>
          </a:p>
        </p:txBody>
      </p:sp>
      <p:sp>
        <p:nvSpPr>
          <p:cNvPr id="83"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Das 3-Tier-Modell</a:t>
            </a:r>
            <a:endParaRPr b="0" lang="en-US" sz="2700" strike="noStrike" u="none">
              <a:solidFill>
                <a:srgbClr val="000000"/>
              </a:solidFill>
              <a:effectLst/>
              <a:uFillTx/>
              <a:latin typeface="Arial"/>
            </a:endParaRPr>
          </a:p>
        </p:txBody>
      </p:sp>
      <p:sp>
        <p:nvSpPr>
          <p:cNvPr id="84"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85" name="Rounded Rectangle 4"/>
          <p:cNvSpPr/>
          <p:nvPr/>
        </p:nvSpPr>
        <p:spPr>
          <a:xfrm>
            <a:off x="822960" y="1965960"/>
            <a:ext cx="3291480" cy="223992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86" name="Rectangle 5"/>
          <p:cNvSpPr/>
          <p:nvPr/>
        </p:nvSpPr>
        <p:spPr>
          <a:xfrm>
            <a:off x="822960" y="1965960"/>
            <a:ext cx="63720" cy="223992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87" name="TextBox 6"/>
          <p:cNvSpPr/>
          <p:nvPr/>
        </p:nvSpPr>
        <p:spPr>
          <a:xfrm>
            <a:off x="1024200" y="2103120"/>
            <a:ext cx="292572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Presentation Tier</a:t>
            </a:r>
            <a:endParaRPr b="0" lang="en-US" sz="1500" strike="noStrike" u="none">
              <a:solidFill>
                <a:srgbClr val="000000"/>
              </a:solidFill>
              <a:effectLst/>
              <a:uFillTx/>
              <a:latin typeface="Arial"/>
            </a:endParaRPr>
          </a:p>
        </p:txBody>
      </p:sp>
      <p:sp>
        <p:nvSpPr>
          <p:cNvPr id="88" name="TextBox 7"/>
          <p:cNvSpPr/>
          <p:nvPr/>
        </p:nvSpPr>
        <p:spPr>
          <a:xfrm>
            <a:off x="1024200" y="2560320"/>
            <a:ext cx="2925720" cy="1526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Benutzerschnittstelle</a:t>
            </a:r>
            <a:br>
              <a:rPr sz="1300"/>
            </a:br>
            <a:r>
              <a:rPr b="0" lang="en-US" sz="1300" strike="noStrike" u="none">
                <a:solidFill>
                  <a:srgbClr val="465264"/>
                </a:solidFill>
                <a:effectLst/>
                <a:uFillTx/>
                <a:latin typeface="Calibri"/>
              </a:rPr>
              <a:t>HTML · CSS · JavaScript</a:t>
            </a:r>
            <a:endParaRPr b="0" lang="en-US" sz="1300" strike="noStrike" u="none">
              <a:solidFill>
                <a:srgbClr val="000000"/>
              </a:solidFill>
              <a:effectLst/>
              <a:uFillTx/>
              <a:latin typeface="Arial"/>
            </a:endParaRPr>
          </a:p>
        </p:txBody>
      </p:sp>
      <p:sp>
        <p:nvSpPr>
          <p:cNvPr id="89" name="Rounded Rectangle 8"/>
          <p:cNvSpPr/>
          <p:nvPr/>
        </p:nvSpPr>
        <p:spPr>
          <a:xfrm>
            <a:off x="4617720" y="1965960"/>
            <a:ext cx="3291480" cy="223992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90" name="Rectangle 9"/>
          <p:cNvSpPr/>
          <p:nvPr/>
        </p:nvSpPr>
        <p:spPr>
          <a:xfrm>
            <a:off x="4617720" y="1965960"/>
            <a:ext cx="63720" cy="223992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91" name="TextBox 10"/>
          <p:cNvSpPr/>
          <p:nvPr/>
        </p:nvSpPr>
        <p:spPr>
          <a:xfrm>
            <a:off x="4818960" y="2103120"/>
            <a:ext cx="292572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Application Tier</a:t>
            </a:r>
            <a:endParaRPr b="0" lang="en-US" sz="1500" strike="noStrike" u="none">
              <a:solidFill>
                <a:srgbClr val="000000"/>
              </a:solidFill>
              <a:effectLst/>
              <a:uFillTx/>
              <a:latin typeface="Arial"/>
            </a:endParaRPr>
          </a:p>
        </p:txBody>
      </p:sp>
      <p:sp>
        <p:nvSpPr>
          <p:cNvPr id="92" name="TextBox 11"/>
          <p:cNvSpPr/>
          <p:nvPr/>
        </p:nvSpPr>
        <p:spPr>
          <a:xfrm>
            <a:off x="4818960" y="2560320"/>
            <a:ext cx="2925720" cy="1526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Anwendungslogik</a:t>
            </a:r>
            <a:br>
              <a:rPr sz="1300"/>
            </a:br>
            <a:r>
              <a:rPr b="0" lang="en-US" sz="1300" strike="noStrike" u="none">
                <a:solidFill>
                  <a:srgbClr val="465264"/>
                </a:solidFill>
                <a:effectLst/>
                <a:uFillTx/>
                <a:latin typeface="Calibri"/>
              </a:rPr>
              <a:t>Backend · API · Dienste</a:t>
            </a:r>
            <a:endParaRPr b="0" lang="en-US" sz="1300" strike="noStrike" u="none">
              <a:solidFill>
                <a:srgbClr val="000000"/>
              </a:solidFill>
              <a:effectLst/>
              <a:uFillTx/>
              <a:latin typeface="Arial"/>
            </a:endParaRPr>
          </a:p>
        </p:txBody>
      </p:sp>
      <p:sp>
        <p:nvSpPr>
          <p:cNvPr id="93" name="Rounded Rectangle 12"/>
          <p:cNvSpPr/>
          <p:nvPr/>
        </p:nvSpPr>
        <p:spPr>
          <a:xfrm>
            <a:off x="8412480" y="1965960"/>
            <a:ext cx="3291480" cy="223992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94" name="Rectangle 13"/>
          <p:cNvSpPr/>
          <p:nvPr/>
        </p:nvSpPr>
        <p:spPr>
          <a:xfrm>
            <a:off x="8412480" y="1965960"/>
            <a:ext cx="63720" cy="223992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95" name="TextBox 14"/>
          <p:cNvSpPr/>
          <p:nvPr/>
        </p:nvSpPr>
        <p:spPr>
          <a:xfrm>
            <a:off x="8613720" y="2103120"/>
            <a:ext cx="292572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Data Tier</a:t>
            </a:r>
            <a:endParaRPr b="0" lang="en-US" sz="1500" strike="noStrike" u="none">
              <a:solidFill>
                <a:srgbClr val="000000"/>
              </a:solidFill>
              <a:effectLst/>
              <a:uFillTx/>
              <a:latin typeface="Arial"/>
            </a:endParaRPr>
          </a:p>
        </p:txBody>
      </p:sp>
      <p:sp>
        <p:nvSpPr>
          <p:cNvPr id="96" name="TextBox 15"/>
          <p:cNvSpPr/>
          <p:nvPr/>
        </p:nvSpPr>
        <p:spPr>
          <a:xfrm>
            <a:off x="8613720" y="2560320"/>
            <a:ext cx="2925720" cy="1526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Datenhaltung</a:t>
            </a:r>
            <a:br>
              <a:rPr sz="1300"/>
            </a:br>
            <a:r>
              <a:rPr b="0" lang="en-US" sz="1300" strike="noStrike" u="none">
                <a:solidFill>
                  <a:srgbClr val="465264"/>
                </a:solidFill>
                <a:effectLst/>
                <a:uFillTx/>
                <a:latin typeface="Calibri"/>
              </a:rPr>
              <a:t>DB · Dateien · Storage</a:t>
            </a:r>
            <a:endParaRPr b="0" lang="en-US" sz="1300" strike="noStrike" u="none">
              <a:solidFill>
                <a:srgbClr val="000000"/>
              </a:solidFill>
              <a:effectLst/>
              <a:uFillTx/>
              <a:latin typeface="Arial"/>
            </a:endParaRPr>
          </a:p>
        </p:txBody>
      </p:sp>
      <p:sp>
        <p:nvSpPr>
          <p:cNvPr id="97" name="TextBox 16"/>
          <p:cNvSpPr/>
          <p:nvPr/>
        </p:nvSpPr>
        <p:spPr>
          <a:xfrm>
            <a:off x="1828800" y="4800600"/>
            <a:ext cx="8503560" cy="502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800" strike="noStrike" u="none">
                <a:solidFill>
                  <a:srgbClr val="be6414"/>
                </a:solidFill>
                <a:effectLst/>
                <a:uFillTx/>
                <a:latin typeface="Calibri"/>
              </a:rPr>
              <a:t>Tier ≠ automatisch ein einzelner Rechner</a:t>
            </a:r>
            <a:endParaRPr b="0" lang="en-US" sz="1800" strike="noStrike" u="none">
              <a:solidFill>
                <a:srgbClr val="000000"/>
              </a:solidFill>
              <a:effectLst/>
              <a:uFillTx/>
              <a:latin typeface="Arial"/>
            </a:endParaRPr>
          </a:p>
        </p:txBody>
      </p:sp>
      <p:sp>
        <p:nvSpPr>
          <p:cNvPr id="98" name="TextBox 17"/>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99" name="TextBox 18"/>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4</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00"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ARCHITEKTUR</a:t>
            </a:r>
            <a:endParaRPr b="0" lang="en-US" sz="900" strike="noStrike" u="none">
              <a:solidFill>
                <a:srgbClr val="000000"/>
              </a:solidFill>
              <a:effectLst/>
              <a:uFillTx/>
              <a:latin typeface="Arial"/>
            </a:endParaRPr>
          </a:p>
        </p:txBody>
      </p:sp>
      <p:sp>
        <p:nvSpPr>
          <p:cNvPr id="101"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Client/Server ist nicht dasselbe wie 3-Tier</a:t>
            </a:r>
            <a:endParaRPr b="0" lang="en-US" sz="2700" strike="noStrike" u="none">
              <a:solidFill>
                <a:srgbClr val="000000"/>
              </a:solidFill>
              <a:effectLst/>
              <a:uFillTx/>
              <a:latin typeface="Arial"/>
            </a:endParaRPr>
          </a:p>
        </p:txBody>
      </p:sp>
      <p:sp>
        <p:nvSpPr>
          <p:cNvPr id="102"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03" name="Rounded Rectangle 4"/>
          <p:cNvSpPr/>
          <p:nvPr/>
        </p:nvSpPr>
        <p:spPr>
          <a:xfrm>
            <a:off x="914400" y="1965960"/>
            <a:ext cx="4754520" cy="219420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04" name="Rectangle 5"/>
          <p:cNvSpPr/>
          <p:nvPr/>
        </p:nvSpPr>
        <p:spPr>
          <a:xfrm>
            <a:off x="914400" y="1965960"/>
            <a:ext cx="63720" cy="219420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05" name="TextBox 6"/>
          <p:cNvSpPr/>
          <p:nvPr/>
        </p:nvSpPr>
        <p:spPr>
          <a:xfrm>
            <a:off x="1115640" y="2103120"/>
            <a:ext cx="43887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Client / Server</a:t>
            </a:r>
            <a:endParaRPr b="0" lang="en-US" sz="1500" strike="noStrike" u="none">
              <a:solidFill>
                <a:srgbClr val="000000"/>
              </a:solidFill>
              <a:effectLst/>
              <a:uFillTx/>
              <a:latin typeface="Arial"/>
            </a:endParaRPr>
          </a:p>
        </p:txBody>
      </p:sp>
      <p:sp>
        <p:nvSpPr>
          <p:cNvPr id="106" name="TextBox 7"/>
          <p:cNvSpPr/>
          <p:nvPr/>
        </p:nvSpPr>
        <p:spPr>
          <a:xfrm>
            <a:off x="1115640" y="2560320"/>
            <a:ext cx="4388760" cy="1481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Wer fordert einen Dienst an?</a:t>
            </a:r>
            <a:br>
              <a:rPr sz="1300"/>
            </a:br>
            <a:r>
              <a:rPr b="0" lang="en-US" sz="1300" strike="noStrike" u="none">
                <a:solidFill>
                  <a:srgbClr val="465264"/>
                </a:solidFill>
                <a:effectLst/>
                <a:uFillTx/>
                <a:latin typeface="Calibri"/>
              </a:rPr>
              <a:t>Wer stellt ihn bereit?</a:t>
            </a:r>
            <a:endParaRPr b="0" lang="en-US" sz="1300" strike="noStrike" u="none">
              <a:solidFill>
                <a:srgbClr val="000000"/>
              </a:solidFill>
              <a:effectLst/>
              <a:uFillTx/>
              <a:latin typeface="Arial"/>
            </a:endParaRPr>
          </a:p>
        </p:txBody>
      </p:sp>
      <p:sp>
        <p:nvSpPr>
          <p:cNvPr id="107" name="Rounded Rectangle 8"/>
          <p:cNvSpPr/>
          <p:nvPr/>
        </p:nvSpPr>
        <p:spPr>
          <a:xfrm>
            <a:off x="6492240" y="1965960"/>
            <a:ext cx="4754520" cy="219420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08" name="Rectangle 9"/>
          <p:cNvSpPr/>
          <p:nvPr/>
        </p:nvSpPr>
        <p:spPr>
          <a:xfrm>
            <a:off x="6492240" y="1965960"/>
            <a:ext cx="63720" cy="219420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09" name="TextBox 10"/>
          <p:cNvSpPr/>
          <p:nvPr/>
        </p:nvSpPr>
        <p:spPr>
          <a:xfrm>
            <a:off x="6693480" y="2103120"/>
            <a:ext cx="43887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3-Tier</a:t>
            </a:r>
            <a:endParaRPr b="0" lang="en-US" sz="1500" strike="noStrike" u="none">
              <a:solidFill>
                <a:srgbClr val="000000"/>
              </a:solidFill>
              <a:effectLst/>
              <a:uFillTx/>
              <a:latin typeface="Arial"/>
            </a:endParaRPr>
          </a:p>
        </p:txBody>
      </p:sp>
      <p:sp>
        <p:nvSpPr>
          <p:cNvPr id="110" name="TextBox 11"/>
          <p:cNvSpPr/>
          <p:nvPr/>
        </p:nvSpPr>
        <p:spPr>
          <a:xfrm>
            <a:off x="6693480" y="2560320"/>
            <a:ext cx="4388760" cy="1481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Wie sind Verantwortlichkeiten</a:t>
            </a:r>
            <a:br>
              <a:rPr sz="1300"/>
            </a:br>
            <a:r>
              <a:rPr b="0" lang="en-US" sz="1300" strike="noStrike" u="none">
                <a:solidFill>
                  <a:srgbClr val="465264"/>
                </a:solidFill>
                <a:effectLst/>
                <a:uFillTx/>
                <a:latin typeface="Calibri"/>
              </a:rPr>
              <a:t>der Anwendung strukturiert?</a:t>
            </a:r>
            <a:endParaRPr b="0" lang="en-US" sz="1300" strike="noStrike" u="none">
              <a:solidFill>
                <a:srgbClr val="000000"/>
              </a:solidFill>
              <a:effectLst/>
              <a:uFillTx/>
              <a:latin typeface="Arial"/>
            </a:endParaRPr>
          </a:p>
        </p:txBody>
      </p:sp>
      <p:sp>
        <p:nvSpPr>
          <p:cNvPr id="111" name="TextBox 12"/>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112" name="TextBox 13"/>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5</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13"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AUSFÜHRUNG</a:t>
            </a:r>
            <a:endParaRPr b="0" lang="en-US" sz="900" strike="noStrike" u="none">
              <a:solidFill>
                <a:srgbClr val="000000"/>
              </a:solidFill>
              <a:effectLst/>
              <a:uFillTx/>
              <a:latin typeface="Arial"/>
            </a:endParaRPr>
          </a:p>
        </p:txBody>
      </p:sp>
      <p:sp>
        <p:nvSpPr>
          <p:cNvPr id="114"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Clientseitige Webanwendung: Angular-SPA</a:t>
            </a:r>
            <a:endParaRPr b="0" lang="en-US" sz="2700" strike="noStrike" u="none">
              <a:solidFill>
                <a:srgbClr val="000000"/>
              </a:solidFill>
              <a:effectLst/>
              <a:uFillTx/>
              <a:latin typeface="Arial"/>
            </a:endParaRPr>
          </a:p>
        </p:txBody>
      </p:sp>
      <p:sp>
        <p:nvSpPr>
          <p:cNvPr id="115"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16" name="Rounded Rectangle 4"/>
          <p:cNvSpPr/>
          <p:nvPr/>
        </p:nvSpPr>
        <p:spPr>
          <a:xfrm>
            <a:off x="731520" y="2057400"/>
            <a:ext cx="2925720" cy="18284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17" name="Rectangle 5"/>
          <p:cNvSpPr/>
          <p:nvPr/>
        </p:nvSpPr>
        <p:spPr>
          <a:xfrm>
            <a:off x="731520" y="2057400"/>
            <a:ext cx="63720" cy="182844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18" name="TextBox 6"/>
          <p:cNvSpPr/>
          <p:nvPr/>
        </p:nvSpPr>
        <p:spPr>
          <a:xfrm>
            <a:off x="932760" y="2194560"/>
            <a:ext cx="25599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Webserver</a:t>
            </a:r>
            <a:endParaRPr b="0" lang="en-US" sz="1500" strike="noStrike" u="none">
              <a:solidFill>
                <a:srgbClr val="000000"/>
              </a:solidFill>
              <a:effectLst/>
              <a:uFillTx/>
              <a:latin typeface="Arial"/>
            </a:endParaRPr>
          </a:p>
        </p:txBody>
      </p:sp>
      <p:sp>
        <p:nvSpPr>
          <p:cNvPr id="119" name="TextBox 7"/>
          <p:cNvSpPr/>
          <p:nvPr/>
        </p:nvSpPr>
        <p:spPr>
          <a:xfrm>
            <a:off x="932760" y="2651760"/>
            <a:ext cx="2559960" cy="1115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liefert HTML · CSS · JavaScript</a:t>
            </a:r>
            <a:endParaRPr b="0" lang="en-US" sz="1300" strike="noStrike" u="none">
              <a:solidFill>
                <a:srgbClr val="000000"/>
              </a:solidFill>
              <a:effectLst/>
              <a:uFillTx/>
              <a:latin typeface="Arial"/>
            </a:endParaRPr>
          </a:p>
        </p:txBody>
      </p:sp>
      <p:sp>
        <p:nvSpPr>
          <p:cNvPr id="120" name="Rounded Rectangle 8"/>
          <p:cNvSpPr/>
          <p:nvPr/>
        </p:nvSpPr>
        <p:spPr>
          <a:xfrm>
            <a:off x="4617720" y="2057400"/>
            <a:ext cx="2925720" cy="18284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21" name="Rectangle 9"/>
          <p:cNvSpPr/>
          <p:nvPr/>
        </p:nvSpPr>
        <p:spPr>
          <a:xfrm>
            <a:off x="4617720" y="2057400"/>
            <a:ext cx="63720" cy="182844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22" name="TextBox 10"/>
          <p:cNvSpPr/>
          <p:nvPr/>
        </p:nvSpPr>
        <p:spPr>
          <a:xfrm>
            <a:off x="4818960" y="2194560"/>
            <a:ext cx="25599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Browser</a:t>
            </a:r>
            <a:endParaRPr b="0" lang="en-US" sz="1500" strike="noStrike" u="none">
              <a:solidFill>
                <a:srgbClr val="000000"/>
              </a:solidFill>
              <a:effectLst/>
              <a:uFillTx/>
              <a:latin typeface="Arial"/>
            </a:endParaRPr>
          </a:p>
        </p:txBody>
      </p:sp>
      <p:sp>
        <p:nvSpPr>
          <p:cNvPr id="123" name="TextBox 11"/>
          <p:cNvSpPr/>
          <p:nvPr/>
        </p:nvSpPr>
        <p:spPr>
          <a:xfrm>
            <a:off x="4818960" y="2651760"/>
            <a:ext cx="2559960" cy="1115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führt Frontend-Code lokal aus</a:t>
            </a:r>
            <a:endParaRPr b="0" lang="en-US" sz="1300" strike="noStrike" u="none">
              <a:solidFill>
                <a:srgbClr val="000000"/>
              </a:solidFill>
              <a:effectLst/>
              <a:uFillTx/>
              <a:latin typeface="Arial"/>
            </a:endParaRPr>
          </a:p>
        </p:txBody>
      </p:sp>
      <p:sp>
        <p:nvSpPr>
          <p:cNvPr id="124" name="Rounded Rectangle 12"/>
          <p:cNvSpPr/>
          <p:nvPr/>
        </p:nvSpPr>
        <p:spPr>
          <a:xfrm>
            <a:off x="8503920" y="2057400"/>
            <a:ext cx="2925720" cy="18284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25" name="Rectangle 13"/>
          <p:cNvSpPr/>
          <p:nvPr/>
        </p:nvSpPr>
        <p:spPr>
          <a:xfrm>
            <a:off x="8503920" y="2057400"/>
            <a:ext cx="63720" cy="182844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26" name="TextBox 14"/>
          <p:cNvSpPr/>
          <p:nvPr/>
        </p:nvSpPr>
        <p:spPr>
          <a:xfrm>
            <a:off x="8705160" y="2194560"/>
            <a:ext cx="25599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Backend / API</a:t>
            </a:r>
            <a:endParaRPr b="0" lang="en-US" sz="1500" strike="noStrike" u="none">
              <a:solidFill>
                <a:srgbClr val="000000"/>
              </a:solidFill>
              <a:effectLst/>
              <a:uFillTx/>
              <a:latin typeface="Arial"/>
            </a:endParaRPr>
          </a:p>
        </p:txBody>
      </p:sp>
      <p:sp>
        <p:nvSpPr>
          <p:cNvPr id="127" name="TextBox 15"/>
          <p:cNvSpPr/>
          <p:nvPr/>
        </p:nvSpPr>
        <p:spPr>
          <a:xfrm>
            <a:off x="8705160" y="2651760"/>
            <a:ext cx="2559960" cy="1115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verarbeitet Anfragen und Daten</a:t>
            </a:r>
            <a:endParaRPr b="0" lang="en-US" sz="1300" strike="noStrike" u="none">
              <a:solidFill>
                <a:srgbClr val="000000"/>
              </a:solidFill>
              <a:effectLst/>
              <a:uFillTx/>
              <a:latin typeface="Arial"/>
            </a:endParaRPr>
          </a:p>
        </p:txBody>
      </p:sp>
      <p:sp>
        <p:nvSpPr>
          <p:cNvPr id="128" name="TextBox 16"/>
          <p:cNvSpPr/>
          <p:nvPr/>
        </p:nvSpPr>
        <p:spPr>
          <a:xfrm>
            <a:off x="3703320" y="2743200"/>
            <a:ext cx="82260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trike="noStrike" u="none">
                <a:solidFill>
                  <a:srgbClr val="16263f"/>
                </a:solidFill>
                <a:effectLst/>
                <a:uFillTx/>
                <a:latin typeface="Calibri"/>
              </a:rPr>
              <a:t>Download  →</a:t>
            </a:r>
            <a:endParaRPr b="0" lang="en-US" sz="1400" strike="noStrike" u="none">
              <a:solidFill>
                <a:srgbClr val="000000"/>
              </a:solidFill>
              <a:effectLst/>
              <a:uFillTx/>
              <a:latin typeface="Arial"/>
            </a:endParaRPr>
          </a:p>
        </p:txBody>
      </p:sp>
      <p:sp>
        <p:nvSpPr>
          <p:cNvPr id="129" name="TextBox 17"/>
          <p:cNvSpPr/>
          <p:nvPr/>
        </p:nvSpPr>
        <p:spPr>
          <a:xfrm>
            <a:off x="7635240" y="2743200"/>
            <a:ext cx="73116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trike="noStrike" u="none">
                <a:solidFill>
                  <a:srgbClr val="16263f"/>
                </a:solidFill>
                <a:effectLst/>
                <a:uFillTx/>
                <a:latin typeface="Calibri"/>
              </a:rPr>
              <a:t>API  ⇄</a:t>
            </a:r>
            <a:endParaRPr b="0" lang="en-US" sz="1400" strike="noStrike" u="none">
              <a:solidFill>
                <a:srgbClr val="000000"/>
              </a:solidFill>
              <a:effectLst/>
              <a:uFillTx/>
              <a:latin typeface="Arial"/>
            </a:endParaRPr>
          </a:p>
        </p:txBody>
      </p:sp>
      <p:sp>
        <p:nvSpPr>
          <p:cNvPr id="130" name="TextBox 18"/>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131" name="TextBox 19"/>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6</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32"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AUSFÜHRUNG</a:t>
            </a:r>
            <a:endParaRPr b="0" lang="en-US" sz="900" strike="noStrike" u="none">
              <a:solidFill>
                <a:srgbClr val="000000"/>
              </a:solidFill>
              <a:effectLst/>
              <a:uFillTx/>
              <a:latin typeface="Arial"/>
            </a:endParaRPr>
          </a:p>
        </p:txBody>
      </p:sp>
      <p:sp>
        <p:nvSpPr>
          <p:cNvPr id="133"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Serverseitiges Rendering: Beispiel PHP</a:t>
            </a:r>
            <a:endParaRPr b="0" lang="en-US" sz="2700" strike="noStrike" u="none">
              <a:solidFill>
                <a:srgbClr val="000000"/>
              </a:solidFill>
              <a:effectLst/>
              <a:uFillTx/>
              <a:latin typeface="Arial"/>
            </a:endParaRPr>
          </a:p>
        </p:txBody>
      </p:sp>
      <p:sp>
        <p:nvSpPr>
          <p:cNvPr id="134"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35" name="Rounded Rectangle 4"/>
          <p:cNvSpPr/>
          <p:nvPr/>
        </p:nvSpPr>
        <p:spPr>
          <a:xfrm>
            <a:off x="731520" y="2057400"/>
            <a:ext cx="2925720" cy="18284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36" name="Rectangle 5"/>
          <p:cNvSpPr/>
          <p:nvPr/>
        </p:nvSpPr>
        <p:spPr>
          <a:xfrm>
            <a:off x="731520" y="2057400"/>
            <a:ext cx="63720" cy="182844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37" name="TextBox 6"/>
          <p:cNvSpPr/>
          <p:nvPr/>
        </p:nvSpPr>
        <p:spPr>
          <a:xfrm>
            <a:off x="932760" y="2194560"/>
            <a:ext cx="25599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Browser</a:t>
            </a:r>
            <a:endParaRPr b="0" lang="en-US" sz="1500" strike="noStrike" u="none">
              <a:solidFill>
                <a:srgbClr val="000000"/>
              </a:solidFill>
              <a:effectLst/>
              <a:uFillTx/>
              <a:latin typeface="Arial"/>
            </a:endParaRPr>
          </a:p>
        </p:txBody>
      </p:sp>
      <p:sp>
        <p:nvSpPr>
          <p:cNvPr id="138" name="TextBox 7"/>
          <p:cNvSpPr/>
          <p:nvPr/>
        </p:nvSpPr>
        <p:spPr>
          <a:xfrm>
            <a:off x="932760" y="2651760"/>
            <a:ext cx="2559960" cy="1115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Anfrage senden</a:t>
            </a:r>
            <a:br>
              <a:rPr sz="1300"/>
            </a:br>
            <a:r>
              <a:rPr b="0" lang="en-US" sz="1300" strike="noStrike" u="none">
                <a:solidFill>
                  <a:srgbClr val="465264"/>
                </a:solidFill>
                <a:effectLst/>
                <a:uFillTx/>
                <a:latin typeface="Calibri"/>
              </a:rPr>
              <a:t>HTML anzeigen</a:t>
            </a:r>
            <a:endParaRPr b="0" lang="en-US" sz="1300" strike="noStrike" u="none">
              <a:solidFill>
                <a:srgbClr val="000000"/>
              </a:solidFill>
              <a:effectLst/>
              <a:uFillTx/>
              <a:latin typeface="Arial"/>
            </a:endParaRPr>
          </a:p>
        </p:txBody>
      </p:sp>
      <p:sp>
        <p:nvSpPr>
          <p:cNvPr id="139" name="Rounded Rectangle 8"/>
          <p:cNvSpPr/>
          <p:nvPr/>
        </p:nvSpPr>
        <p:spPr>
          <a:xfrm>
            <a:off x="4617720" y="2057400"/>
            <a:ext cx="2925720" cy="18284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40" name="Rectangle 9"/>
          <p:cNvSpPr/>
          <p:nvPr/>
        </p:nvSpPr>
        <p:spPr>
          <a:xfrm>
            <a:off x="4617720" y="2057400"/>
            <a:ext cx="63720" cy="182844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41" name="TextBox 10"/>
          <p:cNvSpPr/>
          <p:nvPr/>
        </p:nvSpPr>
        <p:spPr>
          <a:xfrm>
            <a:off x="4818960" y="2194560"/>
            <a:ext cx="25599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Webserver / PHP</a:t>
            </a:r>
            <a:endParaRPr b="0" lang="en-US" sz="1500" strike="noStrike" u="none">
              <a:solidFill>
                <a:srgbClr val="000000"/>
              </a:solidFill>
              <a:effectLst/>
              <a:uFillTx/>
              <a:latin typeface="Arial"/>
            </a:endParaRPr>
          </a:p>
        </p:txBody>
      </p:sp>
      <p:sp>
        <p:nvSpPr>
          <p:cNvPr id="142" name="TextBox 11"/>
          <p:cNvSpPr/>
          <p:nvPr/>
        </p:nvSpPr>
        <p:spPr>
          <a:xfrm>
            <a:off x="4818960" y="2651760"/>
            <a:ext cx="2559960" cy="1115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Logik · Datenzugriff</a:t>
            </a:r>
            <a:br>
              <a:rPr sz="1300"/>
            </a:br>
            <a:r>
              <a:rPr b="0" lang="en-US" sz="1300" strike="noStrike" u="none">
                <a:solidFill>
                  <a:srgbClr val="465264"/>
                </a:solidFill>
                <a:effectLst/>
                <a:uFillTx/>
                <a:latin typeface="Calibri"/>
              </a:rPr>
              <a:t>erzeugt HTML</a:t>
            </a:r>
            <a:endParaRPr b="0" lang="en-US" sz="1300" strike="noStrike" u="none">
              <a:solidFill>
                <a:srgbClr val="000000"/>
              </a:solidFill>
              <a:effectLst/>
              <a:uFillTx/>
              <a:latin typeface="Arial"/>
            </a:endParaRPr>
          </a:p>
        </p:txBody>
      </p:sp>
      <p:sp>
        <p:nvSpPr>
          <p:cNvPr id="143" name="Rounded Rectangle 12"/>
          <p:cNvSpPr/>
          <p:nvPr/>
        </p:nvSpPr>
        <p:spPr>
          <a:xfrm>
            <a:off x="8503920" y="2057400"/>
            <a:ext cx="2925720" cy="18284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44" name="Rectangle 13"/>
          <p:cNvSpPr/>
          <p:nvPr/>
        </p:nvSpPr>
        <p:spPr>
          <a:xfrm>
            <a:off x="8503920" y="2057400"/>
            <a:ext cx="63720" cy="182844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45" name="TextBox 14"/>
          <p:cNvSpPr/>
          <p:nvPr/>
        </p:nvSpPr>
        <p:spPr>
          <a:xfrm>
            <a:off x="8705160" y="2194560"/>
            <a:ext cx="25599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Datenhaltung</a:t>
            </a:r>
            <a:endParaRPr b="0" lang="en-US" sz="1500" strike="noStrike" u="none">
              <a:solidFill>
                <a:srgbClr val="000000"/>
              </a:solidFill>
              <a:effectLst/>
              <a:uFillTx/>
              <a:latin typeface="Arial"/>
            </a:endParaRPr>
          </a:p>
        </p:txBody>
      </p:sp>
      <p:sp>
        <p:nvSpPr>
          <p:cNvPr id="146" name="TextBox 15"/>
          <p:cNvSpPr/>
          <p:nvPr/>
        </p:nvSpPr>
        <p:spPr>
          <a:xfrm>
            <a:off x="8705160" y="2651760"/>
            <a:ext cx="2559960" cy="1115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lesen / speichern</a:t>
            </a:r>
            <a:endParaRPr b="0" lang="en-US" sz="1300" strike="noStrike" u="none">
              <a:solidFill>
                <a:srgbClr val="000000"/>
              </a:solidFill>
              <a:effectLst/>
              <a:uFillTx/>
              <a:latin typeface="Arial"/>
            </a:endParaRPr>
          </a:p>
        </p:txBody>
      </p:sp>
      <p:sp>
        <p:nvSpPr>
          <p:cNvPr id="147" name="TextBox 16"/>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148" name="TextBox 17"/>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7</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49"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AUSFÜHRUNG</a:t>
            </a:r>
            <a:endParaRPr b="0" lang="en-US" sz="900" strike="noStrike" u="none">
              <a:solidFill>
                <a:srgbClr val="000000"/>
              </a:solidFill>
              <a:effectLst/>
              <a:uFillTx/>
              <a:latin typeface="Arial"/>
            </a:endParaRPr>
          </a:p>
        </p:txBody>
      </p:sp>
      <p:sp>
        <p:nvSpPr>
          <p:cNvPr id="150"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Moderne Anwendungen sind oft Mischformen</a:t>
            </a:r>
            <a:endParaRPr b="0" lang="en-US" sz="2700" strike="noStrike" u="none">
              <a:solidFill>
                <a:srgbClr val="000000"/>
              </a:solidFill>
              <a:effectLst/>
              <a:uFillTx/>
              <a:latin typeface="Arial"/>
            </a:endParaRPr>
          </a:p>
        </p:txBody>
      </p:sp>
      <p:sp>
        <p:nvSpPr>
          <p:cNvPr id="151"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52" name="TextBox 4"/>
          <p:cNvSpPr/>
          <p:nvPr/>
        </p:nvSpPr>
        <p:spPr>
          <a:xfrm>
            <a:off x="822960" y="1691640"/>
            <a:ext cx="10515240" cy="4388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100" strike="noStrike" u="none">
                <a:solidFill>
                  <a:srgbClr val="465264"/>
                </a:solidFill>
                <a:effectLst/>
                <a:uFillTx/>
                <a:latin typeface="Calibri"/>
              </a:rPr>
              <a:t>• Datenzugriff</a:t>
            </a:r>
            <a:endParaRPr b="0" lang="en-US" sz="2100" strike="noStrike" u="none">
              <a:solidFill>
                <a:srgbClr val="000000"/>
              </a:solidFill>
              <a:effectLst/>
              <a:uFillTx/>
              <a:latin typeface="Arial"/>
            </a:endParaRPr>
          </a:p>
          <a:p>
            <a:pPr defTabSz="457200">
              <a:lnSpc>
                <a:spcPct val="100000"/>
              </a:lnSpc>
              <a:spcAft>
                <a:spcPts val="799"/>
              </a:spcAft>
            </a:pPr>
            <a:r>
              <a:rPr b="0" lang="en-US" sz="2100" strike="noStrike" u="none">
                <a:solidFill>
                  <a:srgbClr val="465264"/>
                </a:solidFill>
                <a:effectLst/>
                <a:uFillTx/>
                <a:latin typeface="Calibri"/>
              </a:rPr>
              <a:t>• Sicherheit</a:t>
            </a:r>
            <a:endParaRPr b="0" lang="en-US" sz="2100" strike="noStrike" u="none">
              <a:solidFill>
                <a:srgbClr val="000000"/>
              </a:solidFill>
              <a:effectLst/>
              <a:uFillTx/>
              <a:latin typeface="Arial"/>
            </a:endParaRPr>
          </a:p>
          <a:p>
            <a:pPr defTabSz="457200">
              <a:lnSpc>
                <a:spcPct val="100000"/>
              </a:lnSpc>
              <a:spcAft>
                <a:spcPts val="799"/>
              </a:spcAft>
            </a:pPr>
            <a:r>
              <a:rPr b="0" lang="en-US" sz="2100" strike="noStrike" u="none">
                <a:solidFill>
                  <a:srgbClr val="465264"/>
                </a:solidFill>
                <a:effectLst/>
                <a:uFillTx/>
                <a:latin typeface="Calibri"/>
              </a:rPr>
              <a:t>• Reaktionsgeschwindigkeit</a:t>
            </a:r>
            <a:endParaRPr b="0" lang="en-US" sz="2100" strike="noStrike" u="none">
              <a:solidFill>
                <a:srgbClr val="000000"/>
              </a:solidFill>
              <a:effectLst/>
              <a:uFillTx/>
              <a:latin typeface="Arial"/>
            </a:endParaRPr>
          </a:p>
          <a:p>
            <a:pPr defTabSz="457200">
              <a:lnSpc>
                <a:spcPct val="100000"/>
              </a:lnSpc>
              <a:spcAft>
                <a:spcPts val="799"/>
              </a:spcAft>
            </a:pPr>
            <a:r>
              <a:rPr b="0" lang="en-US" sz="2100" strike="noStrike" u="none">
                <a:solidFill>
                  <a:srgbClr val="465264"/>
                </a:solidFill>
                <a:effectLst/>
                <a:uFillTx/>
                <a:latin typeface="Calibri"/>
              </a:rPr>
              <a:t>• Rechenaufwand</a:t>
            </a:r>
            <a:endParaRPr b="0" lang="en-US" sz="2100" strike="noStrike" u="none">
              <a:solidFill>
                <a:srgbClr val="000000"/>
              </a:solidFill>
              <a:effectLst/>
              <a:uFillTx/>
              <a:latin typeface="Arial"/>
            </a:endParaRPr>
          </a:p>
          <a:p>
            <a:pPr defTabSz="457200">
              <a:lnSpc>
                <a:spcPct val="100000"/>
              </a:lnSpc>
              <a:spcAft>
                <a:spcPts val="799"/>
              </a:spcAft>
            </a:pPr>
            <a:r>
              <a:rPr b="0" lang="en-US" sz="2100" strike="noStrike" u="none">
                <a:solidFill>
                  <a:srgbClr val="465264"/>
                </a:solidFill>
                <a:effectLst/>
                <a:uFillTx/>
                <a:latin typeface="Calibri"/>
              </a:rPr>
              <a:t>• Offline-Fähigkeit</a:t>
            </a:r>
            <a:endParaRPr b="0" lang="en-US" sz="2100" strike="noStrike" u="none">
              <a:solidFill>
                <a:srgbClr val="000000"/>
              </a:solidFill>
              <a:effectLst/>
              <a:uFillTx/>
              <a:latin typeface="Arial"/>
            </a:endParaRPr>
          </a:p>
          <a:p>
            <a:pPr defTabSz="457200">
              <a:lnSpc>
                <a:spcPct val="100000"/>
              </a:lnSpc>
              <a:spcAft>
                <a:spcPts val="799"/>
              </a:spcAft>
            </a:pPr>
            <a:r>
              <a:rPr b="0" lang="en-US" sz="2100" strike="noStrike" u="none">
                <a:solidFill>
                  <a:srgbClr val="465264"/>
                </a:solidFill>
                <a:effectLst/>
                <a:uFillTx/>
                <a:latin typeface="Calibri"/>
              </a:rPr>
              <a:t>• Wartbarkeit</a:t>
            </a:r>
            <a:endParaRPr b="0" lang="en-US" sz="2100" strike="noStrike" u="none">
              <a:solidFill>
                <a:srgbClr val="000000"/>
              </a:solidFill>
              <a:effectLst/>
              <a:uFillTx/>
              <a:latin typeface="Arial"/>
            </a:endParaRPr>
          </a:p>
        </p:txBody>
      </p:sp>
      <p:sp>
        <p:nvSpPr>
          <p:cNvPr id="153" name="TextBox 5"/>
          <p:cNvSpPr/>
          <p:nvPr/>
        </p:nvSpPr>
        <p:spPr>
          <a:xfrm>
            <a:off x="914400" y="5029200"/>
            <a:ext cx="10240920" cy="502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800" strike="noStrike" u="none">
                <a:solidFill>
                  <a:srgbClr val="16263f"/>
                </a:solidFill>
                <a:effectLst/>
                <a:uFillTx/>
                <a:latin typeface="Calibri"/>
              </a:rPr>
              <a:t>Leitfrage: Wer erledigt welche Arbeit – und warum?</a:t>
            </a:r>
            <a:endParaRPr b="0" lang="en-US" sz="1800" strike="noStrike" u="none">
              <a:solidFill>
                <a:srgbClr val="000000"/>
              </a:solidFill>
              <a:effectLst/>
              <a:uFillTx/>
              <a:latin typeface="Arial"/>
            </a:endParaRPr>
          </a:p>
        </p:txBody>
      </p:sp>
      <p:sp>
        <p:nvSpPr>
          <p:cNvPr id="154" name="TextBox 6"/>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155" name="TextBox 7"/>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8</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56"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KOMMUNIKATION</a:t>
            </a:r>
            <a:endParaRPr b="0" lang="en-US" sz="900" strike="noStrike" u="none">
              <a:solidFill>
                <a:srgbClr val="000000"/>
              </a:solidFill>
              <a:effectLst/>
              <a:uFillTx/>
              <a:latin typeface="Arial"/>
            </a:endParaRPr>
          </a:p>
        </p:txBody>
      </p:sp>
      <p:sp>
        <p:nvSpPr>
          <p:cNvPr id="157"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HTTP: Request und Response</a:t>
            </a:r>
            <a:endParaRPr b="0" lang="en-US" sz="2700" strike="noStrike" u="none">
              <a:solidFill>
                <a:srgbClr val="000000"/>
              </a:solidFill>
              <a:effectLst/>
              <a:uFillTx/>
              <a:latin typeface="Arial"/>
            </a:endParaRPr>
          </a:p>
        </p:txBody>
      </p:sp>
      <p:sp>
        <p:nvSpPr>
          <p:cNvPr id="158"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59" name="Rounded Rectangle 4"/>
          <p:cNvSpPr/>
          <p:nvPr/>
        </p:nvSpPr>
        <p:spPr>
          <a:xfrm>
            <a:off x="914400" y="2103120"/>
            <a:ext cx="3017160" cy="164556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60" name="Rectangle 5"/>
          <p:cNvSpPr/>
          <p:nvPr/>
        </p:nvSpPr>
        <p:spPr>
          <a:xfrm>
            <a:off x="914400" y="2103120"/>
            <a:ext cx="63720" cy="164556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61" name="TextBox 6"/>
          <p:cNvSpPr/>
          <p:nvPr/>
        </p:nvSpPr>
        <p:spPr>
          <a:xfrm>
            <a:off x="1115640" y="2240280"/>
            <a:ext cx="265140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Client</a:t>
            </a:r>
            <a:endParaRPr b="0" lang="en-US" sz="1500" strike="noStrike" u="none">
              <a:solidFill>
                <a:srgbClr val="000000"/>
              </a:solidFill>
              <a:effectLst/>
              <a:uFillTx/>
              <a:latin typeface="Arial"/>
            </a:endParaRPr>
          </a:p>
        </p:txBody>
      </p:sp>
      <p:sp>
        <p:nvSpPr>
          <p:cNvPr id="162" name="TextBox 7"/>
          <p:cNvSpPr/>
          <p:nvPr/>
        </p:nvSpPr>
        <p:spPr>
          <a:xfrm>
            <a:off x="1115640" y="2697480"/>
            <a:ext cx="2651400" cy="932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Request / Anfrage</a:t>
            </a:r>
            <a:endParaRPr b="0" lang="en-US" sz="1300" strike="noStrike" u="none">
              <a:solidFill>
                <a:srgbClr val="000000"/>
              </a:solidFill>
              <a:effectLst/>
              <a:uFillTx/>
              <a:latin typeface="Arial"/>
            </a:endParaRPr>
          </a:p>
        </p:txBody>
      </p:sp>
      <p:sp>
        <p:nvSpPr>
          <p:cNvPr id="163" name="Rounded Rectangle 8"/>
          <p:cNvSpPr/>
          <p:nvPr/>
        </p:nvSpPr>
        <p:spPr>
          <a:xfrm>
            <a:off x="8229600" y="2103120"/>
            <a:ext cx="3017160" cy="164556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64" name="Rectangle 9"/>
          <p:cNvSpPr/>
          <p:nvPr/>
        </p:nvSpPr>
        <p:spPr>
          <a:xfrm>
            <a:off x="8229600" y="2103120"/>
            <a:ext cx="63720" cy="164556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65" name="TextBox 10"/>
          <p:cNvSpPr/>
          <p:nvPr/>
        </p:nvSpPr>
        <p:spPr>
          <a:xfrm>
            <a:off x="8430840" y="2240280"/>
            <a:ext cx="265140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Server / API</a:t>
            </a:r>
            <a:endParaRPr b="0" lang="en-US" sz="1500" strike="noStrike" u="none">
              <a:solidFill>
                <a:srgbClr val="000000"/>
              </a:solidFill>
              <a:effectLst/>
              <a:uFillTx/>
              <a:latin typeface="Arial"/>
            </a:endParaRPr>
          </a:p>
        </p:txBody>
      </p:sp>
      <p:sp>
        <p:nvSpPr>
          <p:cNvPr id="166" name="TextBox 11"/>
          <p:cNvSpPr/>
          <p:nvPr/>
        </p:nvSpPr>
        <p:spPr>
          <a:xfrm>
            <a:off x="8430840" y="2697480"/>
            <a:ext cx="2651400" cy="932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Response / Antwort</a:t>
            </a:r>
            <a:endParaRPr b="0" lang="en-US" sz="1300" strike="noStrike" u="none">
              <a:solidFill>
                <a:srgbClr val="000000"/>
              </a:solidFill>
              <a:effectLst/>
              <a:uFillTx/>
              <a:latin typeface="Arial"/>
            </a:endParaRPr>
          </a:p>
        </p:txBody>
      </p:sp>
      <p:sp>
        <p:nvSpPr>
          <p:cNvPr id="167" name="TextBox 12"/>
          <p:cNvSpPr/>
          <p:nvPr/>
        </p:nvSpPr>
        <p:spPr>
          <a:xfrm>
            <a:off x="4114800" y="2514600"/>
            <a:ext cx="3840120" cy="411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800" strike="noStrike" u="none">
                <a:solidFill>
                  <a:srgbClr val="16263f"/>
                </a:solidFill>
                <a:effectLst/>
                <a:uFillTx/>
                <a:latin typeface="Calibri"/>
              </a:rPr>
              <a:t>HTTP / HTTPS  →</a:t>
            </a:r>
            <a:endParaRPr b="0" lang="en-US" sz="1800" strike="noStrike" u="none">
              <a:solidFill>
                <a:srgbClr val="000000"/>
              </a:solidFill>
              <a:effectLst/>
              <a:uFillTx/>
              <a:latin typeface="Arial"/>
            </a:endParaRPr>
          </a:p>
        </p:txBody>
      </p:sp>
      <p:sp>
        <p:nvSpPr>
          <p:cNvPr id="168" name="TextBox 13"/>
          <p:cNvSpPr/>
          <p:nvPr/>
        </p:nvSpPr>
        <p:spPr>
          <a:xfrm>
            <a:off x="4114800" y="3154680"/>
            <a:ext cx="3840120" cy="411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800" strike="noStrike" u="none">
                <a:solidFill>
                  <a:srgbClr val="16263f"/>
                </a:solidFill>
                <a:effectLst/>
                <a:uFillTx/>
                <a:latin typeface="Calibri"/>
              </a:rPr>
              <a:t>←  Antwort</a:t>
            </a:r>
            <a:endParaRPr b="0" lang="en-US" sz="1800" strike="noStrike" u="none">
              <a:solidFill>
                <a:srgbClr val="000000"/>
              </a:solidFill>
              <a:effectLst/>
              <a:uFillTx/>
              <a:latin typeface="Arial"/>
            </a:endParaRPr>
          </a:p>
        </p:txBody>
      </p:sp>
      <p:sp>
        <p:nvSpPr>
          <p:cNvPr id="169" name="TextBox 14"/>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170" name="TextBox 15"/>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9</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71"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KOMMUNIKATION</a:t>
            </a:r>
            <a:endParaRPr b="0" lang="en-US" sz="900" strike="noStrike" u="none">
              <a:solidFill>
                <a:srgbClr val="000000"/>
              </a:solidFill>
              <a:effectLst/>
              <a:uFillTx/>
              <a:latin typeface="Arial"/>
            </a:endParaRPr>
          </a:p>
        </p:txBody>
      </p:sp>
      <p:sp>
        <p:nvSpPr>
          <p:cNvPr id="172"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Das Problem: Der Server weiß etwas Neues</a:t>
            </a:r>
            <a:endParaRPr b="0" lang="en-US" sz="2700" strike="noStrike" u="none">
              <a:solidFill>
                <a:srgbClr val="000000"/>
              </a:solidFill>
              <a:effectLst/>
              <a:uFillTx/>
              <a:latin typeface="Arial"/>
            </a:endParaRPr>
          </a:p>
        </p:txBody>
      </p:sp>
      <p:sp>
        <p:nvSpPr>
          <p:cNvPr id="173"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74" name="TextBox 4"/>
          <p:cNvSpPr/>
          <p:nvPr/>
        </p:nvSpPr>
        <p:spPr>
          <a:xfrm>
            <a:off x="914400" y="1828800"/>
            <a:ext cx="10240920" cy="5940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300" strike="noStrike" u="none">
                <a:solidFill>
                  <a:srgbClr val="16263f"/>
                </a:solidFill>
                <a:effectLst/>
                <a:uFillTx/>
                <a:latin typeface="Calibri"/>
              </a:rPr>
              <a:t>Workshop 12 zieht von Raum 105 nach Raum 204.</a:t>
            </a:r>
            <a:endParaRPr b="0" lang="en-US" sz="2300" strike="noStrike" u="none">
              <a:solidFill>
                <a:srgbClr val="000000"/>
              </a:solidFill>
              <a:effectLst/>
              <a:uFillTx/>
              <a:latin typeface="Arial"/>
            </a:endParaRPr>
          </a:p>
        </p:txBody>
      </p:sp>
      <p:sp>
        <p:nvSpPr>
          <p:cNvPr id="175" name="Rounded Rectangle 5"/>
          <p:cNvSpPr/>
          <p:nvPr/>
        </p:nvSpPr>
        <p:spPr>
          <a:xfrm>
            <a:off x="1280160" y="2971800"/>
            <a:ext cx="3748680" cy="164556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76" name="Rectangle 6"/>
          <p:cNvSpPr/>
          <p:nvPr/>
        </p:nvSpPr>
        <p:spPr>
          <a:xfrm>
            <a:off x="1280160" y="2971800"/>
            <a:ext cx="63720" cy="164556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77" name="TextBox 7"/>
          <p:cNvSpPr/>
          <p:nvPr/>
        </p:nvSpPr>
        <p:spPr>
          <a:xfrm>
            <a:off x="1481400" y="3108960"/>
            <a:ext cx="338292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Server</a:t>
            </a:r>
            <a:endParaRPr b="0" lang="en-US" sz="1500" strike="noStrike" u="none">
              <a:solidFill>
                <a:srgbClr val="000000"/>
              </a:solidFill>
              <a:effectLst/>
              <a:uFillTx/>
              <a:latin typeface="Arial"/>
            </a:endParaRPr>
          </a:p>
        </p:txBody>
      </p:sp>
      <p:sp>
        <p:nvSpPr>
          <p:cNvPr id="178" name="TextBox 8"/>
          <p:cNvSpPr/>
          <p:nvPr/>
        </p:nvSpPr>
        <p:spPr>
          <a:xfrm>
            <a:off x="1481400" y="3566160"/>
            <a:ext cx="3382920" cy="932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kennt die Änderung:</a:t>
            </a:r>
            <a:br>
              <a:rPr sz="1300"/>
            </a:br>
            <a:r>
              <a:rPr b="0" lang="en-US" sz="1300" strike="noStrike" u="none">
                <a:solidFill>
                  <a:srgbClr val="465264"/>
                </a:solidFill>
                <a:effectLst/>
                <a:uFillTx/>
                <a:latin typeface="Calibri"/>
              </a:rPr>
              <a:t>Raum 204</a:t>
            </a:r>
            <a:endParaRPr b="0" lang="en-US" sz="1300" strike="noStrike" u="none">
              <a:solidFill>
                <a:srgbClr val="000000"/>
              </a:solidFill>
              <a:effectLst/>
              <a:uFillTx/>
              <a:latin typeface="Arial"/>
            </a:endParaRPr>
          </a:p>
        </p:txBody>
      </p:sp>
      <p:sp>
        <p:nvSpPr>
          <p:cNvPr id="179" name="Rounded Rectangle 9"/>
          <p:cNvSpPr/>
          <p:nvPr/>
        </p:nvSpPr>
        <p:spPr>
          <a:xfrm>
            <a:off x="7132320" y="2971800"/>
            <a:ext cx="3748680" cy="164556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80" name="Rectangle 10"/>
          <p:cNvSpPr/>
          <p:nvPr/>
        </p:nvSpPr>
        <p:spPr>
          <a:xfrm>
            <a:off x="7132320" y="2971800"/>
            <a:ext cx="63720" cy="1645560"/>
          </a:xfrm>
          <a:prstGeom prst="rect">
            <a:avLst/>
          </a:prstGeom>
          <a:solidFill>
            <a:srgbClr val="be641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81" name="TextBox 11"/>
          <p:cNvSpPr/>
          <p:nvPr/>
        </p:nvSpPr>
        <p:spPr>
          <a:xfrm>
            <a:off x="7333560" y="3108960"/>
            <a:ext cx="338292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Browser</a:t>
            </a:r>
            <a:endParaRPr b="0" lang="en-US" sz="1500" strike="noStrike" u="none">
              <a:solidFill>
                <a:srgbClr val="000000"/>
              </a:solidFill>
              <a:effectLst/>
              <a:uFillTx/>
              <a:latin typeface="Arial"/>
            </a:endParaRPr>
          </a:p>
        </p:txBody>
      </p:sp>
      <p:sp>
        <p:nvSpPr>
          <p:cNvPr id="182" name="TextBox 12"/>
          <p:cNvSpPr/>
          <p:nvPr/>
        </p:nvSpPr>
        <p:spPr>
          <a:xfrm>
            <a:off x="7333560" y="3566160"/>
            <a:ext cx="3382920" cy="932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zeigt noch:</a:t>
            </a:r>
            <a:br>
              <a:rPr sz="1300"/>
            </a:br>
            <a:r>
              <a:rPr b="0" lang="en-US" sz="1300" strike="noStrike" u="none">
                <a:solidFill>
                  <a:srgbClr val="465264"/>
                </a:solidFill>
                <a:effectLst/>
                <a:uFillTx/>
                <a:latin typeface="Calibri"/>
              </a:rPr>
              <a:t>Raum 105</a:t>
            </a:r>
            <a:endParaRPr b="0" lang="en-US" sz="1300" strike="noStrike" u="none">
              <a:solidFill>
                <a:srgbClr val="000000"/>
              </a:solidFill>
              <a:effectLst/>
              <a:uFillTx/>
              <a:latin typeface="Arial"/>
            </a:endParaRPr>
          </a:p>
        </p:txBody>
      </p:sp>
      <p:sp>
        <p:nvSpPr>
          <p:cNvPr id="183" name="TextBox 13"/>
          <p:cNvSpPr/>
          <p:nvPr/>
        </p:nvSpPr>
        <p:spPr>
          <a:xfrm>
            <a:off x="914400" y="5074920"/>
            <a:ext cx="10240920" cy="548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900" strike="noStrike" u="none">
                <a:solidFill>
                  <a:srgbClr val="0891b2"/>
                </a:solidFill>
                <a:effectLst/>
                <a:uFillTx/>
                <a:latin typeface="Calibri"/>
              </a:rPr>
              <a:t>Wie erfährt der Browser von der Änderung?</a:t>
            </a:r>
            <a:endParaRPr b="0" lang="en-US" sz="1900" strike="noStrike" u="none">
              <a:solidFill>
                <a:srgbClr val="000000"/>
              </a:solidFill>
              <a:effectLst/>
              <a:uFillTx/>
              <a:latin typeface="Arial"/>
            </a:endParaRPr>
          </a:p>
        </p:txBody>
      </p:sp>
      <p:sp>
        <p:nvSpPr>
          <p:cNvPr id="184" name="TextBox 14"/>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10</a:t>
            </a:r>
            <a:endParaRPr b="0" lang="en-US" sz="800" strike="noStrike" u="none">
              <a:solidFill>
                <a:srgbClr val="000000"/>
              </a:solidFill>
              <a:effectLst/>
              <a:uFillTx/>
              <a:latin typeface="Arial"/>
            </a:endParaRPr>
          </a:p>
        </p:txBody>
      </p:sp>
      <p:sp>
        <p:nvSpPr>
          <p:cNvPr id="185" name="TextBox 15"/>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86"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KOMMUNIKATION</a:t>
            </a:r>
            <a:endParaRPr b="0" lang="en-US" sz="900" strike="noStrike" u="none">
              <a:solidFill>
                <a:srgbClr val="000000"/>
              </a:solidFill>
              <a:effectLst/>
              <a:uFillTx/>
              <a:latin typeface="Arial"/>
            </a:endParaRPr>
          </a:p>
        </p:txBody>
      </p:sp>
      <p:sp>
        <p:nvSpPr>
          <p:cNvPr id="187"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Polling: immer wieder mit HTTP nachfragen</a:t>
            </a:r>
            <a:endParaRPr b="0" lang="en-US" sz="2700" strike="noStrike" u="none">
              <a:solidFill>
                <a:srgbClr val="000000"/>
              </a:solidFill>
              <a:effectLst/>
              <a:uFillTx/>
              <a:latin typeface="Arial"/>
            </a:endParaRPr>
          </a:p>
        </p:txBody>
      </p:sp>
      <p:sp>
        <p:nvSpPr>
          <p:cNvPr id="188"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89" name="TextBox 4"/>
          <p:cNvSpPr/>
          <p:nvPr/>
        </p:nvSpPr>
        <p:spPr>
          <a:xfrm>
            <a:off x="914400" y="1600200"/>
            <a:ext cx="10240920" cy="502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100" strike="noStrike" u="none">
                <a:solidFill>
                  <a:srgbClr val="16263f"/>
                </a:solidFill>
                <a:effectLst/>
                <a:uFillTx/>
                <a:latin typeface="Calibri"/>
              </a:rPr>
              <a:t>Polling = regelmäßiges Nachfragen</a:t>
            </a:r>
            <a:endParaRPr b="0" lang="en-US" sz="2100" strike="noStrike" u="none">
              <a:solidFill>
                <a:srgbClr val="000000"/>
              </a:solidFill>
              <a:effectLst/>
              <a:uFillTx/>
              <a:latin typeface="Arial"/>
            </a:endParaRPr>
          </a:p>
        </p:txBody>
      </p:sp>
      <p:sp>
        <p:nvSpPr>
          <p:cNvPr id="190" name="Rounded Rectangle 5"/>
          <p:cNvSpPr/>
          <p:nvPr/>
        </p:nvSpPr>
        <p:spPr>
          <a:xfrm>
            <a:off x="914400" y="2423160"/>
            <a:ext cx="3657240" cy="255996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91" name="Rectangle 6"/>
          <p:cNvSpPr/>
          <p:nvPr/>
        </p:nvSpPr>
        <p:spPr>
          <a:xfrm>
            <a:off x="914400" y="2423160"/>
            <a:ext cx="63720" cy="255996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92" name="TextBox 7"/>
          <p:cNvSpPr/>
          <p:nvPr/>
        </p:nvSpPr>
        <p:spPr>
          <a:xfrm>
            <a:off x="1115640" y="2560320"/>
            <a:ext cx="32914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Browser</a:t>
            </a:r>
            <a:endParaRPr b="0" lang="en-US" sz="1500" strike="noStrike" u="none">
              <a:solidFill>
                <a:srgbClr val="000000"/>
              </a:solidFill>
              <a:effectLst/>
              <a:uFillTx/>
              <a:latin typeface="Arial"/>
            </a:endParaRPr>
          </a:p>
        </p:txBody>
      </p:sp>
      <p:sp>
        <p:nvSpPr>
          <p:cNvPr id="193" name="TextBox 8"/>
          <p:cNvSpPr/>
          <p:nvPr/>
        </p:nvSpPr>
        <p:spPr>
          <a:xfrm>
            <a:off x="1115640" y="3017520"/>
            <a:ext cx="3291480" cy="1846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„Etwas Neues?“</a:t>
            </a:r>
            <a:br>
              <a:rPr sz="1300"/>
            </a:br>
            <a:br>
              <a:rPr sz="1300"/>
            </a:br>
            <a:r>
              <a:rPr b="0" lang="en-US" sz="1300" strike="noStrike" u="none">
                <a:solidFill>
                  <a:srgbClr val="465264"/>
                </a:solidFill>
                <a:effectLst/>
                <a:uFillTx/>
                <a:latin typeface="Calibri"/>
              </a:rPr>
              <a:t>„Etwas Neues?“</a:t>
            </a:r>
            <a:br>
              <a:rPr sz="1300"/>
            </a:br>
            <a:br>
              <a:rPr sz="1300"/>
            </a:br>
            <a:r>
              <a:rPr b="0" lang="en-US" sz="1300" strike="noStrike" u="none">
                <a:solidFill>
                  <a:srgbClr val="465264"/>
                </a:solidFill>
                <a:effectLst/>
                <a:uFillTx/>
                <a:latin typeface="Calibri"/>
              </a:rPr>
              <a:t>„Etwas Neues?“</a:t>
            </a:r>
            <a:endParaRPr b="0" lang="en-US" sz="1300" strike="noStrike" u="none">
              <a:solidFill>
                <a:srgbClr val="000000"/>
              </a:solidFill>
              <a:effectLst/>
              <a:uFillTx/>
              <a:latin typeface="Arial"/>
            </a:endParaRPr>
          </a:p>
        </p:txBody>
      </p:sp>
      <p:sp>
        <p:nvSpPr>
          <p:cNvPr id="194" name="Rounded Rectangle 9"/>
          <p:cNvSpPr/>
          <p:nvPr/>
        </p:nvSpPr>
        <p:spPr>
          <a:xfrm>
            <a:off x="7589520" y="2423160"/>
            <a:ext cx="3657240" cy="255996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95" name="Rectangle 10"/>
          <p:cNvSpPr/>
          <p:nvPr/>
        </p:nvSpPr>
        <p:spPr>
          <a:xfrm>
            <a:off x="7589520" y="2423160"/>
            <a:ext cx="63720" cy="255996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96" name="TextBox 11"/>
          <p:cNvSpPr/>
          <p:nvPr/>
        </p:nvSpPr>
        <p:spPr>
          <a:xfrm>
            <a:off x="7790760" y="2560320"/>
            <a:ext cx="32914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Server</a:t>
            </a:r>
            <a:endParaRPr b="0" lang="en-US" sz="1500" strike="noStrike" u="none">
              <a:solidFill>
                <a:srgbClr val="000000"/>
              </a:solidFill>
              <a:effectLst/>
              <a:uFillTx/>
              <a:latin typeface="Arial"/>
            </a:endParaRPr>
          </a:p>
        </p:txBody>
      </p:sp>
      <p:sp>
        <p:nvSpPr>
          <p:cNvPr id="197" name="TextBox 12"/>
          <p:cNvSpPr/>
          <p:nvPr/>
        </p:nvSpPr>
        <p:spPr>
          <a:xfrm>
            <a:off x="7790760" y="3017520"/>
            <a:ext cx="3291480" cy="1846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„Nein.“</a:t>
            </a:r>
            <a:br>
              <a:rPr sz="1300"/>
            </a:br>
            <a:br>
              <a:rPr sz="1300"/>
            </a:br>
            <a:r>
              <a:rPr b="0" lang="en-US" sz="1300" strike="noStrike" u="none">
                <a:solidFill>
                  <a:srgbClr val="465264"/>
                </a:solidFill>
                <a:effectLst/>
                <a:uFillTx/>
                <a:latin typeface="Calibri"/>
              </a:rPr>
              <a:t>„Nein.“</a:t>
            </a:r>
            <a:br>
              <a:rPr sz="1300"/>
            </a:br>
            <a:br>
              <a:rPr sz="1300"/>
            </a:br>
            <a:r>
              <a:rPr b="0" lang="en-US" sz="1300" strike="noStrike" u="none">
                <a:solidFill>
                  <a:srgbClr val="465264"/>
                </a:solidFill>
                <a:effectLst/>
                <a:uFillTx/>
                <a:latin typeface="Calibri"/>
              </a:rPr>
              <a:t>„Ja: Raum 204.“</a:t>
            </a:r>
            <a:endParaRPr b="0" lang="en-US" sz="1300" strike="noStrike" u="none">
              <a:solidFill>
                <a:srgbClr val="000000"/>
              </a:solidFill>
              <a:effectLst/>
              <a:uFillTx/>
              <a:latin typeface="Arial"/>
            </a:endParaRPr>
          </a:p>
        </p:txBody>
      </p:sp>
      <p:sp>
        <p:nvSpPr>
          <p:cNvPr id="198" name="TextBox 13"/>
          <p:cNvSpPr/>
          <p:nvPr/>
        </p:nvSpPr>
        <p:spPr>
          <a:xfrm>
            <a:off x="4526280" y="2926080"/>
            <a:ext cx="3154680" cy="11430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defRPr sz="1500"/>
            </a:pPr>
            <a:r>
              <a:rPr b="1" lang="en-US" sz="1600" strike="noStrike" u="none">
                <a:solidFill>
                  <a:srgbClr val="be6414"/>
                </a:solidFill>
                <a:effectLst/>
                <a:uFillTx/>
                <a:latin typeface="Calibri"/>
              </a:rPr>
              <a:t>HTTP Request/Response  →  warten  →  HTTP Request/Response  →  …</a:t>
            </a:r>
            <a:endParaRPr b="0" lang="en-US" sz="1600" strike="noStrike" u="none">
              <a:solidFill>
                <a:srgbClr val="000000"/>
              </a:solidFill>
              <a:effectLst/>
              <a:uFillTx/>
              <a:latin typeface="Arial"/>
            </a:endParaRPr>
          </a:p>
        </p:txBody>
      </p:sp>
      <p:sp>
        <p:nvSpPr>
          <p:cNvPr id="199" name="TextBox 14"/>
          <p:cNvSpPr/>
          <p:nvPr/>
        </p:nvSpPr>
        <p:spPr>
          <a:xfrm>
            <a:off x="914400" y="5257800"/>
            <a:ext cx="10240920" cy="456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600" strike="noStrike" u="none">
                <a:solidFill>
                  <a:srgbClr val="b42828"/>
                </a:solidFill>
                <a:effectLst/>
                <a:uFillTx/>
                <a:latin typeface="Calibri"/>
              </a:rPr>
              <a:t>Nachteil: viele Anfragen, obwohl sich häufig nichts geändert hat.</a:t>
            </a:r>
            <a:endParaRPr b="0" lang="en-US" sz="1600" strike="noStrike" u="none">
              <a:solidFill>
                <a:srgbClr val="000000"/>
              </a:solidFill>
              <a:effectLst/>
              <a:uFillTx/>
              <a:latin typeface="Arial"/>
            </a:endParaRPr>
          </a:p>
        </p:txBody>
      </p:sp>
      <p:sp>
        <p:nvSpPr>
          <p:cNvPr id="200" name="TextBox 15"/>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11</a:t>
            </a:r>
            <a:endParaRPr b="0" lang="en-US" sz="800" strike="noStrike" u="none">
              <a:solidFill>
                <a:srgbClr val="000000"/>
              </a:solidFill>
              <a:effectLst/>
              <a:uFillTx/>
              <a:latin typeface="Arial"/>
            </a:endParaRPr>
          </a:p>
        </p:txBody>
      </p:sp>
      <p:sp>
        <p:nvSpPr>
          <p:cNvPr id="201" name="TextBox 16"/>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02"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KOMMUNIKATION</a:t>
            </a:r>
            <a:endParaRPr b="0" lang="en-US" sz="900" strike="noStrike" u="none">
              <a:solidFill>
                <a:srgbClr val="000000"/>
              </a:solidFill>
              <a:effectLst/>
              <a:uFillTx/>
              <a:latin typeface="Arial"/>
            </a:endParaRPr>
          </a:p>
        </p:txBody>
      </p:sp>
      <p:sp>
        <p:nvSpPr>
          <p:cNvPr id="203"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a:defRPr sz="2700" b="1">
                <a:solidFill>
                  <a:srgbClr val="16263F"/>
                </a:solidFill>
              </a:defRPr>
            </a:pPr>
            <a:r>
              <a:t>Server-Sent Events (SSE): Der Server meldet neue Ereignisse</a:t>
            </a:r>
          </a:p>
        </p:txBody>
      </p:sp>
      <p:sp>
        <p:nvSpPr>
          <p:cNvPr id="204"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05" name="TextBox 4"/>
          <p:cNvSpPr/>
          <p:nvPr/>
        </p:nvSpPr>
        <p:spPr>
          <a:xfrm>
            <a:off x="4160520" y="1600200"/>
            <a:ext cx="3840480" cy="502560"/>
          </a:xfrm>
          <a:prstGeom prst="rect">
            <a:avLst/>
          </a:prstGeom>
          <a:noFill/>
          <a:ln w="0">
            <a:noFill/>
          </a:ln>
        </p:spPr>
        <p:style>
          <a:lnRef idx="0"/>
          <a:fillRef idx="0"/>
          <a:effectRef idx="0"/>
          <a:fontRef idx="minor"/>
        </p:style>
        <p:txBody>
          <a:bodyPr lIns="90000" rIns="90000" tIns="45000" bIns="45000" anchor="t">
            <a:spAutoFit/>
          </a:bodyPr>
          <a:p>
            <a:pPr algn="ctr">
              <a:defRPr sz="1900" b="1">
                <a:solidFill>
                  <a:srgbClr val="16263F"/>
                </a:solidFill>
              </a:defRPr>
            </a:pPr>
            <a:r>
              <a:t>Server-Sent Events (SSE)</a:t>
            </a:r>
          </a:p>
        </p:txBody>
      </p:sp>
      <p:sp>
        <p:nvSpPr>
          <p:cNvPr id="206" name="Rounded Rectangle 5"/>
          <p:cNvSpPr/>
          <p:nvPr/>
        </p:nvSpPr>
        <p:spPr>
          <a:xfrm>
            <a:off x="914400" y="2423160"/>
            <a:ext cx="3657240" cy="201132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07" name="Rectangle 6"/>
          <p:cNvSpPr/>
          <p:nvPr/>
        </p:nvSpPr>
        <p:spPr>
          <a:xfrm>
            <a:off x="914400" y="2423160"/>
            <a:ext cx="63720" cy="201132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08" name="TextBox 7"/>
          <p:cNvSpPr/>
          <p:nvPr/>
        </p:nvSpPr>
        <p:spPr>
          <a:xfrm>
            <a:off x="1115640" y="2560320"/>
            <a:ext cx="32914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Browser</a:t>
            </a:r>
            <a:endParaRPr b="0" lang="en-US" sz="1500" strike="noStrike" u="none">
              <a:solidFill>
                <a:srgbClr val="000000"/>
              </a:solidFill>
              <a:effectLst/>
              <a:uFillTx/>
              <a:latin typeface="Arial"/>
            </a:endParaRPr>
          </a:p>
        </p:txBody>
      </p:sp>
      <p:sp>
        <p:nvSpPr>
          <p:cNvPr id="209" name="TextBox 8"/>
          <p:cNvSpPr/>
          <p:nvPr/>
        </p:nvSpPr>
        <p:spPr>
          <a:xfrm>
            <a:off x="1115640" y="3017520"/>
            <a:ext cx="3291480" cy="1298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öffnet eine länger</a:t>
            </a:r>
            <a:br>
              <a:rPr sz="1300"/>
            </a:br>
            <a:r>
              <a:rPr b="0" lang="en-US" sz="1300" strike="noStrike" u="none">
                <a:solidFill>
                  <a:srgbClr val="465264"/>
                </a:solidFill>
                <a:effectLst/>
                <a:uFillTx/>
                <a:latin typeface="Calibri"/>
              </a:rPr>
              <a:t>bestehende Verbindung</a:t>
            </a:r>
            <a:endParaRPr b="0" lang="en-US" sz="1300" strike="noStrike" u="none">
              <a:solidFill>
                <a:srgbClr val="000000"/>
              </a:solidFill>
              <a:effectLst/>
              <a:uFillTx/>
              <a:latin typeface="Arial"/>
            </a:endParaRPr>
          </a:p>
        </p:txBody>
      </p:sp>
      <p:sp>
        <p:nvSpPr>
          <p:cNvPr id="210" name="Rounded Rectangle 9"/>
          <p:cNvSpPr/>
          <p:nvPr/>
        </p:nvSpPr>
        <p:spPr>
          <a:xfrm>
            <a:off x="7589520" y="2423160"/>
            <a:ext cx="3657240" cy="201132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11" name="Rectangle 10"/>
          <p:cNvSpPr/>
          <p:nvPr/>
        </p:nvSpPr>
        <p:spPr>
          <a:xfrm>
            <a:off x="7589520" y="2423160"/>
            <a:ext cx="63720" cy="201132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12" name="TextBox 11"/>
          <p:cNvSpPr/>
          <p:nvPr/>
        </p:nvSpPr>
        <p:spPr>
          <a:xfrm>
            <a:off x="7790760" y="2560320"/>
            <a:ext cx="32914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Server</a:t>
            </a:r>
            <a:endParaRPr b="0" lang="en-US" sz="1500" strike="noStrike" u="none">
              <a:solidFill>
                <a:srgbClr val="000000"/>
              </a:solidFill>
              <a:effectLst/>
              <a:uFillTx/>
              <a:latin typeface="Arial"/>
            </a:endParaRPr>
          </a:p>
        </p:txBody>
      </p:sp>
      <p:sp>
        <p:nvSpPr>
          <p:cNvPr id="213" name="TextBox 12"/>
          <p:cNvSpPr/>
          <p:nvPr/>
        </p:nvSpPr>
        <p:spPr>
          <a:xfrm>
            <a:off x="7790760" y="3017520"/>
            <a:ext cx="3291480" cy="1298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sendet bei Bedarf:</a:t>
            </a:r>
            <a:br>
              <a:rPr sz="1300"/>
            </a:br>
            <a:r>
              <a:rPr b="0" lang="en-US" sz="1300" strike="noStrike" u="none">
                <a:solidFill>
                  <a:srgbClr val="465264"/>
                </a:solidFill>
                <a:effectLst/>
                <a:uFillTx/>
                <a:latin typeface="Calibri"/>
              </a:rPr>
              <a:t>„Raum jetzt 204“</a:t>
            </a:r>
            <a:br>
              <a:rPr sz="1300"/>
            </a:br>
            <a:r>
              <a:rPr b="0" lang="en-US" sz="1300" strike="noStrike" u="none">
                <a:solidFill>
                  <a:srgbClr val="465264"/>
                </a:solidFill>
                <a:effectLst/>
                <a:uFillTx/>
                <a:latin typeface="Calibri"/>
              </a:rPr>
              <a:t>„Workshop voll“</a:t>
            </a:r>
            <a:endParaRPr b="0" lang="en-US" sz="1300" strike="noStrike" u="none">
              <a:solidFill>
                <a:srgbClr val="000000"/>
              </a:solidFill>
              <a:effectLst/>
              <a:uFillTx/>
              <a:latin typeface="Arial"/>
            </a:endParaRPr>
          </a:p>
        </p:txBody>
      </p:sp>
      <p:sp>
        <p:nvSpPr>
          <p:cNvPr id="214" name="TextBox 13"/>
          <p:cNvSpPr/>
          <p:nvPr/>
        </p:nvSpPr>
        <p:spPr>
          <a:xfrm>
            <a:off x="4709160" y="2999232"/>
            <a:ext cx="2743200" cy="6400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defRPr sz="1400"/>
            </a:pPr>
            <a:r>
              <a:rPr b="1" lang="en-US" sz="1600" strike="noStrike" u="none">
                <a:solidFill>
                  <a:srgbClr val="16263f"/>
                </a:solidFill>
                <a:effectLst/>
                <a:uFillTx/>
                <a:latin typeface="Calibri"/>
              </a:rPr>
              <a:t>Verbindung bleibt offen  ◄────────────────</a:t>
            </a:r>
            <a:endParaRPr b="0" lang="en-US" sz="1600" strike="noStrike" u="none">
              <a:solidFill>
                <a:srgbClr val="000000"/>
              </a:solidFill>
              <a:effectLst/>
              <a:uFillTx/>
              <a:latin typeface="Arial"/>
            </a:endParaRPr>
          </a:p>
        </p:txBody>
      </p:sp>
      <p:sp>
        <p:nvSpPr>
          <p:cNvPr id="215" name="TextBox 14"/>
          <p:cNvSpPr/>
          <p:nvPr/>
        </p:nvSpPr>
        <p:spPr>
          <a:xfrm>
            <a:off x="914400" y="4983480"/>
            <a:ext cx="10240920" cy="502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800" strike="noStrike" u="none">
                <a:solidFill>
                  <a:srgbClr val="be6414"/>
                </a:solidFill>
                <a:effectLst/>
                <a:uFillTx/>
                <a:latin typeface="Calibri"/>
              </a:rPr>
              <a:t>Neue Informationen hauptsächlich: Server → Client</a:t>
            </a:r>
            <a:endParaRPr b="0" lang="en-US" sz="1800" strike="noStrike" u="none">
              <a:solidFill>
                <a:srgbClr val="000000"/>
              </a:solidFill>
              <a:effectLst/>
              <a:uFillTx/>
              <a:latin typeface="Arial"/>
            </a:endParaRPr>
          </a:p>
        </p:txBody>
      </p:sp>
      <p:sp>
        <p:nvSpPr>
          <p:cNvPr id="216" name="TextBox 15"/>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12</a:t>
            </a:r>
            <a:endParaRPr b="0" lang="en-US" sz="800" strike="noStrike" u="none">
              <a:solidFill>
                <a:srgbClr val="000000"/>
              </a:solidFill>
              <a:effectLst/>
              <a:uFillTx/>
              <a:latin typeface="Arial"/>
            </a:endParaRPr>
          </a:p>
        </p:txBody>
      </p:sp>
      <p:sp>
        <p:nvSpPr>
          <p:cNvPr id="217" name="TextBox 16"/>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18"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KOMMUNIKATION</a:t>
            </a:r>
            <a:endParaRPr b="0" lang="en-US" sz="900" strike="noStrike" u="none">
              <a:solidFill>
                <a:srgbClr val="000000"/>
              </a:solidFill>
              <a:effectLst/>
              <a:uFillTx/>
              <a:latin typeface="Arial"/>
            </a:endParaRPr>
          </a:p>
        </p:txBody>
      </p:sp>
      <p:sp>
        <p:nvSpPr>
          <p:cNvPr id="219"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WebSocket: beide Seiten können Nachrichten senden</a:t>
            </a:r>
            <a:endParaRPr b="0" lang="en-US" sz="2700" strike="noStrike" u="none">
              <a:solidFill>
                <a:srgbClr val="000000"/>
              </a:solidFill>
              <a:effectLst/>
              <a:uFillTx/>
              <a:latin typeface="Arial"/>
            </a:endParaRPr>
          </a:p>
        </p:txBody>
      </p:sp>
      <p:sp>
        <p:nvSpPr>
          <p:cNvPr id="220"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21" name="TextBox 4"/>
          <p:cNvSpPr/>
          <p:nvPr/>
        </p:nvSpPr>
        <p:spPr>
          <a:xfrm>
            <a:off x="914400" y="1600200"/>
            <a:ext cx="10240920" cy="502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100" strike="noStrike" u="none">
                <a:solidFill>
                  <a:srgbClr val="16263f"/>
                </a:solidFill>
                <a:effectLst/>
                <a:uFillTx/>
                <a:latin typeface="Calibri"/>
              </a:rPr>
              <a:t>WebSocket = dauerhafte, bidirektionale Verbindung</a:t>
            </a:r>
            <a:endParaRPr b="0" lang="en-US" sz="2100" strike="noStrike" u="none">
              <a:solidFill>
                <a:srgbClr val="000000"/>
              </a:solidFill>
              <a:effectLst/>
              <a:uFillTx/>
              <a:latin typeface="Arial"/>
            </a:endParaRPr>
          </a:p>
        </p:txBody>
      </p:sp>
      <p:sp>
        <p:nvSpPr>
          <p:cNvPr id="222" name="Rounded Rectangle 5"/>
          <p:cNvSpPr/>
          <p:nvPr/>
        </p:nvSpPr>
        <p:spPr>
          <a:xfrm>
            <a:off x="914400" y="2468880"/>
            <a:ext cx="3657240" cy="191988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23" name="Rectangle 6"/>
          <p:cNvSpPr/>
          <p:nvPr/>
        </p:nvSpPr>
        <p:spPr>
          <a:xfrm>
            <a:off x="914400" y="2468880"/>
            <a:ext cx="63720" cy="19198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24" name="TextBox 7"/>
          <p:cNvSpPr/>
          <p:nvPr/>
        </p:nvSpPr>
        <p:spPr>
          <a:xfrm>
            <a:off x="1115640" y="2606040"/>
            <a:ext cx="32914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Browser</a:t>
            </a:r>
            <a:endParaRPr b="0" lang="en-US" sz="1500" strike="noStrike" u="none">
              <a:solidFill>
                <a:srgbClr val="000000"/>
              </a:solidFill>
              <a:effectLst/>
              <a:uFillTx/>
              <a:latin typeface="Arial"/>
            </a:endParaRPr>
          </a:p>
        </p:txBody>
      </p:sp>
      <p:sp>
        <p:nvSpPr>
          <p:cNvPr id="225" name="TextBox 8"/>
          <p:cNvSpPr/>
          <p:nvPr/>
        </p:nvSpPr>
        <p:spPr>
          <a:xfrm>
            <a:off x="1115640" y="3063240"/>
            <a:ext cx="3291480" cy="1206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kann jederzeit</a:t>
            </a:r>
            <a:br>
              <a:rPr sz="1300"/>
            </a:br>
            <a:r>
              <a:rPr b="0" lang="en-US" sz="1300" strike="noStrike" u="none">
                <a:solidFill>
                  <a:srgbClr val="465264"/>
                </a:solidFill>
                <a:effectLst/>
                <a:uFillTx/>
                <a:latin typeface="Calibri"/>
              </a:rPr>
              <a:t>Nachrichten senden</a:t>
            </a:r>
            <a:endParaRPr b="0" lang="en-US" sz="1300" strike="noStrike" u="none">
              <a:solidFill>
                <a:srgbClr val="000000"/>
              </a:solidFill>
              <a:effectLst/>
              <a:uFillTx/>
              <a:latin typeface="Arial"/>
            </a:endParaRPr>
          </a:p>
        </p:txBody>
      </p:sp>
      <p:sp>
        <p:nvSpPr>
          <p:cNvPr id="226" name="Rounded Rectangle 9"/>
          <p:cNvSpPr/>
          <p:nvPr/>
        </p:nvSpPr>
        <p:spPr>
          <a:xfrm>
            <a:off x="7589520" y="2468880"/>
            <a:ext cx="3657240" cy="191988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27" name="Rectangle 10"/>
          <p:cNvSpPr/>
          <p:nvPr/>
        </p:nvSpPr>
        <p:spPr>
          <a:xfrm>
            <a:off x="7589520" y="2468880"/>
            <a:ext cx="63720" cy="191988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28" name="TextBox 11"/>
          <p:cNvSpPr/>
          <p:nvPr/>
        </p:nvSpPr>
        <p:spPr>
          <a:xfrm>
            <a:off x="7790760" y="2606040"/>
            <a:ext cx="32914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Server</a:t>
            </a:r>
            <a:endParaRPr b="0" lang="en-US" sz="1500" strike="noStrike" u="none">
              <a:solidFill>
                <a:srgbClr val="000000"/>
              </a:solidFill>
              <a:effectLst/>
              <a:uFillTx/>
              <a:latin typeface="Arial"/>
            </a:endParaRPr>
          </a:p>
        </p:txBody>
      </p:sp>
      <p:sp>
        <p:nvSpPr>
          <p:cNvPr id="229" name="TextBox 12"/>
          <p:cNvSpPr/>
          <p:nvPr/>
        </p:nvSpPr>
        <p:spPr>
          <a:xfrm>
            <a:off x="7790760" y="3063240"/>
            <a:ext cx="3291480" cy="1206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kann jederzeit</a:t>
            </a:r>
            <a:br>
              <a:rPr sz="1300"/>
            </a:br>
            <a:r>
              <a:rPr b="0" lang="en-US" sz="1300" strike="noStrike" u="none">
                <a:solidFill>
                  <a:srgbClr val="465264"/>
                </a:solidFill>
                <a:effectLst/>
                <a:uFillTx/>
                <a:latin typeface="Calibri"/>
              </a:rPr>
              <a:t>Nachrichten senden</a:t>
            </a:r>
            <a:endParaRPr b="0" lang="en-US" sz="1300" strike="noStrike" u="none">
              <a:solidFill>
                <a:srgbClr val="000000"/>
              </a:solidFill>
              <a:effectLst/>
              <a:uFillTx/>
              <a:latin typeface="Arial"/>
            </a:endParaRPr>
          </a:p>
        </p:txBody>
      </p:sp>
      <p:sp>
        <p:nvSpPr>
          <p:cNvPr id="230" name="TextBox 13"/>
          <p:cNvSpPr/>
          <p:nvPr/>
        </p:nvSpPr>
        <p:spPr>
          <a:xfrm>
            <a:off x="4251960" y="2907792"/>
            <a:ext cx="3657600" cy="6858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defRPr sz="1500"/>
            </a:pPr>
            <a:r>
              <a:rPr b="1" lang="en-US" sz="1700" strike="noStrike" u="none">
                <a:solidFill>
                  <a:srgbClr val="1e7346"/>
                </a:solidFill>
                <a:effectLst/>
                <a:uFillTx/>
                <a:latin typeface="Calibri"/>
              </a:rPr>
              <a:t>══════════ WebSocket-Verbindung ══════════</a:t>
            </a:r>
            <a:endParaRPr b="0" lang="en-US" sz="1700" strike="noStrike" u="none">
              <a:solidFill>
                <a:srgbClr val="000000"/>
              </a:solidFill>
              <a:effectLst/>
              <a:uFillTx/>
              <a:latin typeface="Arial"/>
            </a:endParaRPr>
          </a:p>
        </p:txBody>
      </p:sp>
      <p:sp>
        <p:nvSpPr>
          <p:cNvPr id="231" name="TextBox 14"/>
          <p:cNvSpPr/>
          <p:nvPr/>
        </p:nvSpPr>
        <p:spPr>
          <a:xfrm>
            <a:off x="914400" y="4892040"/>
            <a:ext cx="10240920" cy="502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700" strike="noStrike" u="none">
                <a:solidFill>
                  <a:srgbClr val="16263f"/>
                </a:solidFill>
                <a:effectLst/>
                <a:uFillTx/>
                <a:latin typeface="Calibri"/>
              </a:rPr>
              <a:t>dauerhaft = bleibt bestehen   ·   bidirektional = beide Richtungen</a:t>
            </a:r>
            <a:endParaRPr b="0" lang="en-US" sz="1700" strike="noStrike" u="none">
              <a:solidFill>
                <a:srgbClr val="000000"/>
              </a:solidFill>
              <a:effectLst/>
              <a:uFillTx/>
              <a:latin typeface="Arial"/>
            </a:endParaRPr>
          </a:p>
        </p:txBody>
      </p:sp>
      <p:sp>
        <p:nvSpPr>
          <p:cNvPr id="232" name="TextBox 15"/>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13</a:t>
            </a:r>
            <a:endParaRPr b="0" lang="en-US" sz="800" strike="noStrike" u="none">
              <a:solidFill>
                <a:srgbClr val="000000"/>
              </a:solidFill>
              <a:effectLst/>
              <a:uFillTx/>
              <a:latin typeface="Arial"/>
            </a:endParaRPr>
          </a:p>
        </p:txBody>
      </p:sp>
      <p:sp>
        <p:nvSpPr>
          <p:cNvPr id="233" name="TextBox 16"/>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34"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KOMMUNIKATION</a:t>
            </a:r>
            <a:endParaRPr b="0" lang="en-US" sz="900" strike="noStrike" u="none">
              <a:solidFill>
                <a:srgbClr val="000000"/>
              </a:solidFill>
              <a:effectLst/>
              <a:uFillTx/>
              <a:latin typeface="Arial"/>
            </a:endParaRPr>
          </a:p>
        </p:txBody>
      </p:sp>
      <p:sp>
        <p:nvSpPr>
          <p:cNvPr id="235"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WebSocket und mehrere Backend-Instanzen</a:t>
            </a:r>
            <a:endParaRPr b="0" lang="en-US" sz="2700" strike="noStrike" u="none">
              <a:solidFill>
                <a:srgbClr val="000000"/>
              </a:solidFill>
              <a:effectLst/>
              <a:uFillTx/>
              <a:latin typeface="Arial"/>
            </a:endParaRPr>
          </a:p>
        </p:txBody>
      </p:sp>
      <p:sp>
        <p:nvSpPr>
          <p:cNvPr id="236"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37" name="Rounded Rectangle 4"/>
          <p:cNvSpPr/>
          <p:nvPr/>
        </p:nvSpPr>
        <p:spPr>
          <a:xfrm>
            <a:off x="640080" y="2331720"/>
            <a:ext cx="2102760" cy="13712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38" name="Rectangle 5"/>
          <p:cNvSpPr/>
          <p:nvPr/>
        </p:nvSpPr>
        <p:spPr>
          <a:xfrm>
            <a:off x="640080" y="2331720"/>
            <a:ext cx="63720" cy="137124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39" name="TextBox 6"/>
          <p:cNvSpPr/>
          <p:nvPr/>
        </p:nvSpPr>
        <p:spPr>
          <a:xfrm>
            <a:off x="841320" y="2468880"/>
            <a:ext cx="173700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Client</a:t>
            </a:r>
            <a:endParaRPr b="0" lang="en-US" sz="1500" strike="noStrike" u="none">
              <a:solidFill>
                <a:srgbClr val="000000"/>
              </a:solidFill>
              <a:effectLst/>
              <a:uFillTx/>
              <a:latin typeface="Arial"/>
            </a:endParaRPr>
          </a:p>
        </p:txBody>
      </p:sp>
      <p:sp>
        <p:nvSpPr>
          <p:cNvPr id="240" name="TextBox 7"/>
          <p:cNvSpPr/>
          <p:nvPr/>
        </p:nvSpPr>
        <p:spPr>
          <a:xfrm>
            <a:off x="841320" y="2926080"/>
            <a:ext cx="1737000" cy="658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WebSocket</a:t>
            </a:r>
            <a:endParaRPr b="0" lang="en-US" sz="1300" strike="noStrike" u="none">
              <a:solidFill>
                <a:srgbClr val="000000"/>
              </a:solidFill>
              <a:effectLst/>
              <a:uFillTx/>
              <a:latin typeface="Arial"/>
            </a:endParaRPr>
          </a:p>
        </p:txBody>
      </p:sp>
      <p:sp>
        <p:nvSpPr>
          <p:cNvPr id="241" name="Rounded Rectangle 8"/>
          <p:cNvSpPr/>
          <p:nvPr/>
        </p:nvSpPr>
        <p:spPr>
          <a:xfrm>
            <a:off x="3657600" y="2057400"/>
            <a:ext cx="3108600" cy="191988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42" name="Rectangle 9"/>
          <p:cNvSpPr/>
          <p:nvPr/>
        </p:nvSpPr>
        <p:spPr>
          <a:xfrm>
            <a:off x="3657600" y="2057400"/>
            <a:ext cx="63720" cy="1919880"/>
          </a:xfrm>
          <a:prstGeom prst="rect">
            <a:avLst/>
          </a:prstGeom>
          <a:solidFill>
            <a:srgbClr val="be641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43" name="TextBox 10"/>
          <p:cNvSpPr/>
          <p:nvPr/>
        </p:nvSpPr>
        <p:spPr>
          <a:xfrm>
            <a:off x="3858840" y="2194560"/>
            <a:ext cx="274284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Loadbalancer</a:t>
            </a:r>
            <a:endParaRPr b="0" lang="en-US" sz="1500" strike="noStrike" u="none">
              <a:solidFill>
                <a:srgbClr val="000000"/>
              </a:solidFill>
              <a:effectLst/>
              <a:uFillTx/>
              <a:latin typeface="Arial"/>
            </a:endParaRPr>
          </a:p>
        </p:txBody>
      </p:sp>
      <p:sp>
        <p:nvSpPr>
          <p:cNvPr id="244" name="TextBox 11"/>
          <p:cNvSpPr/>
          <p:nvPr/>
        </p:nvSpPr>
        <p:spPr>
          <a:xfrm>
            <a:off x="3858840" y="2651760"/>
            <a:ext cx="2742840" cy="1206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Lastverteiler:</a:t>
            </a:r>
            <a:br>
              <a:rPr sz="1300"/>
            </a:br>
            <a:r>
              <a:rPr b="0" lang="en-US" sz="1300" strike="noStrike" u="none">
                <a:solidFill>
                  <a:srgbClr val="465264"/>
                </a:solidFill>
                <a:effectLst/>
                <a:uFillTx/>
                <a:latin typeface="Calibri"/>
              </a:rPr>
              <a:t>wählt beim Verbindungsaufbau</a:t>
            </a:r>
            <a:br>
              <a:rPr sz="1300"/>
            </a:br>
            <a:r>
              <a:rPr b="0" lang="en-US" sz="1300" strike="noStrike" u="none">
                <a:solidFill>
                  <a:srgbClr val="465264"/>
                </a:solidFill>
                <a:effectLst/>
                <a:uFillTx/>
                <a:latin typeface="Calibri"/>
              </a:rPr>
              <a:t>eine Backend-Instanz</a:t>
            </a:r>
            <a:endParaRPr b="0" lang="en-US" sz="1300" strike="noStrike" u="none">
              <a:solidFill>
                <a:srgbClr val="000000"/>
              </a:solidFill>
              <a:effectLst/>
              <a:uFillTx/>
              <a:latin typeface="Arial"/>
            </a:endParaRPr>
          </a:p>
        </p:txBody>
      </p:sp>
      <p:sp>
        <p:nvSpPr>
          <p:cNvPr id="245" name="Rounded Rectangle 12"/>
          <p:cNvSpPr/>
          <p:nvPr/>
        </p:nvSpPr>
        <p:spPr>
          <a:xfrm>
            <a:off x="7726680" y="1691640"/>
            <a:ext cx="2925720" cy="95976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46" name="Rectangle 13"/>
          <p:cNvSpPr/>
          <p:nvPr/>
        </p:nvSpPr>
        <p:spPr>
          <a:xfrm>
            <a:off x="7726680" y="1691640"/>
            <a:ext cx="63720" cy="95976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47" name="TextBox 14"/>
          <p:cNvSpPr/>
          <p:nvPr/>
        </p:nvSpPr>
        <p:spPr>
          <a:xfrm>
            <a:off x="7927920" y="1828800"/>
            <a:ext cx="25599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Backend 1</a:t>
            </a:r>
            <a:endParaRPr b="0" lang="en-US" sz="1500" strike="noStrike" u="none">
              <a:solidFill>
                <a:srgbClr val="000000"/>
              </a:solidFill>
              <a:effectLst/>
              <a:uFillTx/>
              <a:latin typeface="Arial"/>
            </a:endParaRPr>
          </a:p>
        </p:txBody>
      </p:sp>
      <p:sp>
        <p:nvSpPr>
          <p:cNvPr id="248" name="TextBox 15"/>
          <p:cNvSpPr/>
          <p:nvPr/>
        </p:nvSpPr>
        <p:spPr>
          <a:xfrm>
            <a:off x="7927920" y="2286000"/>
            <a:ext cx="2559960" cy="24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300" strike="noStrike" u="none">
              <a:solidFill>
                <a:srgbClr val="465264"/>
              </a:solidFill>
              <a:effectLst/>
              <a:uFillTx/>
              <a:latin typeface="Calibri"/>
            </a:endParaRPr>
          </a:p>
        </p:txBody>
      </p:sp>
      <p:sp>
        <p:nvSpPr>
          <p:cNvPr id="249" name="Rounded Rectangle 16"/>
          <p:cNvSpPr/>
          <p:nvPr/>
        </p:nvSpPr>
        <p:spPr>
          <a:xfrm>
            <a:off x="7726680" y="2880360"/>
            <a:ext cx="2925720" cy="95976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50" name="Rectangle 17"/>
          <p:cNvSpPr/>
          <p:nvPr/>
        </p:nvSpPr>
        <p:spPr>
          <a:xfrm>
            <a:off x="7726680" y="2880360"/>
            <a:ext cx="63720" cy="95976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51" name="TextBox 18"/>
          <p:cNvSpPr/>
          <p:nvPr/>
        </p:nvSpPr>
        <p:spPr>
          <a:xfrm>
            <a:off x="7927920" y="3017520"/>
            <a:ext cx="25599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Backend 2</a:t>
            </a:r>
            <a:endParaRPr b="0" lang="en-US" sz="1500" strike="noStrike" u="none">
              <a:solidFill>
                <a:srgbClr val="000000"/>
              </a:solidFill>
              <a:effectLst/>
              <a:uFillTx/>
              <a:latin typeface="Arial"/>
            </a:endParaRPr>
          </a:p>
        </p:txBody>
      </p:sp>
      <p:sp>
        <p:nvSpPr>
          <p:cNvPr id="252" name="TextBox 19"/>
          <p:cNvSpPr/>
          <p:nvPr/>
        </p:nvSpPr>
        <p:spPr>
          <a:xfrm>
            <a:off x="7927920" y="3474720"/>
            <a:ext cx="2559960" cy="24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 Verbindung bleibt hier</a:t>
            </a:r>
            <a:endParaRPr b="0" lang="en-US" sz="1300" strike="noStrike" u="none">
              <a:solidFill>
                <a:srgbClr val="000000"/>
              </a:solidFill>
              <a:effectLst/>
              <a:uFillTx/>
              <a:latin typeface="Arial"/>
            </a:endParaRPr>
          </a:p>
        </p:txBody>
      </p:sp>
      <p:sp>
        <p:nvSpPr>
          <p:cNvPr id="253" name="Rounded Rectangle 20"/>
          <p:cNvSpPr/>
          <p:nvPr/>
        </p:nvSpPr>
        <p:spPr>
          <a:xfrm>
            <a:off x="7726680" y="4069080"/>
            <a:ext cx="2925720" cy="95976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54" name="Rectangle 21"/>
          <p:cNvSpPr/>
          <p:nvPr/>
        </p:nvSpPr>
        <p:spPr>
          <a:xfrm>
            <a:off x="7726680" y="4069080"/>
            <a:ext cx="63720" cy="95976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55" name="TextBox 22"/>
          <p:cNvSpPr/>
          <p:nvPr/>
        </p:nvSpPr>
        <p:spPr>
          <a:xfrm>
            <a:off x="7927920" y="4206240"/>
            <a:ext cx="25599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Backend 3</a:t>
            </a:r>
            <a:endParaRPr b="0" lang="en-US" sz="1500" strike="noStrike" u="none">
              <a:solidFill>
                <a:srgbClr val="000000"/>
              </a:solidFill>
              <a:effectLst/>
              <a:uFillTx/>
              <a:latin typeface="Arial"/>
            </a:endParaRPr>
          </a:p>
        </p:txBody>
      </p:sp>
      <p:sp>
        <p:nvSpPr>
          <p:cNvPr id="256" name="TextBox 23"/>
          <p:cNvSpPr/>
          <p:nvPr/>
        </p:nvSpPr>
        <p:spPr>
          <a:xfrm>
            <a:off x="7927920" y="4663440"/>
            <a:ext cx="2559960" cy="24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300" strike="noStrike" u="none">
              <a:solidFill>
                <a:srgbClr val="465264"/>
              </a:solidFill>
              <a:effectLst/>
              <a:uFillTx/>
              <a:latin typeface="Calibri"/>
            </a:endParaRPr>
          </a:p>
        </p:txBody>
      </p:sp>
      <p:sp>
        <p:nvSpPr>
          <p:cNvPr id="257" name="TextBox 24"/>
          <p:cNvSpPr/>
          <p:nvPr/>
        </p:nvSpPr>
        <p:spPr>
          <a:xfrm>
            <a:off x="2880360" y="2743200"/>
            <a:ext cx="502560" cy="456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400" strike="noStrike" u="none">
                <a:solidFill>
                  <a:srgbClr val="16263f"/>
                </a:solidFill>
                <a:effectLst/>
                <a:uFillTx/>
                <a:latin typeface="Calibri"/>
              </a:rPr>
              <a:t>→</a:t>
            </a:r>
            <a:endParaRPr b="0" lang="en-US" sz="2400" strike="noStrike" u="none">
              <a:solidFill>
                <a:srgbClr val="000000"/>
              </a:solidFill>
              <a:effectLst/>
              <a:uFillTx/>
              <a:latin typeface="Arial"/>
            </a:endParaRPr>
          </a:p>
        </p:txBody>
      </p:sp>
      <p:sp>
        <p:nvSpPr>
          <p:cNvPr id="258" name="TextBox 25"/>
          <p:cNvSpPr/>
          <p:nvPr/>
        </p:nvSpPr>
        <p:spPr>
          <a:xfrm>
            <a:off x="6903720" y="3154680"/>
            <a:ext cx="502560" cy="456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400" strike="noStrike" u="none">
                <a:solidFill>
                  <a:srgbClr val="16263f"/>
                </a:solidFill>
                <a:effectLst/>
                <a:uFillTx/>
                <a:latin typeface="Calibri"/>
              </a:rPr>
              <a:t>→</a:t>
            </a:r>
            <a:endParaRPr b="0" lang="en-US" sz="2400" strike="noStrike" u="none">
              <a:solidFill>
                <a:srgbClr val="000000"/>
              </a:solidFill>
              <a:effectLst/>
              <a:uFillTx/>
              <a:latin typeface="Arial"/>
            </a:endParaRPr>
          </a:p>
        </p:txBody>
      </p:sp>
      <p:sp>
        <p:nvSpPr>
          <p:cNvPr id="259" name="TextBox 26"/>
          <p:cNvSpPr/>
          <p:nvPr/>
        </p:nvSpPr>
        <p:spPr>
          <a:xfrm>
            <a:off x="914400" y="5349240"/>
            <a:ext cx="10240920" cy="456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700" strike="noStrike" u="none">
                <a:solidFill>
                  <a:srgbClr val="16263f"/>
                </a:solidFill>
                <a:effectLst/>
                <a:uFillTx/>
                <a:latin typeface="Calibri"/>
              </a:rPr>
              <a:t>Die bestehende WebSocket-Verbindung bleibt einer Instanz zugeordnet.</a:t>
            </a:r>
            <a:endParaRPr b="0" lang="en-US" sz="1700" strike="noStrike" u="none">
              <a:solidFill>
                <a:srgbClr val="000000"/>
              </a:solidFill>
              <a:effectLst/>
              <a:uFillTx/>
              <a:latin typeface="Arial"/>
            </a:endParaRPr>
          </a:p>
        </p:txBody>
      </p:sp>
      <p:sp>
        <p:nvSpPr>
          <p:cNvPr id="260" name="TextBox 27"/>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14</a:t>
            </a:r>
            <a:endParaRPr b="0" lang="en-US" sz="800" strike="noStrike" u="none">
              <a:solidFill>
                <a:srgbClr val="000000"/>
              </a:solidFill>
              <a:effectLst/>
              <a:uFillTx/>
              <a:latin typeface="Arial"/>
            </a:endParaRPr>
          </a:p>
        </p:txBody>
      </p:sp>
      <p:sp>
        <p:nvSpPr>
          <p:cNvPr id="261" name="TextBox 28"/>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62"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KOMMUNIKATION</a:t>
            </a:r>
            <a:endParaRPr b="0" lang="en-US" sz="900" strike="noStrike" u="none">
              <a:solidFill>
                <a:srgbClr val="000000"/>
              </a:solidFill>
              <a:effectLst/>
              <a:uFillTx/>
              <a:latin typeface="Arial"/>
            </a:endParaRPr>
          </a:p>
        </p:txBody>
      </p:sp>
      <p:sp>
        <p:nvSpPr>
          <p:cNvPr id="263"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Stateless und Stateful: Was muss sich das Backend merken?</a:t>
            </a:r>
            <a:endParaRPr b="0" lang="en-US" sz="2700" strike="noStrike" u="none">
              <a:solidFill>
                <a:srgbClr val="000000"/>
              </a:solidFill>
              <a:effectLst/>
              <a:uFillTx/>
              <a:latin typeface="Arial"/>
            </a:endParaRPr>
          </a:p>
        </p:txBody>
      </p:sp>
      <p:sp>
        <p:nvSpPr>
          <p:cNvPr id="264"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65" name="Rounded Rectangle 4"/>
          <p:cNvSpPr/>
          <p:nvPr/>
        </p:nvSpPr>
        <p:spPr>
          <a:xfrm>
            <a:off x="731520" y="1874520"/>
            <a:ext cx="5028840" cy="255996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66" name="Rectangle 5"/>
          <p:cNvSpPr/>
          <p:nvPr/>
        </p:nvSpPr>
        <p:spPr>
          <a:xfrm>
            <a:off x="731520" y="1874520"/>
            <a:ext cx="63720" cy="255996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67" name="TextBox 6"/>
          <p:cNvSpPr/>
          <p:nvPr/>
        </p:nvSpPr>
        <p:spPr>
          <a:xfrm>
            <a:off x="932760" y="2011680"/>
            <a:ext cx="4663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Stateless Request</a:t>
            </a:r>
            <a:endParaRPr b="0" lang="en-US" sz="1500" strike="noStrike" u="none">
              <a:solidFill>
                <a:srgbClr val="000000"/>
              </a:solidFill>
              <a:effectLst/>
              <a:uFillTx/>
              <a:latin typeface="Arial"/>
            </a:endParaRPr>
          </a:p>
        </p:txBody>
      </p:sp>
      <p:sp>
        <p:nvSpPr>
          <p:cNvPr id="268" name="TextBox 7"/>
          <p:cNvSpPr/>
          <p:nvPr/>
        </p:nvSpPr>
        <p:spPr>
          <a:xfrm>
            <a:off x="932760" y="2468880"/>
            <a:ext cx="4663080" cy="1846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Eine neue HTTP-Anfrage kann unabhängig bearbeitet werden.</a:t>
            </a:r>
            <a:br>
              <a:rPr sz="1300"/>
            </a:br>
            <a:r>
              <a:rPr b="0" lang="en-US" sz="1300" strike="noStrike" u="none">
                <a:solidFill>
                  <a:srgbClr val="465264"/>
                </a:solidFill>
                <a:effectLst/>
                <a:uFillTx/>
                <a:latin typeface="Calibri"/>
              </a:rPr>
              <a:t>Request 1 → BE 1</a:t>
            </a:r>
            <a:br>
              <a:rPr sz="1300"/>
            </a:br>
            <a:r>
              <a:rPr b="0" lang="en-US" sz="1300" strike="noStrike" u="none">
                <a:solidFill>
                  <a:srgbClr val="465264"/>
                </a:solidFill>
                <a:effectLst/>
                <a:uFillTx/>
                <a:latin typeface="Calibri"/>
              </a:rPr>
              <a:t>Request 2 → BE 3</a:t>
            </a:r>
            <a:endParaRPr b="0" lang="en-US" sz="1300" strike="noStrike" u="none">
              <a:solidFill>
                <a:srgbClr val="000000"/>
              </a:solidFill>
              <a:effectLst/>
              <a:uFillTx/>
              <a:latin typeface="Arial"/>
            </a:endParaRPr>
          </a:p>
        </p:txBody>
      </p:sp>
      <p:sp>
        <p:nvSpPr>
          <p:cNvPr id="269" name="Rounded Rectangle 8"/>
          <p:cNvSpPr/>
          <p:nvPr/>
        </p:nvSpPr>
        <p:spPr>
          <a:xfrm>
            <a:off x="6400800" y="1874520"/>
            <a:ext cx="5028840" cy="255996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70" name="Rectangle 9"/>
          <p:cNvSpPr/>
          <p:nvPr/>
        </p:nvSpPr>
        <p:spPr>
          <a:xfrm>
            <a:off x="6400800" y="1874520"/>
            <a:ext cx="63720" cy="255996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71" name="TextBox 10"/>
          <p:cNvSpPr/>
          <p:nvPr/>
        </p:nvSpPr>
        <p:spPr>
          <a:xfrm>
            <a:off x="6602040" y="2011680"/>
            <a:ext cx="4663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Stateful Verbindung</a:t>
            </a:r>
            <a:endParaRPr b="0" lang="en-US" sz="1500" strike="noStrike" u="none">
              <a:solidFill>
                <a:srgbClr val="000000"/>
              </a:solidFill>
              <a:effectLst/>
              <a:uFillTx/>
              <a:latin typeface="Arial"/>
            </a:endParaRPr>
          </a:p>
        </p:txBody>
      </p:sp>
      <p:sp>
        <p:nvSpPr>
          <p:cNvPr id="272" name="TextBox 11"/>
          <p:cNvSpPr/>
          <p:nvPr/>
        </p:nvSpPr>
        <p:spPr>
          <a:xfrm>
            <a:off x="6602040" y="2468880"/>
            <a:ext cx="4663080" cy="1846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Während eines WebSockets existiert Verbindungszustand:</a:t>
            </a:r>
            <a:br>
              <a:rPr sz="1300"/>
            </a:br>
            <a:r>
              <a:rPr b="0" lang="en-US" sz="1300" strike="noStrike" u="none">
                <a:solidFill>
                  <a:srgbClr val="465264"/>
                </a:solidFill>
                <a:effectLst/>
                <a:uFillTx/>
                <a:latin typeface="Calibri"/>
              </a:rPr>
              <a:t>Welcher Client?</a:t>
            </a:r>
            <a:br>
              <a:rPr sz="1300"/>
            </a:br>
            <a:r>
              <a:rPr b="0" lang="en-US" sz="1300" strike="noStrike" u="none">
                <a:solidFill>
                  <a:srgbClr val="465264"/>
                </a:solidFill>
                <a:effectLst/>
                <a:uFillTx/>
                <a:latin typeface="Calibri"/>
              </a:rPr>
              <a:t>Authentifiziert?</a:t>
            </a:r>
            <a:br>
              <a:rPr sz="1300"/>
            </a:br>
            <a:r>
              <a:rPr b="0" lang="en-US" sz="1300" strike="noStrike" u="none">
                <a:solidFill>
                  <a:srgbClr val="465264"/>
                </a:solidFill>
                <a:effectLst/>
                <a:uFillTx/>
                <a:latin typeface="Calibri"/>
              </a:rPr>
              <a:t>Welche Events?</a:t>
            </a:r>
            <a:endParaRPr b="0" lang="en-US" sz="1300" strike="noStrike" u="none">
              <a:solidFill>
                <a:srgbClr val="000000"/>
              </a:solidFill>
              <a:effectLst/>
              <a:uFillTx/>
              <a:latin typeface="Arial"/>
            </a:endParaRPr>
          </a:p>
        </p:txBody>
      </p:sp>
      <p:sp>
        <p:nvSpPr>
          <p:cNvPr id="273" name="TextBox 12"/>
          <p:cNvSpPr/>
          <p:nvPr/>
        </p:nvSpPr>
        <p:spPr>
          <a:xfrm>
            <a:off x="914400" y="4892040"/>
            <a:ext cx="10240920" cy="502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800" strike="noStrike" u="none">
                <a:solidFill>
                  <a:srgbClr val="be6414"/>
                </a:solidFill>
                <a:effectLst/>
                <a:uFillTx/>
                <a:latin typeface="Calibri"/>
              </a:rPr>
              <a:t>Stateless bedeutet NICHT: Die Anwendung speichert keine Daten.</a:t>
            </a:r>
            <a:endParaRPr b="0" lang="en-US" sz="1800" strike="noStrike" u="none">
              <a:solidFill>
                <a:srgbClr val="000000"/>
              </a:solidFill>
              <a:effectLst/>
              <a:uFillTx/>
              <a:latin typeface="Arial"/>
            </a:endParaRPr>
          </a:p>
        </p:txBody>
      </p:sp>
      <p:sp>
        <p:nvSpPr>
          <p:cNvPr id="274" name="TextBox 13"/>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15</a:t>
            </a:r>
            <a:endParaRPr b="0" lang="en-US" sz="800" strike="noStrike" u="none">
              <a:solidFill>
                <a:srgbClr val="000000"/>
              </a:solidFill>
              <a:effectLst/>
              <a:uFillTx/>
              <a:latin typeface="Arial"/>
            </a:endParaRPr>
          </a:p>
        </p:txBody>
      </p:sp>
      <p:sp>
        <p:nvSpPr>
          <p:cNvPr id="275" name="TextBox 14"/>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76"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KOMMUNIKATION</a:t>
            </a:r>
            <a:endParaRPr b="0" lang="en-US" sz="900" strike="noStrike" u="none">
              <a:solidFill>
                <a:srgbClr val="000000"/>
              </a:solidFill>
              <a:effectLst/>
              <a:uFillTx/>
              <a:latin typeface="Arial"/>
            </a:endParaRPr>
          </a:p>
        </p:txBody>
      </p:sp>
      <p:sp>
        <p:nvSpPr>
          <p:cNvPr id="277"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Reconnect: Zustand sauber wiederherstellen</a:t>
            </a:r>
            <a:endParaRPr b="0" lang="en-US" sz="2700" strike="noStrike" u="none">
              <a:solidFill>
                <a:srgbClr val="000000"/>
              </a:solidFill>
              <a:effectLst/>
              <a:uFillTx/>
              <a:latin typeface="Arial"/>
            </a:endParaRPr>
          </a:p>
        </p:txBody>
      </p:sp>
      <p:sp>
        <p:nvSpPr>
          <p:cNvPr id="278"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79" name="TextBox 4"/>
          <p:cNvSpPr/>
          <p:nvPr/>
        </p:nvSpPr>
        <p:spPr>
          <a:xfrm>
            <a:off x="914400" y="1600200"/>
            <a:ext cx="10240920" cy="731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900" strike="noStrike" u="none">
                <a:solidFill>
                  <a:srgbClr val="16263f"/>
                </a:solidFill>
                <a:effectLst/>
                <a:uFillTx/>
                <a:latin typeface="Calibri"/>
              </a:rPr>
              <a:t>Bricht die Verbindung ab, kann der Loadbalancer beim Neuaufbau eine andere Instanz wählen.</a:t>
            </a:r>
            <a:endParaRPr b="0" lang="en-US" sz="1900" strike="noStrike" u="none">
              <a:solidFill>
                <a:srgbClr val="000000"/>
              </a:solidFill>
              <a:effectLst/>
              <a:uFillTx/>
              <a:latin typeface="Arial"/>
            </a:endParaRPr>
          </a:p>
        </p:txBody>
      </p:sp>
      <p:sp>
        <p:nvSpPr>
          <p:cNvPr id="280" name="Rounded Rectangle 5"/>
          <p:cNvSpPr/>
          <p:nvPr/>
        </p:nvSpPr>
        <p:spPr>
          <a:xfrm>
            <a:off x="411480" y="2743200"/>
            <a:ext cx="2559960" cy="18284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81" name="Rectangle 6"/>
          <p:cNvSpPr/>
          <p:nvPr/>
        </p:nvSpPr>
        <p:spPr>
          <a:xfrm>
            <a:off x="411480" y="2743200"/>
            <a:ext cx="63720" cy="182844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82" name="TextBox 7"/>
          <p:cNvSpPr/>
          <p:nvPr/>
        </p:nvSpPr>
        <p:spPr>
          <a:xfrm>
            <a:off x="612720" y="2880360"/>
            <a:ext cx="219420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300" strike="noStrike" u="none">
                <a:solidFill>
                  <a:srgbClr val="16263f"/>
                </a:solidFill>
                <a:effectLst/>
                <a:uFillTx/>
                <a:latin typeface="Calibri"/>
              </a:rPr>
              <a:t>1 · CONNECT</a:t>
            </a:r>
            <a:endParaRPr b="0" lang="en-US" sz="1300" strike="noStrike" u="none">
              <a:solidFill>
                <a:srgbClr val="000000"/>
              </a:solidFill>
              <a:effectLst/>
              <a:uFillTx/>
              <a:latin typeface="Arial"/>
            </a:endParaRPr>
          </a:p>
        </p:txBody>
      </p:sp>
      <p:sp>
        <p:nvSpPr>
          <p:cNvPr id="283" name="TextBox 8"/>
          <p:cNvSpPr/>
          <p:nvPr/>
        </p:nvSpPr>
        <p:spPr>
          <a:xfrm>
            <a:off x="612720" y="3337560"/>
            <a:ext cx="2194200" cy="1115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465264"/>
                </a:solidFill>
                <a:effectLst/>
                <a:uFillTx/>
                <a:latin typeface="Calibri"/>
              </a:rPr>
              <a:t>Verbindung neu aufbauen</a:t>
            </a:r>
            <a:endParaRPr b="0" lang="en-US" sz="1200" strike="noStrike" u="none">
              <a:solidFill>
                <a:srgbClr val="000000"/>
              </a:solidFill>
              <a:effectLst/>
              <a:uFillTx/>
              <a:latin typeface="Arial"/>
            </a:endParaRPr>
          </a:p>
        </p:txBody>
      </p:sp>
      <p:sp>
        <p:nvSpPr>
          <p:cNvPr id="284" name="Rounded Rectangle 9"/>
          <p:cNvSpPr/>
          <p:nvPr/>
        </p:nvSpPr>
        <p:spPr>
          <a:xfrm>
            <a:off x="3337560" y="2743200"/>
            <a:ext cx="2559960" cy="18284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85" name="Rectangle 10"/>
          <p:cNvSpPr/>
          <p:nvPr/>
        </p:nvSpPr>
        <p:spPr>
          <a:xfrm>
            <a:off x="3337560" y="2743200"/>
            <a:ext cx="63720" cy="182844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86" name="TextBox 11"/>
          <p:cNvSpPr/>
          <p:nvPr/>
        </p:nvSpPr>
        <p:spPr>
          <a:xfrm>
            <a:off x="3538800" y="2880360"/>
            <a:ext cx="219420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300" strike="noStrike" u="none">
                <a:solidFill>
                  <a:srgbClr val="16263f"/>
                </a:solidFill>
                <a:effectLst/>
                <a:uFillTx/>
                <a:latin typeface="Calibri"/>
              </a:rPr>
              <a:t>2 · AUTH</a:t>
            </a:r>
            <a:endParaRPr b="0" lang="en-US" sz="1300" strike="noStrike" u="none">
              <a:solidFill>
                <a:srgbClr val="000000"/>
              </a:solidFill>
              <a:effectLst/>
              <a:uFillTx/>
              <a:latin typeface="Arial"/>
            </a:endParaRPr>
          </a:p>
        </p:txBody>
      </p:sp>
      <p:sp>
        <p:nvSpPr>
          <p:cNvPr id="287" name="TextBox 12"/>
          <p:cNvSpPr/>
          <p:nvPr/>
        </p:nvSpPr>
        <p:spPr>
          <a:xfrm>
            <a:off x="3538800" y="3337560"/>
            <a:ext cx="2194200" cy="1115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465264"/>
                </a:solidFill>
                <a:effectLst/>
                <a:uFillTx/>
                <a:latin typeface="Calibri"/>
              </a:rPr>
              <a:t>Client erneut zuordnen / authentifizieren</a:t>
            </a:r>
            <a:endParaRPr b="0" lang="en-US" sz="1200" strike="noStrike" u="none">
              <a:solidFill>
                <a:srgbClr val="000000"/>
              </a:solidFill>
              <a:effectLst/>
              <a:uFillTx/>
              <a:latin typeface="Arial"/>
            </a:endParaRPr>
          </a:p>
        </p:txBody>
      </p:sp>
      <p:sp>
        <p:nvSpPr>
          <p:cNvPr id="288" name="Rounded Rectangle 13"/>
          <p:cNvSpPr/>
          <p:nvPr/>
        </p:nvSpPr>
        <p:spPr>
          <a:xfrm>
            <a:off x="6263640" y="2743200"/>
            <a:ext cx="2559960" cy="18284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89" name="Rectangle 14"/>
          <p:cNvSpPr/>
          <p:nvPr/>
        </p:nvSpPr>
        <p:spPr>
          <a:xfrm>
            <a:off x="6263640" y="2743200"/>
            <a:ext cx="63720" cy="182844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90" name="TextBox 15"/>
          <p:cNvSpPr/>
          <p:nvPr/>
        </p:nvSpPr>
        <p:spPr>
          <a:xfrm>
            <a:off x="6464880" y="2880360"/>
            <a:ext cx="219420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300" strike="noStrike" u="none">
                <a:solidFill>
                  <a:srgbClr val="16263f"/>
                </a:solidFill>
                <a:effectLst/>
                <a:uFillTx/>
                <a:latin typeface="Calibri"/>
              </a:rPr>
              <a:t>3 · SUBSCRIBE</a:t>
            </a:r>
            <a:endParaRPr b="0" lang="en-US" sz="1300" strike="noStrike" u="none">
              <a:solidFill>
                <a:srgbClr val="000000"/>
              </a:solidFill>
              <a:effectLst/>
              <a:uFillTx/>
              <a:latin typeface="Arial"/>
            </a:endParaRPr>
          </a:p>
        </p:txBody>
      </p:sp>
      <p:sp>
        <p:nvSpPr>
          <p:cNvPr id="291" name="TextBox 16"/>
          <p:cNvSpPr/>
          <p:nvPr/>
        </p:nvSpPr>
        <p:spPr>
          <a:xfrm>
            <a:off x="6464880" y="3337560"/>
            <a:ext cx="2194200" cy="1115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465264"/>
                </a:solidFill>
                <a:effectLst/>
                <a:uFillTx/>
                <a:latin typeface="Calibri"/>
              </a:rPr>
              <a:t>benötigte Ereignisse erneut anmelden</a:t>
            </a:r>
            <a:endParaRPr b="0" lang="en-US" sz="1200" strike="noStrike" u="none">
              <a:solidFill>
                <a:srgbClr val="000000"/>
              </a:solidFill>
              <a:effectLst/>
              <a:uFillTx/>
              <a:latin typeface="Arial"/>
            </a:endParaRPr>
          </a:p>
        </p:txBody>
      </p:sp>
      <p:sp>
        <p:nvSpPr>
          <p:cNvPr id="292" name="Rounded Rectangle 17"/>
          <p:cNvSpPr/>
          <p:nvPr/>
        </p:nvSpPr>
        <p:spPr>
          <a:xfrm>
            <a:off x="9189720" y="2743200"/>
            <a:ext cx="2559960" cy="18284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93" name="Rectangle 18"/>
          <p:cNvSpPr/>
          <p:nvPr/>
        </p:nvSpPr>
        <p:spPr>
          <a:xfrm>
            <a:off x="9189720" y="2743200"/>
            <a:ext cx="63720" cy="1828440"/>
          </a:xfrm>
          <a:prstGeom prst="rect">
            <a:avLst/>
          </a:prstGeom>
          <a:solidFill>
            <a:srgbClr val="be641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94" name="TextBox 19"/>
          <p:cNvSpPr/>
          <p:nvPr/>
        </p:nvSpPr>
        <p:spPr>
          <a:xfrm>
            <a:off x="9390960" y="2880360"/>
            <a:ext cx="219420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300" strike="noStrike" u="none">
                <a:solidFill>
                  <a:srgbClr val="16263f"/>
                </a:solidFill>
                <a:effectLst/>
                <a:uFillTx/>
                <a:latin typeface="Calibri"/>
              </a:rPr>
              <a:t>4 · READY</a:t>
            </a:r>
            <a:endParaRPr b="0" lang="en-US" sz="1300" strike="noStrike" u="none">
              <a:solidFill>
                <a:srgbClr val="000000"/>
              </a:solidFill>
              <a:effectLst/>
              <a:uFillTx/>
              <a:latin typeface="Arial"/>
            </a:endParaRPr>
          </a:p>
        </p:txBody>
      </p:sp>
      <p:sp>
        <p:nvSpPr>
          <p:cNvPr id="295" name="TextBox 20"/>
          <p:cNvSpPr/>
          <p:nvPr/>
        </p:nvSpPr>
        <p:spPr>
          <a:xfrm>
            <a:off x="9390960" y="3337560"/>
            <a:ext cx="2194200" cy="1115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465264"/>
                </a:solidFill>
                <a:effectLst/>
                <a:uFillTx/>
                <a:latin typeface="Calibri"/>
              </a:rPr>
              <a:t>Verbindung ist wieder arbeitsfähig</a:t>
            </a:r>
            <a:endParaRPr b="0" lang="en-US" sz="1200" strike="noStrike" u="none">
              <a:solidFill>
                <a:srgbClr val="000000"/>
              </a:solidFill>
              <a:effectLst/>
              <a:uFillTx/>
              <a:latin typeface="Arial"/>
            </a:endParaRPr>
          </a:p>
        </p:txBody>
      </p:sp>
      <p:sp>
        <p:nvSpPr>
          <p:cNvPr id="296" name="TextBox 21"/>
          <p:cNvSpPr/>
          <p:nvPr/>
        </p:nvSpPr>
        <p:spPr>
          <a:xfrm>
            <a:off x="914400" y="5166360"/>
            <a:ext cx="10240920" cy="502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700" strike="noStrike" u="none">
                <a:solidFill>
                  <a:srgbClr val="16263f"/>
                </a:solidFill>
                <a:effectLst/>
                <a:uFillTx/>
                <a:latin typeface="Calibri"/>
              </a:rPr>
              <a:t>Ziel: notwendiger Zustand muss reproduzierbar wiederhergestellt werden können.</a:t>
            </a:r>
            <a:endParaRPr b="0" lang="en-US" sz="1700" strike="noStrike" u="none">
              <a:solidFill>
                <a:srgbClr val="000000"/>
              </a:solidFill>
              <a:effectLst/>
              <a:uFillTx/>
              <a:latin typeface="Arial"/>
            </a:endParaRPr>
          </a:p>
        </p:txBody>
      </p:sp>
      <p:sp>
        <p:nvSpPr>
          <p:cNvPr id="297" name="TextBox 22"/>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16</a:t>
            </a:r>
            <a:endParaRPr b="0" lang="en-US" sz="800" strike="noStrike" u="none">
              <a:solidFill>
                <a:srgbClr val="000000"/>
              </a:solidFill>
              <a:effectLst/>
              <a:uFillTx/>
              <a:latin typeface="Arial"/>
            </a:endParaRPr>
          </a:p>
        </p:txBody>
      </p:sp>
      <p:sp>
        <p:nvSpPr>
          <p:cNvPr id="298" name="TextBox 23"/>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99"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KOMMUNIKATION</a:t>
            </a:r>
            <a:endParaRPr b="0" lang="en-US" sz="900" strike="noStrike" u="none">
              <a:solidFill>
                <a:srgbClr val="000000"/>
              </a:solidFill>
              <a:effectLst/>
              <a:uFillTx/>
              <a:latin typeface="Arial"/>
            </a:endParaRPr>
          </a:p>
        </p:txBody>
      </p:sp>
      <p:sp>
        <p:nvSpPr>
          <p:cNvPr id="300"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Kommunikationsformen im Vergleich</a:t>
            </a:r>
            <a:endParaRPr b="0" lang="en-US" sz="2700" strike="noStrike" u="none">
              <a:solidFill>
                <a:srgbClr val="000000"/>
              </a:solidFill>
              <a:effectLst/>
              <a:uFillTx/>
              <a:latin typeface="Arial"/>
            </a:endParaRPr>
          </a:p>
        </p:txBody>
      </p:sp>
      <p:sp>
        <p:nvSpPr>
          <p:cNvPr id="301"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02" name="Rounded Rectangle 4"/>
          <p:cNvSpPr/>
          <p:nvPr/>
        </p:nvSpPr>
        <p:spPr>
          <a:xfrm>
            <a:off x="640080" y="1600200"/>
            <a:ext cx="4754520" cy="82260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03" name="Rectangle 5"/>
          <p:cNvSpPr/>
          <p:nvPr/>
        </p:nvSpPr>
        <p:spPr>
          <a:xfrm>
            <a:off x="640080" y="1600200"/>
            <a:ext cx="63720" cy="82260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04" name="TextBox 6"/>
          <p:cNvSpPr/>
          <p:nvPr/>
        </p:nvSpPr>
        <p:spPr>
          <a:xfrm>
            <a:off x="841320" y="1737360"/>
            <a:ext cx="43887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300" strike="noStrike" u="none">
                <a:solidFill>
                  <a:srgbClr val="16263f"/>
                </a:solidFill>
                <a:effectLst/>
                <a:uFillTx/>
                <a:latin typeface="Calibri"/>
              </a:rPr>
              <a:t>HTTP</a:t>
            </a:r>
            <a:endParaRPr b="0" lang="en-US" sz="1300" strike="noStrike" u="none">
              <a:solidFill>
                <a:srgbClr val="000000"/>
              </a:solidFill>
              <a:effectLst/>
              <a:uFillTx/>
              <a:latin typeface="Arial"/>
            </a:endParaRPr>
          </a:p>
        </p:txBody>
      </p:sp>
      <p:sp>
        <p:nvSpPr>
          <p:cNvPr id="305" name="TextBox 7"/>
          <p:cNvSpPr/>
          <p:nvPr/>
        </p:nvSpPr>
        <p:spPr>
          <a:xfrm>
            <a:off x="841320" y="2194560"/>
            <a:ext cx="4388760" cy="109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465264"/>
                </a:solidFill>
                <a:effectLst/>
                <a:uFillTx/>
                <a:latin typeface="Calibri"/>
              </a:rPr>
              <a:t>fragen → antworten</a:t>
            </a:r>
            <a:endParaRPr b="0" lang="en-US" sz="1200" strike="noStrike" u="none">
              <a:solidFill>
                <a:srgbClr val="000000"/>
              </a:solidFill>
              <a:effectLst/>
              <a:uFillTx/>
              <a:latin typeface="Arial"/>
            </a:endParaRPr>
          </a:p>
        </p:txBody>
      </p:sp>
      <p:sp>
        <p:nvSpPr>
          <p:cNvPr id="306" name="Rounded Rectangle 8"/>
          <p:cNvSpPr/>
          <p:nvPr/>
        </p:nvSpPr>
        <p:spPr>
          <a:xfrm>
            <a:off x="5623560" y="1600200"/>
            <a:ext cx="5851800" cy="82260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07" name="Rectangle 9"/>
          <p:cNvSpPr/>
          <p:nvPr/>
        </p:nvSpPr>
        <p:spPr>
          <a:xfrm>
            <a:off x="5623560" y="1600200"/>
            <a:ext cx="63720" cy="82260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08" name="TextBox 10"/>
          <p:cNvSpPr/>
          <p:nvPr/>
        </p:nvSpPr>
        <p:spPr>
          <a:xfrm>
            <a:off x="5824800" y="1737360"/>
            <a:ext cx="548604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trike="noStrike" u="none">
                <a:solidFill>
                  <a:srgbClr val="16263f"/>
                </a:solidFill>
                <a:effectLst/>
                <a:uFillTx/>
                <a:latin typeface="Calibri"/>
              </a:rPr>
              <a:t>Beispiel</a:t>
            </a:r>
            <a:endParaRPr b="0" lang="en-US" sz="1200" strike="noStrike" u="none">
              <a:solidFill>
                <a:srgbClr val="000000"/>
              </a:solidFill>
              <a:effectLst/>
              <a:uFillTx/>
              <a:latin typeface="Arial"/>
            </a:endParaRPr>
          </a:p>
        </p:txBody>
      </p:sp>
      <p:sp>
        <p:nvSpPr>
          <p:cNvPr id="309" name="TextBox 11"/>
          <p:cNvSpPr/>
          <p:nvPr/>
        </p:nvSpPr>
        <p:spPr>
          <a:xfrm>
            <a:off x="5824800" y="2194560"/>
            <a:ext cx="5486040" cy="109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465264"/>
                </a:solidFill>
                <a:effectLst/>
                <a:uFillTx/>
                <a:latin typeface="Calibri"/>
              </a:rPr>
              <a:t>Workshopliste laden</a:t>
            </a:r>
            <a:endParaRPr b="0" lang="en-US" sz="1200" strike="noStrike" u="none">
              <a:solidFill>
                <a:srgbClr val="000000"/>
              </a:solidFill>
              <a:effectLst/>
              <a:uFillTx/>
              <a:latin typeface="Arial"/>
            </a:endParaRPr>
          </a:p>
        </p:txBody>
      </p:sp>
      <p:sp>
        <p:nvSpPr>
          <p:cNvPr id="310" name="Rounded Rectangle 12"/>
          <p:cNvSpPr/>
          <p:nvPr/>
        </p:nvSpPr>
        <p:spPr>
          <a:xfrm>
            <a:off x="640080" y="2624400"/>
            <a:ext cx="4754520" cy="82260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11" name="Rectangle 13"/>
          <p:cNvSpPr/>
          <p:nvPr/>
        </p:nvSpPr>
        <p:spPr>
          <a:xfrm>
            <a:off x="640080" y="2624400"/>
            <a:ext cx="63720" cy="822600"/>
          </a:xfrm>
          <a:prstGeom prst="rect">
            <a:avLst/>
          </a:prstGeom>
          <a:solidFill>
            <a:srgbClr val="be641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12" name="TextBox 14"/>
          <p:cNvSpPr/>
          <p:nvPr/>
        </p:nvSpPr>
        <p:spPr>
          <a:xfrm>
            <a:off x="841320" y="2761560"/>
            <a:ext cx="43887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300" strike="noStrike" u="none">
                <a:solidFill>
                  <a:srgbClr val="16263f"/>
                </a:solidFill>
                <a:effectLst/>
                <a:uFillTx/>
                <a:latin typeface="Calibri"/>
              </a:rPr>
              <a:t>Polling</a:t>
            </a:r>
            <a:endParaRPr b="0" lang="en-US" sz="1300" strike="noStrike" u="none">
              <a:solidFill>
                <a:srgbClr val="000000"/>
              </a:solidFill>
              <a:effectLst/>
              <a:uFillTx/>
              <a:latin typeface="Arial"/>
            </a:endParaRPr>
          </a:p>
        </p:txBody>
      </p:sp>
      <p:sp>
        <p:nvSpPr>
          <p:cNvPr id="313" name="TextBox 15"/>
          <p:cNvSpPr/>
          <p:nvPr/>
        </p:nvSpPr>
        <p:spPr>
          <a:xfrm>
            <a:off x="841320" y="3218760"/>
            <a:ext cx="4388760" cy="109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465264"/>
                </a:solidFill>
                <a:effectLst/>
                <a:uFillTx/>
                <a:latin typeface="Calibri"/>
              </a:rPr>
              <a:t>immer wieder per HTTP fragen</a:t>
            </a:r>
            <a:endParaRPr b="0" lang="en-US" sz="1200" strike="noStrike" u="none">
              <a:solidFill>
                <a:srgbClr val="000000"/>
              </a:solidFill>
              <a:effectLst/>
              <a:uFillTx/>
              <a:latin typeface="Arial"/>
            </a:endParaRPr>
          </a:p>
        </p:txBody>
      </p:sp>
      <p:sp>
        <p:nvSpPr>
          <p:cNvPr id="314" name="Rounded Rectangle 16"/>
          <p:cNvSpPr/>
          <p:nvPr/>
        </p:nvSpPr>
        <p:spPr>
          <a:xfrm>
            <a:off x="5623560" y="2624400"/>
            <a:ext cx="5851800" cy="82260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15" name="Rectangle 17"/>
          <p:cNvSpPr/>
          <p:nvPr/>
        </p:nvSpPr>
        <p:spPr>
          <a:xfrm>
            <a:off x="5623560" y="2624400"/>
            <a:ext cx="63720" cy="822600"/>
          </a:xfrm>
          <a:prstGeom prst="rect">
            <a:avLst/>
          </a:prstGeom>
          <a:solidFill>
            <a:srgbClr val="be641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16" name="TextBox 18"/>
          <p:cNvSpPr/>
          <p:nvPr/>
        </p:nvSpPr>
        <p:spPr>
          <a:xfrm>
            <a:off x="5824800" y="2761560"/>
            <a:ext cx="548604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trike="noStrike" u="none">
                <a:solidFill>
                  <a:srgbClr val="16263f"/>
                </a:solidFill>
                <a:effectLst/>
                <a:uFillTx/>
                <a:latin typeface="Calibri"/>
              </a:rPr>
              <a:t>Beispiel</a:t>
            </a:r>
            <a:endParaRPr b="0" lang="en-US" sz="1200" strike="noStrike" u="none">
              <a:solidFill>
                <a:srgbClr val="000000"/>
              </a:solidFill>
              <a:effectLst/>
              <a:uFillTx/>
              <a:latin typeface="Arial"/>
            </a:endParaRPr>
          </a:p>
        </p:txBody>
      </p:sp>
      <p:sp>
        <p:nvSpPr>
          <p:cNvPr id="317" name="TextBox 19"/>
          <p:cNvSpPr/>
          <p:nvPr/>
        </p:nvSpPr>
        <p:spPr>
          <a:xfrm>
            <a:off x="5824800" y="3218760"/>
            <a:ext cx="5486040" cy="109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465264"/>
                </a:solidFill>
                <a:effectLst/>
                <a:uFillTx/>
                <a:latin typeface="Calibri"/>
              </a:rPr>
              <a:t>Status regelmäßig prüfen</a:t>
            </a:r>
            <a:endParaRPr b="0" lang="en-US" sz="1200" strike="noStrike" u="none">
              <a:solidFill>
                <a:srgbClr val="000000"/>
              </a:solidFill>
              <a:effectLst/>
              <a:uFillTx/>
              <a:latin typeface="Arial"/>
            </a:endParaRPr>
          </a:p>
        </p:txBody>
      </p:sp>
      <p:sp>
        <p:nvSpPr>
          <p:cNvPr id="318" name="Rounded Rectangle 20"/>
          <p:cNvSpPr/>
          <p:nvPr/>
        </p:nvSpPr>
        <p:spPr>
          <a:xfrm>
            <a:off x="640080" y="3648600"/>
            <a:ext cx="4754520" cy="82260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19" name="Rectangle 21"/>
          <p:cNvSpPr/>
          <p:nvPr/>
        </p:nvSpPr>
        <p:spPr>
          <a:xfrm>
            <a:off x="640080" y="3648600"/>
            <a:ext cx="63720" cy="82260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20" name="TextBox 22"/>
          <p:cNvSpPr/>
          <p:nvPr/>
        </p:nvSpPr>
        <p:spPr>
          <a:xfrm>
            <a:off x="841320" y="3785760"/>
            <a:ext cx="43887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300" strike="noStrike" u="none">
                <a:solidFill>
                  <a:srgbClr val="16263f"/>
                </a:solidFill>
                <a:effectLst/>
                <a:uFillTx/>
                <a:latin typeface="Calibri"/>
              </a:rPr>
              <a:t>SSE</a:t>
            </a:r>
            <a:endParaRPr b="0" lang="en-US" sz="1300" strike="noStrike" u="none">
              <a:solidFill>
                <a:srgbClr val="000000"/>
              </a:solidFill>
              <a:effectLst/>
              <a:uFillTx/>
              <a:latin typeface="Arial"/>
            </a:endParaRPr>
          </a:p>
        </p:txBody>
      </p:sp>
      <p:sp>
        <p:nvSpPr>
          <p:cNvPr id="321" name="TextBox 23"/>
          <p:cNvSpPr/>
          <p:nvPr/>
        </p:nvSpPr>
        <p:spPr>
          <a:xfrm>
            <a:off x="841320" y="4242960"/>
            <a:ext cx="4388760" cy="109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465264"/>
                </a:solidFill>
                <a:effectLst/>
                <a:uFillTx/>
                <a:latin typeface="Calibri"/>
              </a:rPr>
              <a:t>Server meldet Ereignisse</a:t>
            </a:r>
            <a:endParaRPr b="0" lang="en-US" sz="1200" strike="noStrike" u="none">
              <a:solidFill>
                <a:srgbClr val="000000"/>
              </a:solidFill>
              <a:effectLst/>
              <a:uFillTx/>
              <a:latin typeface="Arial"/>
            </a:endParaRPr>
          </a:p>
        </p:txBody>
      </p:sp>
      <p:sp>
        <p:nvSpPr>
          <p:cNvPr id="322" name="Rounded Rectangle 24"/>
          <p:cNvSpPr/>
          <p:nvPr/>
        </p:nvSpPr>
        <p:spPr>
          <a:xfrm>
            <a:off x="5623560" y="3648600"/>
            <a:ext cx="5851800" cy="82260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23" name="Rectangle 25"/>
          <p:cNvSpPr/>
          <p:nvPr/>
        </p:nvSpPr>
        <p:spPr>
          <a:xfrm>
            <a:off x="5623560" y="3648600"/>
            <a:ext cx="63720" cy="82260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24" name="TextBox 26"/>
          <p:cNvSpPr/>
          <p:nvPr/>
        </p:nvSpPr>
        <p:spPr>
          <a:xfrm>
            <a:off x="5824800" y="3785760"/>
            <a:ext cx="548604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trike="noStrike" u="none">
                <a:solidFill>
                  <a:srgbClr val="16263f"/>
                </a:solidFill>
                <a:effectLst/>
                <a:uFillTx/>
                <a:latin typeface="Calibri"/>
              </a:rPr>
              <a:t>Beispiel</a:t>
            </a:r>
            <a:endParaRPr b="0" lang="en-US" sz="1200" strike="noStrike" u="none">
              <a:solidFill>
                <a:srgbClr val="000000"/>
              </a:solidFill>
              <a:effectLst/>
              <a:uFillTx/>
              <a:latin typeface="Arial"/>
            </a:endParaRPr>
          </a:p>
        </p:txBody>
      </p:sp>
      <p:sp>
        <p:nvSpPr>
          <p:cNvPr id="325" name="TextBox 27"/>
          <p:cNvSpPr/>
          <p:nvPr/>
        </p:nvSpPr>
        <p:spPr>
          <a:xfrm>
            <a:off x="5824800" y="4242960"/>
            <a:ext cx="5486040" cy="109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465264"/>
                </a:solidFill>
                <a:effectLst/>
                <a:uFillTx/>
                <a:latin typeface="Calibri"/>
              </a:rPr>
              <a:t>Raumänderung / Live-Feed</a:t>
            </a:r>
            <a:endParaRPr b="0" lang="en-US" sz="1200" strike="noStrike" u="none">
              <a:solidFill>
                <a:srgbClr val="000000"/>
              </a:solidFill>
              <a:effectLst/>
              <a:uFillTx/>
              <a:latin typeface="Arial"/>
            </a:endParaRPr>
          </a:p>
        </p:txBody>
      </p:sp>
      <p:sp>
        <p:nvSpPr>
          <p:cNvPr id="326" name="Rounded Rectangle 28"/>
          <p:cNvSpPr/>
          <p:nvPr/>
        </p:nvSpPr>
        <p:spPr>
          <a:xfrm>
            <a:off x="640080" y="4672440"/>
            <a:ext cx="4754520" cy="82260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27" name="Rectangle 29"/>
          <p:cNvSpPr/>
          <p:nvPr/>
        </p:nvSpPr>
        <p:spPr>
          <a:xfrm>
            <a:off x="640080" y="4672440"/>
            <a:ext cx="63720" cy="82260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28" name="TextBox 30"/>
          <p:cNvSpPr/>
          <p:nvPr/>
        </p:nvSpPr>
        <p:spPr>
          <a:xfrm>
            <a:off x="841320" y="4809600"/>
            <a:ext cx="43887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300" strike="noStrike" u="none">
                <a:solidFill>
                  <a:srgbClr val="16263f"/>
                </a:solidFill>
                <a:effectLst/>
                <a:uFillTx/>
                <a:latin typeface="Calibri"/>
              </a:rPr>
              <a:t>WebSocket</a:t>
            </a:r>
            <a:endParaRPr b="0" lang="en-US" sz="1300" strike="noStrike" u="none">
              <a:solidFill>
                <a:srgbClr val="000000"/>
              </a:solidFill>
              <a:effectLst/>
              <a:uFillTx/>
              <a:latin typeface="Arial"/>
            </a:endParaRPr>
          </a:p>
        </p:txBody>
      </p:sp>
      <p:sp>
        <p:nvSpPr>
          <p:cNvPr id="329" name="TextBox 31"/>
          <p:cNvSpPr/>
          <p:nvPr/>
        </p:nvSpPr>
        <p:spPr>
          <a:xfrm>
            <a:off x="841320" y="5266800"/>
            <a:ext cx="4388760" cy="109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465264"/>
                </a:solidFill>
                <a:effectLst/>
                <a:uFillTx/>
                <a:latin typeface="Calibri"/>
              </a:rPr>
              <a:t>beide senden über dauerhafte Verbindung</a:t>
            </a:r>
            <a:endParaRPr b="0" lang="en-US" sz="1200" strike="noStrike" u="none">
              <a:solidFill>
                <a:srgbClr val="000000"/>
              </a:solidFill>
              <a:effectLst/>
              <a:uFillTx/>
              <a:latin typeface="Arial"/>
            </a:endParaRPr>
          </a:p>
        </p:txBody>
      </p:sp>
      <p:sp>
        <p:nvSpPr>
          <p:cNvPr id="330" name="Rounded Rectangle 32"/>
          <p:cNvSpPr/>
          <p:nvPr/>
        </p:nvSpPr>
        <p:spPr>
          <a:xfrm>
            <a:off x="5623560" y="4672440"/>
            <a:ext cx="5851800" cy="82260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31" name="Rectangle 33"/>
          <p:cNvSpPr/>
          <p:nvPr/>
        </p:nvSpPr>
        <p:spPr>
          <a:xfrm>
            <a:off x="5623560" y="4672440"/>
            <a:ext cx="63720" cy="82260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32" name="TextBox 34"/>
          <p:cNvSpPr/>
          <p:nvPr/>
        </p:nvSpPr>
        <p:spPr>
          <a:xfrm>
            <a:off x="5824800" y="4809600"/>
            <a:ext cx="548604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200" strike="noStrike" u="none">
                <a:solidFill>
                  <a:srgbClr val="16263f"/>
                </a:solidFill>
                <a:effectLst/>
                <a:uFillTx/>
                <a:latin typeface="Calibri"/>
              </a:rPr>
              <a:t>Beispiel</a:t>
            </a:r>
            <a:endParaRPr b="0" lang="en-US" sz="1200" strike="noStrike" u="none">
              <a:solidFill>
                <a:srgbClr val="000000"/>
              </a:solidFill>
              <a:effectLst/>
              <a:uFillTx/>
              <a:latin typeface="Arial"/>
            </a:endParaRPr>
          </a:p>
        </p:txBody>
      </p:sp>
      <p:sp>
        <p:nvSpPr>
          <p:cNvPr id="333" name="TextBox 35"/>
          <p:cNvSpPr/>
          <p:nvPr/>
        </p:nvSpPr>
        <p:spPr>
          <a:xfrm>
            <a:off x="5824800" y="5266800"/>
            <a:ext cx="5486040" cy="109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465264"/>
                </a:solidFill>
                <a:effectLst/>
                <a:uFillTx/>
                <a:latin typeface="Calibri"/>
              </a:rPr>
              <a:t>Chat / Kollaboration</a:t>
            </a:r>
            <a:endParaRPr b="0" lang="en-US" sz="1200" strike="noStrike" u="none">
              <a:solidFill>
                <a:srgbClr val="000000"/>
              </a:solidFill>
              <a:effectLst/>
              <a:uFillTx/>
              <a:latin typeface="Arial"/>
            </a:endParaRPr>
          </a:p>
        </p:txBody>
      </p:sp>
      <p:sp>
        <p:nvSpPr>
          <p:cNvPr id="334" name="TextBox 36"/>
          <p:cNvSpPr/>
          <p:nvPr/>
        </p:nvSpPr>
        <p:spPr>
          <a:xfrm>
            <a:off x="914400" y="5806440"/>
            <a:ext cx="10240920" cy="411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600" strike="noStrike" u="none">
                <a:solidFill>
                  <a:srgbClr val="16263f"/>
                </a:solidFill>
                <a:effectLst/>
                <a:uFillTx/>
                <a:latin typeface="Calibri"/>
              </a:rPr>
              <a:t>Nicht die komplexeste Technik ist die beste – sondern die passende.</a:t>
            </a:r>
            <a:endParaRPr b="0" lang="en-US" sz="1600" strike="noStrike" u="none">
              <a:solidFill>
                <a:srgbClr val="000000"/>
              </a:solidFill>
              <a:effectLst/>
              <a:uFillTx/>
              <a:latin typeface="Arial"/>
            </a:endParaRPr>
          </a:p>
        </p:txBody>
      </p:sp>
      <p:sp>
        <p:nvSpPr>
          <p:cNvPr id="335" name="TextBox 37"/>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17</a:t>
            </a:r>
            <a:endParaRPr b="0" lang="en-US" sz="800" strike="noStrike" u="none">
              <a:solidFill>
                <a:srgbClr val="000000"/>
              </a:solidFill>
              <a:effectLst/>
              <a:uFillTx/>
              <a:latin typeface="Arial"/>
            </a:endParaRPr>
          </a:p>
        </p:txBody>
      </p:sp>
      <p:sp>
        <p:nvSpPr>
          <p:cNvPr id="336" name="TextBox 38"/>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37"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WEB</a:t>
            </a:r>
            <a:endParaRPr b="0" lang="en-US" sz="900" strike="noStrike" u="none">
              <a:solidFill>
                <a:srgbClr val="000000"/>
              </a:solidFill>
              <a:effectLst/>
              <a:uFillTx/>
              <a:latin typeface="Arial"/>
            </a:endParaRPr>
          </a:p>
        </p:txBody>
      </p:sp>
      <p:sp>
        <p:nvSpPr>
          <p:cNvPr id="338"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Hypertext und HTML</a:t>
            </a:r>
            <a:endParaRPr b="0" lang="en-US" sz="2700" strike="noStrike" u="none">
              <a:solidFill>
                <a:srgbClr val="000000"/>
              </a:solidFill>
              <a:effectLst/>
              <a:uFillTx/>
              <a:latin typeface="Arial"/>
            </a:endParaRPr>
          </a:p>
        </p:txBody>
      </p:sp>
      <p:sp>
        <p:nvSpPr>
          <p:cNvPr id="339"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40" name="Rounded Rectangle 4"/>
          <p:cNvSpPr/>
          <p:nvPr/>
        </p:nvSpPr>
        <p:spPr>
          <a:xfrm>
            <a:off x="731520" y="1828800"/>
            <a:ext cx="5668920" cy="27428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41" name="Rectangle 5"/>
          <p:cNvSpPr/>
          <p:nvPr/>
        </p:nvSpPr>
        <p:spPr>
          <a:xfrm>
            <a:off x="731520" y="1828800"/>
            <a:ext cx="63720" cy="274284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42" name="TextBox 6"/>
          <p:cNvSpPr/>
          <p:nvPr/>
        </p:nvSpPr>
        <p:spPr>
          <a:xfrm>
            <a:off x="932760" y="1965960"/>
            <a:ext cx="53031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HTML</a:t>
            </a:r>
            <a:endParaRPr b="0" lang="en-US" sz="1500" strike="noStrike" u="none">
              <a:solidFill>
                <a:srgbClr val="000000"/>
              </a:solidFill>
              <a:effectLst/>
              <a:uFillTx/>
              <a:latin typeface="Arial"/>
            </a:endParaRPr>
          </a:p>
        </p:txBody>
      </p:sp>
      <p:sp>
        <p:nvSpPr>
          <p:cNvPr id="343" name="TextBox 7"/>
          <p:cNvSpPr/>
          <p:nvPr/>
        </p:nvSpPr>
        <p:spPr>
          <a:xfrm>
            <a:off x="932760" y="2423160"/>
            <a:ext cx="5303160" cy="202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&lt;h1&gt;Schülerfestival&lt;/h1&gt;</a:t>
            </a:r>
            <a:br>
              <a:rPr sz="1300"/>
            </a:br>
            <a:r>
              <a:rPr b="0" lang="en-US" sz="1300" strike="noStrike" u="none">
                <a:solidFill>
                  <a:srgbClr val="465264"/>
                </a:solidFill>
                <a:effectLst/>
                <a:uFillTx/>
                <a:latin typeface="Calibri"/>
              </a:rPr>
              <a:t>&lt;p&gt;Programm am Freitag&lt;/p&gt;</a:t>
            </a:r>
            <a:br>
              <a:rPr sz="1300"/>
            </a:br>
            <a:r>
              <a:rPr b="0" lang="en-US" sz="1300" strike="noStrike" u="none">
                <a:solidFill>
                  <a:srgbClr val="465264"/>
                </a:solidFill>
                <a:effectLst/>
                <a:uFillTx/>
                <a:latin typeface="Calibri"/>
              </a:rPr>
              <a:t>&lt;a href="programm.html"&gt;Zum Programm&lt;/a&gt;</a:t>
            </a:r>
            <a:endParaRPr b="0" lang="en-US" sz="1300" strike="noStrike" u="none">
              <a:solidFill>
                <a:srgbClr val="000000"/>
              </a:solidFill>
              <a:effectLst/>
              <a:uFillTx/>
              <a:latin typeface="Arial"/>
            </a:endParaRPr>
          </a:p>
        </p:txBody>
      </p:sp>
      <p:sp>
        <p:nvSpPr>
          <p:cNvPr id="344" name="Rounded Rectangle 8"/>
          <p:cNvSpPr/>
          <p:nvPr/>
        </p:nvSpPr>
        <p:spPr>
          <a:xfrm>
            <a:off x="6858000" y="1828800"/>
            <a:ext cx="4480200" cy="27428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45" name="Rectangle 9"/>
          <p:cNvSpPr/>
          <p:nvPr/>
        </p:nvSpPr>
        <p:spPr>
          <a:xfrm>
            <a:off x="6858000" y="1828800"/>
            <a:ext cx="63720" cy="274284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46" name="TextBox 10"/>
          <p:cNvSpPr/>
          <p:nvPr/>
        </p:nvSpPr>
        <p:spPr>
          <a:xfrm>
            <a:off x="7059240" y="1965960"/>
            <a:ext cx="411444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Merke</a:t>
            </a:r>
            <a:endParaRPr b="0" lang="en-US" sz="1500" strike="noStrike" u="none">
              <a:solidFill>
                <a:srgbClr val="000000"/>
              </a:solidFill>
              <a:effectLst/>
              <a:uFillTx/>
              <a:latin typeface="Arial"/>
            </a:endParaRPr>
          </a:p>
        </p:txBody>
      </p:sp>
      <p:sp>
        <p:nvSpPr>
          <p:cNvPr id="347" name="TextBox 11"/>
          <p:cNvSpPr/>
          <p:nvPr/>
        </p:nvSpPr>
        <p:spPr>
          <a:xfrm>
            <a:off x="7059240" y="2423160"/>
            <a:ext cx="4114440" cy="202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Internet ≠ World Wide Web</a:t>
            </a:r>
            <a:br>
              <a:rPr sz="1300"/>
            </a:br>
            <a:r>
              <a:rPr b="0" lang="en-US" sz="1300" strike="noStrike" u="none">
                <a:solidFill>
                  <a:srgbClr val="465264"/>
                </a:solidFill>
                <a:effectLst/>
                <a:uFillTx/>
                <a:latin typeface="Calibri"/>
              </a:rPr>
              <a:t>HTML = HyperText Markup Language</a:t>
            </a:r>
            <a:endParaRPr b="0" lang="en-US" sz="1300" strike="noStrike" u="none">
              <a:solidFill>
                <a:srgbClr val="000000"/>
              </a:solidFill>
              <a:effectLst/>
              <a:uFillTx/>
              <a:latin typeface="Arial"/>
            </a:endParaRPr>
          </a:p>
        </p:txBody>
      </p:sp>
      <p:sp>
        <p:nvSpPr>
          <p:cNvPr id="348" name="TextBox 12"/>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349" name="TextBox 13"/>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18</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50"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WEB</a:t>
            </a:r>
            <a:endParaRPr b="0" lang="en-US" sz="900" strike="noStrike" u="none">
              <a:solidFill>
                <a:srgbClr val="000000"/>
              </a:solidFill>
              <a:effectLst/>
              <a:uFillTx/>
              <a:latin typeface="Arial"/>
            </a:endParaRPr>
          </a:p>
        </p:txBody>
      </p:sp>
      <p:sp>
        <p:nvSpPr>
          <p:cNvPr id="351"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Webseite als strukturierte Elemente</a:t>
            </a:r>
            <a:endParaRPr b="0" lang="en-US" sz="2700" strike="noStrike" u="none">
              <a:solidFill>
                <a:srgbClr val="000000"/>
              </a:solidFill>
              <a:effectLst/>
              <a:uFillTx/>
              <a:latin typeface="Arial"/>
            </a:endParaRPr>
          </a:p>
        </p:txBody>
      </p:sp>
      <p:sp>
        <p:nvSpPr>
          <p:cNvPr id="352"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53" name="TextBox 4"/>
          <p:cNvSpPr/>
          <p:nvPr/>
        </p:nvSpPr>
        <p:spPr>
          <a:xfrm>
            <a:off x="822960" y="1691640"/>
            <a:ext cx="10515240" cy="4388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300" strike="noStrike" u="none">
                <a:solidFill>
                  <a:srgbClr val="465264"/>
                </a:solidFill>
                <a:effectLst/>
                <a:uFillTx/>
                <a:latin typeface="Calibri"/>
              </a:rPr>
              <a:t>• Überschrift</a:t>
            </a:r>
            <a:endParaRPr b="0" lang="en-US" sz="2300" strike="noStrike" u="none">
              <a:solidFill>
                <a:srgbClr val="000000"/>
              </a:solidFill>
              <a:effectLst/>
              <a:uFillTx/>
              <a:latin typeface="Arial"/>
            </a:endParaRPr>
          </a:p>
          <a:p>
            <a:pPr defTabSz="457200">
              <a:lnSpc>
                <a:spcPct val="100000"/>
              </a:lnSpc>
              <a:spcAft>
                <a:spcPts val="799"/>
              </a:spcAft>
            </a:pPr>
            <a:r>
              <a:rPr b="0" lang="en-US" sz="2300" strike="noStrike" u="none">
                <a:solidFill>
                  <a:srgbClr val="465264"/>
                </a:solidFill>
                <a:effectLst/>
                <a:uFillTx/>
                <a:latin typeface="Calibri"/>
              </a:rPr>
              <a:t>• Link</a:t>
            </a:r>
            <a:endParaRPr b="0" lang="en-US" sz="2300" strike="noStrike" u="none">
              <a:solidFill>
                <a:srgbClr val="000000"/>
              </a:solidFill>
              <a:effectLst/>
              <a:uFillTx/>
              <a:latin typeface="Arial"/>
            </a:endParaRPr>
          </a:p>
          <a:p>
            <a:pPr defTabSz="457200">
              <a:lnSpc>
                <a:spcPct val="100000"/>
              </a:lnSpc>
              <a:spcAft>
                <a:spcPts val="799"/>
              </a:spcAft>
            </a:pPr>
            <a:r>
              <a:rPr b="0" lang="en-US" sz="2300" strike="noStrike" u="none">
                <a:solidFill>
                  <a:srgbClr val="465264"/>
                </a:solidFill>
                <a:effectLst/>
                <a:uFillTx/>
                <a:latin typeface="Calibri"/>
              </a:rPr>
              <a:t>• Bild</a:t>
            </a:r>
            <a:endParaRPr b="0" lang="en-US" sz="2300" strike="noStrike" u="none">
              <a:solidFill>
                <a:srgbClr val="000000"/>
              </a:solidFill>
              <a:effectLst/>
              <a:uFillTx/>
              <a:latin typeface="Arial"/>
            </a:endParaRPr>
          </a:p>
          <a:p>
            <a:pPr defTabSz="457200">
              <a:lnSpc>
                <a:spcPct val="100000"/>
              </a:lnSpc>
              <a:spcAft>
                <a:spcPts val="799"/>
              </a:spcAft>
            </a:pPr>
            <a:r>
              <a:rPr b="0" lang="en-US" sz="2300" strike="noStrike" u="none">
                <a:solidFill>
                  <a:srgbClr val="465264"/>
                </a:solidFill>
                <a:effectLst/>
                <a:uFillTx/>
                <a:latin typeface="Calibri"/>
              </a:rPr>
              <a:t>• Formularfeld</a:t>
            </a:r>
            <a:endParaRPr b="0" lang="en-US" sz="2300" strike="noStrike" u="none">
              <a:solidFill>
                <a:srgbClr val="000000"/>
              </a:solidFill>
              <a:effectLst/>
              <a:uFillTx/>
              <a:latin typeface="Arial"/>
            </a:endParaRPr>
          </a:p>
          <a:p>
            <a:pPr defTabSz="457200">
              <a:lnSpc>
                <a:spcPct val="100000"/>
              </a:lnSpc>
              <a:spcAft>
                <a:spcPts val="799"/>
              </a:spcAft>
            </a:pPr>
            <a:r>
              <a:rPr b="0" lang="en-US" sz="2300" strike="noStrike" u="none">
                <a:solidFill>
                  <a:srgbClr val="465264"/>
                </a:solidFill>
                <a:effectLst/>
                <a:uFillTx/>
                <a:latin typeface="Calibri"/>
              </a:rPr>
              <a:t>• Attribute / Eigenschaften</a:t>
            </a:r>
            <a:endParaRPr b="0" lang="en-US" sz="2300" strike="noStrike" u="none">
              <a:solidFill>
                <a:srgbClr val="000000"/>
              </a:solidFill>
              <a:effectLst/>
              <a:uFillTx/>
              <a:latin typeface="Arial"/>
            </a:endParaRPr>
          </a:p>
        </p:txBody>
      </p:sp>
      <p:sp>
        <p:nvSpPr>
          <p:cNvPr id="354" name="TextBox 5"/>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355" name="TextBox 6"/>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19</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56"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CLOUD</a:t>
            </a:r>
            <a:endParaRPr b="0" lang="en-US" sz="900" strike="noStrike" u="none">
              <a:solidFill>
                <a:srgbClr val="000000"/>
              </a:solidFill>
              <a:effectLst/>
              <a:uFillTx/>
              <a:latin typeface="Arial"/>
            </a:endParaRPr>
          </a:p>
        </p:txBody>
      </p:sp>
      <p:sp>
        <p:nvSpPr>
          <p:cNvPr id="357"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Wo steht der Server?</a:t>
            </a:r>
            <a:endParaRPr b="0" lang="en-US" sz="2700" strike="noStrike" u="none">
              <a:solidFill>
                <a:srgbClr val="000000"/>
              </a:solidFill>
              <a:effectLst/>
              <a:uFillTx/>
              <a:latin typeface="Arial"/>
            </a:endParaRPr>
          </a:p>
        </p:txBody>
      </p:sp>
      <p:sp>
        <p:nvSpPr>
          <p:cNvPr id="358"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59" name="TextBox 4"/>
          <p:cNvSpPr/>
          <p:nvPr/>
        </p:nvSpPr>
        <p:spPr>
          <a:xfrm>
            <a:off x="822960" y="1691640"/>
            <a:ext cx="10515240" cy="4388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300" strike="noStrike" u="none">
                <a:solidFill>
                  <a:srgbClr val="465264"/>
                </a:solidFill>
                <a:effectLst/>
                <a:uFillTx/>
                <a:latin typeface="Calibri"/>
              </a:rPr>
              <a:t>• eigener Server</a:t>
            </a:r>
            <a:endParaRPr b="0" lang="en-US" sz="2300" strike="noStrike" u="none">
              <a:solidFill>
                <a:srgbClr val="000000"/>
              </a:solidFill>
              <a:effectLst/>
              <a:uFillTx/>
              <a:latin typeface="Arial"/>
            </a:endParaRPr>
          </a:p>
          <a:p>
            <a:pPr defTabSz="457200">
              <a:lnSpc>
                <a:spcPct val="100000"/>
              </a:lnSpc>
              <a:spcAft>
                <a:spcPts val="799"/>
              </a:spcAft>
            </a:pPr>
            <a:r>
              <a:rPr b="0" lang="en-US" sz="2300" strike="noStrike" u="none">
                <a:solidFill>
                  <a:srgbClr val="465264"/>
                </a:solidFill>
                <a:effectLst/>
                <a:uFillTx/>
                <a:latin typeface="Calibri"/>
              </a:rPr>
              <a:t>• Rechenzentrum</a:t>
            </a:r>
            <a:endParaRPr b="0" lang="en-US" sz="2300" strike="noStrike" u="none">
              <a:solidFill>
                <a:srgbClr val="000000"/>
              </a:solidFill>
              <a:effectLst/>
              <a:uFillTx/>
              <a:latin typeface="Arial"/>
            </a:endParaRPr>
          </a:p>
          <a:p>
            <a:pPr defTabSz="457200">
              <a:lnSpc>
                <a:spcPct val="100000"/>
              </a:lnSpc>
              <a:spcAft>
                <a:spcPts val="799"/>
              </a:spcAft>
            </a:pPr>
            <a:r>
              <a:rPr b="0" lang="en-US" sz="2300" strike="noStrike" u="none">
                <a:solidFill>
                  <a:srgbClr val="465264"/>
                </a:solidFill>
                <a:effectLst/>
                <a:uFillTx/>
                <a:latin typeface="Calibri"/>
              </a:rPr>
              <a:t>• Hosting-Anbieter</a:t>
            </a:r>
            <a:endParaRPr b="0" lang="en-US" sz="2300" strike="noStrike" u="none">
              <a:solidFill>
                <a:srgbClr val="000000"/>
              </a:solidFill>
              <a:effectLst/>
              <a:uFillTx/>
              <a:latin typeface="Arial"/>
            </a:endParaRPr>
          </a:p>
          <a:p>
            <a:pPr defTabSz="457200">
              <a:lnSpc>
                <a:spcPct val="100000"/>
              </a:lnSpc>
              <a:spcAft>
                <a:spcPts val="799"/>
              </a:spcAft>
            </a:pPr>
            <a:r>
              <a:rPr b="0" lang="en-US" sz="2300" strike="noStrike" u="none">
                <a:solidFill>
                  <a:srgbClr val="465264"/>
                </a:solidFill>
                <a:effectLst/>
                <a:uFillTx/>
                <a:latin typeface="Calibri"/>
              </a:rPr>
              <a:t>• Cloud-Infrastruktur</a:t>
            </a:r>
            <a:endParaRPr b="0" lang="en-US" sz="2300" strike="noStrike" u="none">
              <a:solidFill>
                <a:srgbClr val="000000"/>
              </a:solidFill>
              <a:effectLst/>
              <a:uFillTx/>
              <a:latin typeface="Arial"/>
            </a:endParaRPr>
          </a:p>
        </p:txBody>
      </p:sp>
      <p:sp>
        <p:nvSpPr>
          <p:cNvPr id="360" name="TextBox 5"/>
          <p:cNvSpPr/>
          <p:nvPr/>
        </p:nvSpPr>
        <p:spPr>
          <a:xfrm>
            <a:off x="914400" y="4937760"/>
            <a:ext cx="10332360" cy="548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800" strike="noStrike" u="none">
                <a:solidFill>
                  <a:srgbClr val="be6414"/>
                </a:solidFill>
                <a:effectLst/>
                <a:uFillTx/>
                <a:latin typeface="Calibri"/>
              </a:rPr>
              <a:t>Ist Cloud eine Anwendungsarchitektur wie 3-Tier?  →  Nein.</a:t>
            </a:r>
            <a:endParaRPr b="0" lang="en-US" sz="1800" strike="noStrike" u="none">
              <a:solidFill>
                <a:srgbClr val="000000"/>
              </a:solidFill>
              <a:effectLst/>
              <a:uFillTx/>
              <a:latin typeface="Arial"/>
            </a:endParaRPr>
          </a:p>
        </p:txBody>
      </p:sp>
      <p:sp>
        <p:nvSpPr>
          <p:cNvPr id="361" name="TextBox 6"/>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362" name="TextBox 7"/>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20</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63"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CLOUD</a:t>
            </a:r>
            <a:endParaRPr b="0" lang="en-US" sz="900" strike="noStrike" u="none">
              <a:solidFill>
                <a:srgbClr val="000000"/>
              </a:solidFill>
              <a:effectLst/>
              <a:uFillTx/>
              <a:latin typeface="Arial"/>
            </a:endParaRPr>
          </a:p>
        </p:txBody>
      </p:sp>
      <p:sp>
        <p:nvSpPr>
          <p:cNvPr id="364"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Was bedeutet Cloud?</a:t>
            </a:r>
            <a:endParaRPr b="0" lang="en-US" sz="2700" strike="noStrike" u="none">
              <a:solidFill>
                <a:srgbClr val="000000"/>
              </a:solidFill>
              <a:effectLst/>
              <a:uFillTx/>
              <a:latin typeface="Arial"/>
            </a:endParaRPr>
          </a:p>
        </p:txBody>
      </p:sp>
      <p:sp>
        <p:nvSpPr>
          <p:cNvPr id="365"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66" name="Rounded Rectangle 4"/>
          <p:cNvSpPr/>
          <p:nvPr/>
        </p:nvSpPr>
        <p:spPr>
          <a:xfrm>
            <a:off x="731520" y="2148840"/>
            <a:ext cx="2742840" cy="164556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67" name="Rectangle 5"/>
          <p:cNvSpPr/>
          <p:nvPr/>
        </p:nvSpPr>
        <p:spPr>
          <a:xfrm>
            <a:off x="731520" y="2148840"/>
            <a:ext cx="63720" cy="164556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68" name="TextBox 6"/>
          <p:cNvSpPr/>
          <p:nvPr/>
        </p:nvSpPr>
        <p:spPr>
          <a:xfrm>
            <a:off x="932760" y="2286000"/>
            <a:ext cx="2377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Gerät</a:t>
            </a:r>
            <a:endParaRPr b="0" lang="en-US" sz="1500" strike="noStrike" u="none">
              <a:solidFill>
                <a:srgbClr val="000000"/>
              </a:solidFill>
              <a:effectLst/>
              <a:uFillTx/>
              <a:latin typeface="Arial"/>
            </a:endParaRPr>
          </a:p>
        </p:txBody>
      </p:sp>
      <p:sp>
        <p:nvSpPr>
          <p:cNvPr id="369" name="TextBox 7"/>
          <p:cNvSpPr/>
          <p:nvPr/>
        </p:nvSpPr>
        <p:spPr>
          <a:xfrm>
            <a:off x="932760" y="2743200"/>
            <a:ext cx="2377080" cy="932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Browser / App</a:t>
            </a:r>
            <a:endParaRPr b="0" lang="en-US" sz="1300" strike="noStrike" u="none">
              <a:solidFill>
                <a:srgbClr val="000000"/>
              </a:solidFill>
              <a:effectLst/>
              <a:uFillTx/>
              <a:latin typeface="Arial"/>
            </a:endParaRPr>
          </a:p>
        </p:txBody>
      </p:sp>
      <p:sp>
        <p:nvSpPr>
          <p:cNvPr id="370" name="Rounded Rectangle 8"/>
          <p:cNvSpPr/>
          <p:nvPr/>
        </p:nvSpPr>
        <p:spPr>
          <a:xfrm>
            <a:off x="4709160" y="2148840"/>
            <a:ext cx="2742840" cy="164556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71" name="Rectangle 9"/>
          <p:cNvSpPr/>
          <p:nvPr/>
        </p:nvSpPr>
        <p:spPr>
          <a:xfrm>
            <a:off x="4709160" y="2148840"/>
            <a:ext cx="63720" cy="164556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72" name="TextBox 10"/>
          <p:cNvSpPr/>
          <p:nvPr/>
        </p:nvSpPr>
        <p:spPr>
          <a:xfrm>
            <a:off x="4910400" y="2286000"/>
            <a:ext cx="2377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Internet</a:t>
            </a:r>
            <a:endParaRPr b="0" lang="en-US" sz="1500" strike="noStrike" u="none">
              <a:solidFill>
                <a:srgbClr val="000000"/>
              </a:solidFill>
              <a:effectLst/>
              <a:uFillTx/>
              <a:latin typeface="Arial"/>
            </a:endParaRPr>
          </a:p>
        </p:txBody>
      </p:sp>
      <p:sp>
        <p:nvSpPr>
          <p:cNvPr id="373" name="TextBox 11"/>
          <p:cNvSpPr/>
          <p:nvPr/>
        </p:nvSpPr>
        <p:spPr>
          <a:xfrm>
            <a:off x="4910400" y="2743200"/>
            <a:ext cx="2377080" cy="932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Netzverbindung</a:t>
            </a:r>
            <a:endParaRPr b="0" lang="en-US" sz="1300" strike="noStrike" u="none">
              <a:solidFill>
                <a:srgbClr val="000000"/>
              </a:solidFill>
              <a:effectLst/>
              <a:uFillTx/>
              <a:latin typeface="Arial"/>
            </a:endParaRPr>
          </a:p>
        </p:txBody>
      </p:sp>
      <p:sp>
        <p:nvSpPr>
          <p:cNvPr id="374" name="Rounded Rectangle 12"/>
          <p:cNvSpPr/>
          <p:nvPr/>
        </p:nvSpPr>
        <p:spPr>
          <a:xfrm>
            <a:off x="8458200" y="1920240"/>
            <a:ext cx="2925720" cy="210276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75" name="Rectangle 13"/>
          <p:cNvSpPr/>
          <p:nvPr/>
        </p:nvSpPr>
        <p:spPr>
          <a:xfrm>
            <a:off x="8458200" y="1920240"/>
            <a:ext cx="63720" cy="210276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76" name="TextBox 14"/>
          <p:cNvSpPr/>
          <p:nvPr/>
        </p:nvSpPr>
        <p:spPr>
          <a:xfrm>
            <a:off x="8659440" y="2057400"/>
            <a:ext cx="25599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Rechenzentrum</a:t>
            </a:r>
            <a:endParaRPr b="0" lang="en-US" sz="1500" strike="noStrike" u="none">
              <a:solidFill>
                <a:srgbClr val="000000"/>
              </a:solidFill>
              <a:effectLst/>
              <a:uFillTx/>
              <a:latin typeface="Arial"/>
            </a:endParaRPr>
          </a:p>
        </p:txBody>
      </p:sp>
      <p:sp>
        <p:nvSpPr>
          <p:cNvPr id="377" name="TextBox 15"/>
          <p:cNvSpPr/>
          <p:nvPr/>
        </p:nvSpPr>
        <p:spPr>
          <a:xfrm>
            <a:off x="8659440" y="2514600"/>
            <a:ext cx="2559960" cy="1389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Rechenleistung · Speicher</a:t>
            </a:r>
            <a:br>
              <a:rPr sz="1300"/>
            </a:br>
            <a:r>
              <a:rPr b="0" lang="en-US" sz="1300" strike="noStrike" u="none">
                <a:solidFill>
                  <a:srgbClr val="465264"/>
                </a:solidFill>
                <a:effectLst/>
                <a:uFillTx/>
                <a:latin typeface="Calibri"/>
              </a:rPr>
              <a:t>Netzwerk · Dienste</a:t>
            </a:r>
            <a:endParaRPr b="0" lang="en-US" sz="1300" strike="noStrike" u="none">
              <a:solidFill>
                <a:srgbClr val="000000"/>
              </a:solidFill>
              <a:effectLst/>
              <a:uFillTx/>
              <a:latin typeface="Arial"/>
            </a:endParaRPr>
          </a:p>
        </p:txBody>
      </p:sp>
      <p:sp>
        <p:nvSpPr>
          <p:cNvPr id="378" name="TextBox 16"/>
          <p:cNvSpPr/>
          <p:nvPr/>
        </p:nvSpPr>
        <p:spPr>
          <a:xfrm>
            <a:off x="914400" y="4800600"/>
            <a:ext cx="10240920" cy="5940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800" strike="noStrike" u="none">
                <a:solidFill>
                  <a:srgbClr val="16263f"/>
                </a:solidFill>
                <a:effectLst/>
                <a:uFillTx/>
                <a:latin typeface="Calibri"/>
              </a:rPr>
              <a:t>Cloud = reale Infrastruktur, flexibel über Netze als Dienst bereitgestellt.</a:t>
            </a:r>
            <a:endParaRPr b="0" lang="en-US" sz="1800" strike="noStrike" u="none">
              <a:solidFill>
                <a:srgbClr val="000000"/>
              </a:solidFill>
              <a:effectLst/>
              <a:uFillTx/>
              <a:latin typeface="Arial"/>
            </a:endParaRPr>
          </a:p>
        </p:txBody>
      </p:sp>
      <p:sp>
        <p:nvSpPr>
          <p:cNvPr id="379" name="TextBox 17"/>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380" name="TextBox 18"/>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21</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81"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CLOUD</a:t>
            </a:r>
            <a:endParaRPr b="0" lang="en-US" sz="900" strike="noStrike" u="none">
              <a:solidFill>
                <a:srgbClr val="000000"/>
              </a:solidFill>
              <a:effectLst/>
              <a:uFillTx/>
              <a:latin typeface="Arial"/>
            </a:endParaRPr>
          </a:p>
        </p:txBody>
      </p:sp>
      <p:sp>
        <p:nvSpPr>
          <p:cNvPr id="382"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SaaS · PaaS · IaaS</a:t>
            </a:r>
            <a:endParaRPr b="0" lang="en-US" sz="2700" strike="noStrike" u="none">
              <a:solidFill>
                <a:srgbClr val="000000"/>
              </a:solidFill>
              <a:effectLst/>
              <a:uFillTx/>
              <a:latin typeface="Arial"/>
            </a:endParaRPr>
          </a:p>
        </p:txBody>
      </p:sp>
      <p:sp>
        <p:nvSpPr>
          <p:cNvPr id="383"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84" name="Rounded Rectangle 4"/>
          <p:cNvSpPr/>
          <p:nvPr/>
        </p:nvSpPr>
        <p:spPr>
          <a:xfrm>
            <a:off x="685800" y="1874520"/>
            <a:ext cx="3428640" cy="246852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85" name="Rectangle 5"/>
          <p:cNvSpPr/>
          <p:nvPr/>
        </p:nvSpPr>
        <p:spPr>
          <a:xfrm>
            <a:off x="685800" y="1874520"/>
            <a:ext cx="63720" cy="246852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86" name="TextBox 6"/>
          <p:cNvSpPr/>
          <p:nvPr/>
        </p:nvSpPr>
        <p:spPr>
          <a:xfrm>
            <a:off x="887040" y="2011680"/>
            <a:ext cx="30628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SaaS</a:t>
            </a:r>
            <a:endParaRPr b="0" lang="en-US" sz="1500" strike="noStrike" u="none">
              <a:solidFill>
                <a:srgbClr val="000000"/>
              </a:solidFill>
              <a:effectLst/>
              <a:uFillTx/>
              <a:latin typeface="Arial"/>
            </a:endParaRPr>
          </a:p>
        </p:txBody>
      </p:sp>
      <p:sp>
        <p:nvSpPr>
          <p:cNvPr id="387" name="TextBox 7"/>
          <p:cNvSpPr/>
          <p:nvPr/>
        </p:nvSpPr>
        <p:spPr>
          <a:xfrm>
            <a:off x="887040" y="2468880"/>
            <a:ext cx="3062880" cy="1755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Software as a Service</a:t>
            </a:r>
            <a:br>
              <a:rPr sz="1300"/>
            </a:br>
            <a:r>
              <a:rPr b="0" lang="en-US" sz="1300" strike="noStrike" u="none">
                <a:solidFill>
                  <a:srgbClr val="465264"/>
                </a:solidFill>
                <a:effectLst/>
                <a:uFillTx/>
                <a:latin typeface="Calibri"/>
              </a:rPr>
              <a:t>Fertige Anwendung nutzen</a:t>
            </a:r>
            <a:endParaRPr b="0" lang="en-US" sz="1300" strike="noStrike" u="none">
              <a:solidFill>
                <a:srgbClr val="000000"/>
              </a:solidFill>
              <a:effectLst/>
              <a:uFillTx/>
              <a:latin typeface="Arial"/>
            </a:endParaRPr>
          </a:p>
        </p:txBody>
      </p:sp>
      <p:sp>
        <p:nvSpPr>
          <p:cNvPr id="388" name="Rounded Rectangle 8"/>
          <p:cNvSpPr/>
          <p:nvPr/>
        </p:nvSpPr>
        <p:spPr>
          <a:xfrm>
            <a:off x="4526280" y="1874520"/>
            <a:ext cx="3428640" cy="246852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89" name="Rectangle 9"/>
          <p:cNvSpPr/>
          <p:nvPr/>
        </p:nvSpPr>
        <p:spPr>
          <a:xfrm>
            <a:off x="4526280" y="1874520"/>
            <a:ext cx="63720" cy="246852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90" name="TextBox 10"/>
          <p:cNvSpPr/>
          <p:nvPr/>
        </p:nvSpPr>
        <p:spPr>
          <a:xfrm>
            <a:off x="4727520" y="2011680"/>
            <a:ext cx="30628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PaaS</a:t>
            </a:r>
            <a:endParaRPr b="0" lang="en-US" sz="1500" strike="noStrike" u="none">
              <a:solidFill>
                <a:srgbClr val="000000"/>
              </a:solidFill>
              <a:effectLst/>
              <a:uFillTx/>
              <a:latin typeface="Arial"/>
            </a:endParaRPr>
          </a:p>
        </p:txBody>
      </p:sp>
      <p:sp>
        <p:nvSpPr>
          <p:cNvPr id="391" name="TextBox 11"/>
          <p:cNvSpPr/>
          <p:nvPr/>
        </p:nvSpPr>
        <p:spPr>
          <a:xfrm>
            <a:off x="4727520" y="2468880"/>
            <a:ext cx="3062880" cy="1755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Platform as a Service</a:t>
            </a:r>
            <a:br>
              <a:rPr sz="1300"/>
            </a:br>
            <a:r>
              <a:rPr b="0" lang="en-US" sz="1300" strike="noStrike" u="none">
                <a:solidFill>
                  <a:srgbClr val="465264"/>
                </a:solidFill>
                <a:effectLst/>
                <a:uFillTx/>
                <a:latin typeface="Calibri"/>
              </a:rPr>
              <a:t>Eigene App deployen</a:t>
            </a:r>
            <a:endParaRPr b="0" lang="en-US" sz="1300" strike="noStrike" u="none">
              <a:solidFill>
                <a:srgbClr val="000000"/>
              </a:solidFill>
              <a:effectLst/>
              <a:uFillTx/>
              <a:latin typeface="Arial"/>
            </a:endParaRPr>
          </a:p>
        </p:txBody>
      </p:sp>
      <p:sp>
        <p:nvSpPr>
          <p:cNvPr id="392" name="Rounded Rectangle 12"/>
          <p:cNvSpPr/>
          <p:nvPr/>
        </p:nvSpPr>
        <p:spPr>
          <a:xfrm>
            <a:off x="8366760" y="1874520"/>
            <a:ext cx="3428640" cy="246852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93" name="Rectangle 13"/>
          <p:cNvSpPr/>
          <p:nvPr/>
        </p:nvSpPr>
        <p:spPr>
          <a:xfrm>
            <a:off x="8366760" y="1874520"/>
            <a:ext cx="63720" cy="246852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94" name="TextBox 14"/>
          <p:cNvSpPr/>
          <p:nvPr/>
        </p:nvSpPr>
        <p:spPr>
          <a:xfrm>
            <a:off x="8568000" y="2011680"/>
            <a:ext cx="30628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IaaS</a:t>
            </a:r>
            <a:endParaRPr b="0" lang="en-US" sz="1500" strike="noStrike" u="none">
              <a:solidFill>
                <a:srgbClr val="000000"/>
              </a:solidFill>
              <a:effectLst/>
              <a:uFillTx/>
              <a:latin typeface="Arial"/>
            </a:endParaRPr>
          </a:p>
        </p:txBody>
      </p:sp>
      <p:sp>
        <p:nvSpPr>
          <p:cNvPr id="395" name="TextBox 15"/>
          <p:cNvSpPr/>
          <p:nvPr/>
        </p:nvSpPr>
        <p:spPr>
          <a:xfrm>
            <a:off x="8568000" y="2468880"/>
            <a:ext cx="3062880" cy="1755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Infrastructure as a Service</a:t>
            </a:r>
            <a:br>
              <a:rPr sz="1300"/>
            </a:br>
            <a:r>
              <a:rPr b="0" lang="en-US" sz="1300" strike="noStrike" u="none">
                <a:solidFill>
                  <a:srgbClr val="465264"/>
                </a:solidFill>
                <a:effectLst/>
                <a:uFillTx/>
                <a:latin typeface="Calibri"/>
              </a:rPr>
              <a:t>Virtuelle Infrastruktur nutzen</a:t>
            </a:r>
            <a:endParaRPr b="0" lang="en-US" sz="1300" strike="noStrike" u="none">
              <a:solidFill>
                <a:srgbClr val="000000"/>
              </a:solidFill>
              <a:effectLst/>
              <a:uFillTx/>
              <a:latin typeface="Arial"/>
            </a:endParaRPr>
          </a:p>
        </p:txBody>
      </p:sp>
      <p:sp>
        <p:nvSpPr>
          <p:cNvPr id="396" name="TextBox 16"/>
          <p:cNvSpPr/>
          <p:nvPr/>
        </p:nvSpPr>
        <p:spPr>
          <a:xfrm>
            <a:off x="914400" y="4800600"/>
            <a:ext cx="10240920" cy="63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600" strike="noStrike" u="none">
                <a:solidFill>
                  <a:srgbClr val="be6414"/>
                </a:solidFill>
                <a:effectLst/>
                <a:uFillTx/>
                <a:latin typeface="Calibri"/>
              </a:rPr>
              <a:t>Je mehr selbst betrieben wird, desto mehr technische Verantwortung liegt typischerweise beim Kunden.</a:t>
            </a:r>
            <a:endParaRPr b="0" lang="en-US" sz="1600" strike="noStrike" u="none">
              <a:solidFill>
                <a:srgbClr val="000000"/>
              </a:solidFill>
              <a:effectLst/>
              <a:uFillTx/>
              <a:latin typeface="Arial"/>
            </a:endParaRPr>
          </a:p>
        </p:txBody>
      </p:sp>
      <p:sp>
        <p:nvSpPr>
          <p:cNvPr id="397" name="TextBox 17"/>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398" name="TextBox 18"/>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22</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99"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CLOUD &amp; VERANTWORTUNG</a:t>
            </a:r>
            <a:endParaRPr b="0" lang="en-US" sz="900" strike="noStrike" u="none">
              <a:solidFill>
                <a:srgbClr val="000000"/>
              </a:solidFill>
              <a:effectLst/>
              <a:uFillTx/>
              <a:latin typeface="Arial"/>
            </a:endParaRPr>
          </a:p>
        </p:txBody>
      </p:sp>
      <p:sp>
        <p:nvSpPr>
          <p:cNvPr id="400"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Shared Responsibility</a:t>
            </a:r>
            <a:endParaRPr b="0" lang="en-US" sz="2700" strike="noStrike" u="none">
              <a:solidFill>
                <a:srgbClr val="000000"/>
              </a:solidFill>
              <a:effectLst/>
              <a:uFillTx/>
              <a:latin typeface="Arial"/>
            </a:endParaRPr>
          </a:p>
        </p:txBody>
      </p:sp>
      <p:sp>
        <p:nvSpPr>
          <p:cNvPr id="401"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02" name="TextBox 4"/>
          <p:cNvSpPr/>
          <p:nvPr/>
        </p:nvSpPr>
        <p:spPr>
          <a:xfrm>
            <a:off x="914400" y="1737360"/>
            <a:ext cx="10332360" cy="5940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200" strike="noStrike" u="none">
                <a:solidFill>
                  <a:srgbClr val="16263f"/>
                </a:solidFill>
                <a:effectLst/>
                <a:uFillTx/>
                <a:latin typeface="Calibri"/>
              </a:rPr>
              <a:t>„Der Cloudanbieter kümmert sich um die Sicherheit.“</a:t>
            </a:r>
            <a:endParaRPr b="0" lang="en-US" sz="2200" strike="noStrike" u="none">
              <a:solidFill>
                <a:srgbClr val="000000"/>
              </a:solidFill>
              <a:effectLst/>
              <a:uFillTx/>
              <a:latin typeface="Arial"/>
            </a:endParaRPr>
          </a:p>
        </p:txBody>
      </p:sp>
      <p:sp>
        <p:nvSpPr>
          <p:cNvPr id="403" name="TextBox 5"/>
          <p:cNvSpPr/>
          <p:nvPr/>
        </p:nvSpPr>
        <p:spPr>
          <a:xfrm>
            <a:off x="4206240" y="2560320"/>
            <a:ext cx="3748680" cy="63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500" strike="noStrike" u="none">
                <a:solidFill>
                  <a:srgbClr val="b42828"/>
                </a:solidFill>
                <a:effectLst/>
                <a:uFillTx/>
                <a:latin typeface="Calibri"/>
              </a:rPr>
              <a:t>ZU EINFACH</a:t>
            </a:r>
            <a:endParaRPr b="0" lang="en-US" sz="2500" strike="noStrike" u="none">
              <a:solidFill>
                <a:srgbClr val="000000"/>
              </a:solidFill>
              <a:effectLst/>
              <a:uFillTx/>
              <a:latin typeface="Arial"/>
            </a:endParaRPr>
          </a:p>
        </p:txBody>
      </p:sp>
      <p:sp>
        <p:nvSpPr>
          <p:cNvPr id="404" name="TextBox 6"/>
          <p:cNvSpPr/>
          <p:nvPr/>
        </p:nvSpPr>
        <p:spPr>
          <a:xfrm>
            <a:off x="1280160" y="3566160"/>
            <a:ext cx="9692280" cy="182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800" strike="noStrike" u="none">
                <a:solidFill>
                  <a:srgbClr val="465264"/>
                </a:solidFill>
                <a:effectLst/>
                <a:uFillTx/>
                <a:latin typeface="Calibri"/>
              </a:rPr>
              <a:t>• Rechenzentrum · Hardware · Netzwerk</a:t>
            </a:r>
            <a:endParaRPr b="0" lang="en-US" sz="1800" strike="noStrike" u="none">
              <a:solidFill>
                <a:srgbClr val="000000"/>
              </a:solidFill>
              <a:effectLst/>
              <a:uFillTx/>
              <a:latin typeface="Arial"/>
            </a:endParaRPr>
          </a:p>
          <a:p>
            <a:pPr defTabSz="457200">
              <a:lnSpc>
                <a:spcPct val="100000"/>
              </a:lnSpc>
              <a:spcAft>
                <a:spcPts val="799"/>
              </a:spcAft>
            </a:pPr>
            <a:r>
              <a:rPr b="0" lang="en-US" sz="1800" strike="noStrike" u="none">
                <a:solidFill>
                  <a:srgbClr val="465264"/>
                </a:solidFill>
                <a:effectLst/>
                <a:uFillTx/>
                <a:latin typeface="Calibri"/>
              </a:rPr>
              <a:t>• Betriebssystem · Plattform · Anwendung</a:t>
            </a:r>
            <a:endParaRPr b="0" lang="en-US" sz="1800" strike="noStrike" u="none">
              <a:solidFill>
                <a:srgbClr val="000000"/>
              </a:solidFill>
              <a:effectLst/>
              <a:uFillTx/>
              <a:latin typeface="Arial"/>
            </a:endParaRPr>
          </a:p>
          <a:p>
            <a:pPr defTabSz="457200">
              <a:lnSpc>
                <a:spcPct val="100000"/>
              </a:lnSpc>
              <a:spcAft>
                <a:spcPts val="799"/>
              </a:spcAft>
            </a:pPr>
            <a:r>
              <a:rPr b="0" lang="en-US" sz="1800" strike="noStrike" u="none">
                <a:solidFill>
                  <a:srgbClr val="465264"/>
                </a:solidFill>
                <a:effectLst/>
                <a:uFillTx/>
                <a:latin typeface="Calibri"/>
              </a:rPr>
              <a:t>• Konfiguration · Konten · Rollen · Daten</a:t>
            </a:r>
            <a:endParaRPr b="0" lang="en-US" sz="1800" strike="noStrike" u="none">
              <a:solidFill>
                <a:srgbClr val="000000"/>
              </a:solidFill>
              <a:effectLst/>
              <a:uFillTx/>
              <a:latin typeface="Arial"/>
            </a:endParaRPr>
          </a:p>
        </p:txBody>
      </p:sp>
      <p:sp>
        <p:nvSpPr>
          <p:cNvPr id="405" name="TextBox 7"/>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406" name="TextBox 8"/>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23</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407"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PERSPEKTIVWECHSEL</a:t>
            </a:r>
            <a:endParaRPr b="0" lang="en-US" sz="900" strike="noStrike" u="none">
              <a:solidFill>
                <a:srgbClr val="000000"/>
              </a:solidFill>
              <a:effectLst/>
              <a:uFillTx/>
              <a:latin typeface="Arial"/>
            </a:endParaRPr>
          </a:p>
        </p:txBody>
      </p:sp>
      <p:sp>
        <p:nvSpPr>
          <p:cNvPr id="408"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Unsere Anwendung funktioniert. Ist sie damit gut?</a:t>
            </a:r>
            <a:endParaRPr b="0" lang="en-US" sz="2700" strike="noStrike" u="none">
              <a:solidFill>
                <a:srgbClr val="000000"/>
              </a:solidFill>
              <a:effectLst/>
              <a:uFillTx/>
              <a:latin typeface="Arial"/>
            </a:endParaRPr>
          </a:p>
        </p:txBody>
      </p:sp>
      <p:sp>
        <p:nvSpPr>
          <p:cNvPr id="409"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10" name="TextBox 4"/>
          <p:cNvSpPr/>
          <p:nvPr/>
        </p:nvSpPr>
        <p:spPr>
          <a:xfrm>
            <a:off x="822960" y="1691640"/>
            <a:ext cx="10515240" cy="4388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100" strike="noStrike" u="none">
                <a:solidFill>
                  <a:srgbClr val="465264"/>
                </a:solidFill>
                <a:effectLst/>
                <a:uFillTx/>
                <a:latin typeface="Calibri"/>
              </a:rPr>
              <a:t>• Funktionalität</a:t>
            </a:r>
            <a:endParaRPr b="0" lang="en-US" sz="2100" strike="noStrike" u="none">
              <a:solidFill>
                <a:srgbClr val="000000"/>
              </a:solidFill>
              <a:effectLst/>
              <a:uFillTx/>
              <a:latin typeface="Arial"/>
            </a:endParaRPr>
          </a:p>
          <a:p>
            <a:pPr defTabSz="457200">
              <a:lnSpc>
                <a:spcPct val="100000"/>
              </a:lnSpc>
              <a:spcAft>
                <a:spcPts val="799"/>
              </a:spcAft>
            </a:pPr>
            <a:r>
              <a:rPr b="0" lang="en-US" sz="2100" strike="noStrike" u="none">
                <a:solidFill>
                  <a:srgbClr val="465264"/>
                </a:solidFill>
                <a:effectLst/>
                <a:uFillTx/>
                <a:latin typeface="Calibri"/>
              </a:rPr>
              <a:t>• Sicherheit</a:t>
            </a:r>
            <a:endParaRPr b="0" lang="en-US" sz="2100" strike="noStrike" u="none">
              <a:solidFill>
                <a:srgbClr val="000000"/>
              </a:solidFill>
              <a:effectLst/>
              <a:uFillTx/>
              <a:latin typeface="Arial"/>
            </a:endParaRPr>
          </a:p>
          <a:p>
            <a:pPr defTabSz="457200">
              <a:lnSpc>
                <a:spcPct val="100000"/>
              </a:lnSpc>
              <a:spcAft>
                <a:spcPts val="799"/>
              </a:spcAft>
            </a:pPr>
            <a:r>
              <a:rPr b="0" lang="en-US" sz="2100" strike="noStrike" u="none">
                <a:solidFill>
                  <a:srgbClr val="465264"/>
                </a:solidFill>
                <a:effectLst/>
                <a:uFillTx/>
                <a:latin typeface="Calibri"/>
              </a:rPr>
              <a:t>• Datenschutz</a:t>
            </a:r>
            <a:endParaRPr b="0" lang="en-US" sz="2100" strike="noStrike" u="none">
              <a:solidFill>
                <a:srgbClr val="000000"/>
              </a:solidFill>
              <a:effectLst/>
              <a:uFillTx/>
              <a:latin typeface="Arial"/>
            </a:endParaRPr>
          </a:p>
          <a:p>
            <a:pPr defTabSz="457200">
              <a:lnSpc>
                <a:spcPct val="100000"/>
              </a:lnSpc>
              <a:spcAft>
                <a:spcPts val="799"/>
              </a:spcAft>
            </a:pPr>
            <a:r>
              <a:rPr b="0" lang="en-US" sz="2100" strike="noStrike" u="none">
                <a:solidFill>
                  <a:srgbClr val="465264"/>
                </a:solidFill>
                <a:effectLst/>
                <a:uFillTx/>
                <a:latin typeface="Calibri"/>
              </a:rPr>
              <a:t>• Zuverlässigkeit</a:t>
            </a:r>
            <a:endParaRPr b="0" lang="en-US" sz="2100" strike="noStrike" u="none">
              <a:solidFill>
                <a:srgbClr val="000000"/>
              </a:solidFill>
              <a:effectLst/>
              <a:uFillTx/>
              <a:latin typeface="Arial"/>
            </a:endParaRPr>
          </a:p>
          <a:p>
            <a:pPr defTabSz="457200">
              <a:lnSpc>
                <a:spcPct val="100000"/>
              </a:lnSpc>
              <a:spcAft>
                <a:spcPts val="799"/>
              </a:spcAft>
            </a:pPr>
            <a:r>
              <a:rPr b="0" lang="en-US" sz="2100" strike="noStrike" u="none">
                <a:solidFill>
                  <a:srgbClr val="465264"/>
                </a:solidFill>
                <a:effectLst/>
                <a:uFillTx/>
                <a:latin typeface="Calibri"/>
              </a:rPr>
              <a:t>• Wartbarkeit</a:t>
            </a:r>
            <a:endParaRPr b="0" lang="en-US" sz="2100" strike="noStrike" u="none">
              <a:solidFill>
                <a:srgbClr val="000000"/>
              </a:solidFill>
              <a:effectLst/>
              <a:uFillTx/>
              <a:latin typeface="Arial"/>
            </a:endParaRPr>
          </a:p>
          <a:p>
            <a:pPr defTabSz="457200">
              <a:lnSpc>
                <a:spcPct val="100000"/>
              </a:lnSpc>
              <a:spcAft>
                <a:spcPts val="799"/>
              </a:spcAft>
            </a:pPr>
            <a:r>
              <a:rPr b="0" lang="en-US" sz="2100" strike="noStrike" u="none">
                <a:solidFill>
                  <a:srgbClr val="465264"/>
                </a:solidFill>
                <a:effectLst/>
                <a:uFillTx/>
                <a:latin typeface="Calibri"/>
              </a:rPr>
              <a:t>• verantwortungsvoller Betrieb</a:t>
            </a:r>
            <a:endParaRPr b="0" lang="en-US" sz="2100" strike="noStrike" u="none">
              <a:solidFill>
                <a:srgbClr val="000000"/>
              </a:solidFill>
              <a:effectLst/>
              <a:uFillTx/>
              <a:latin typeface="Arial"/>
            </a:endParaRPr>
          </a:p>
        </p:txBody>
      </p:sp>
      <p:sp>
        <p:nvSpPr>
          <p:cNvPr id="411" name="TextBox 5"/>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412" name="TextBox 6"/>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24</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413"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SECURITY</a:t>
            </a:r>
            <a:endParaRPr b="0" lang="en-US" sz="900" strike="noStrike" u="none">
              <a:solidFill>
                <a:srgbClr val="000000"/>
              </a:solidFill>
              <a:effectLst/>
              <a:uFillTx/>
              <a:latin typeface="Arial"/>
            </a:endParaRPr>
          </a:p>
        </p:txBody>
      </p:sp>
      <p:sp>
        <p:nvSpPr>
          <p:cNvPr id="414"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IT-Security: CIA-Schutzziele</a:t>
            </a:r>
            <a:endParaRPr b="0" lang="en-US" sz="2700" strike="noStrike" u="none">
              <a:solidFill>
                <a:srgbClr val="000000"/>
              </a:solidFill>
              <a:effectLst/>
              <a:uFillTx/>
              <a:latin typeface="Arial"/>
            </a:endParaRPr>
          </a:p>
        </p:txBody>
      </p:sp>
      <p:sp>
        <p:nvSpPr>
          <p:cNvPr id="415"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16" name="Rounded Rectangle 4"/>
          <p:cNvSpPr/>
          <p:nvPr/>
        </p:nvSpPr>
        <p:spPr>
          <a:xfrm>
            <a:off x="914400" y="1874520"/>
            <a:ext cx="3154320" cy="214848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17" name="Rectangle 5"/>
          <p:cNvSpPr/>
          <p:nvPr/>
        </p:nvSpPr>
        <p:spPr>
          <a:xfrm>
            <a:off x="914400" y="1874520"/>
            <a:ext cx="63720" cy="21484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18" name="TextBox 6"/>
          <p:cNvSpPr/>
          <p:nvPr/>
        </p:nvSpPr>
        <p:spPr>
          <a:xfrm>
            <a:off x="1115640" y="2011680"/>
            <a:ext cx="27885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C</a:t>
            </a:r>
            <a:endParaRPr b="0" lang="en-US" sz="1500" strike="noStrike" u="none">
              <a:solidFill>
                <a:srgbClr val="000000"/>
              </a:solidFill>
              <a:effectLst/>
              <a:uFillTx/>
              <a:latin typeface="Arial"/>
            </a:endParaRPr>
          </a:p>
        </p:txBody>
      </p:sp>
      <p:sp>
        <p:nvSpPr>
          <p:cNvPr id="419" name="TextBox 7"/>
          <p:cNvSpPr/>
          <p:nvPr/>
        </p:nvSpPr>
        <p:spPr>
          <a:xfrm>
            <a:off x="1115640" y="2468880"/>
            <a:ext cx="2788560" cy="1435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Confidentiality</a:t>
            </a:r>
            <a:br>
              <a:rPr sz="1300"/>
            </a:br>
            <a:r>
              <a:rPr b="0" lang="en-US" sz="1300" strike="noStrike" u="none">
                <a:solidFill>
                  <a:srgbClr val="465264"/>
                </a:solidFill>
                <a:effectLst/>
                <a:uFillTx/>
                <a:latin typeface="Calibri"/>
              </a:rPr>
              <a:t>Vertraulichkeit</a:t>
            </a:r>
            <a:endParaRPr b="0" lang="en-US" sz="1300" strike="noStrike" u="none">
              <a:solidFill>
                <a:srgbClr val="000000"/>
              </a:solidFill>
              <a:effectLst/>
              <a:uFillTx/>
              <a:latin typeface="Arial"/>
            </a:endParaRPr>
          </a:p>
        </p:txBody>
      </p:sp>
      <p:sp>
        <p:nvSpPr>
          <p:cNvPr id="420" name="Rounded Rectangle 8"/>
          <p:cNvSpPr/>
          <p:nvPr/>
        </p:nvSpPr>
        <p:spPr>
          <a:xfrm>
            <a:off x="4617720" y="1874520"/>
            <a:ext cx="3154320" cy="214848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21" name="Rectangle 9"/>
          <p:cNvSpPr/>
          <p:nvPr/>
        </p:nvSpPr>
        <p:spPr>
          <a:xfrm>
            <a:off x="4617720" y="1874520"/>
            <a:ext cx="63720" cy="214848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22" name="TextBox 10"/>
          <p:cNvSpPr/>
          <p:nvPr/>
        </p:nvSpPr>
        <p:spPr>
          <a:xfrm>
            <a:off x="4818960" y="2011680"/>
            <a:ext cx="27885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I</a:t>
            </a:r>
            <a:endParaRPr b="0" lang="en-US" sz="1500" strike="noStrike" u="none">
              <a:solidFill>
                <a:srgbClr val="000000"/>
              </a:solidFill>
              <a:effectLst/>
              <a:uFillTx/>
              <a:latin typeface="Arial"/>
            </a:endParaRPr>
          </a:p>
        </p:txBody>
      </p:sp>
      <p:sp>
        <p:nvSpPr>
          <p:cNvPr id="423" name="TextBox 11"/>
          <p:cNvSpPr/>
          <p:nvPr/>
        </p:nvSpPr>
        <p:spPr>
          <a:xfrm>
            <a:off x="4818960" y="2468880"/>
            <a:ext cx="2788560" cy="1435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Integrity</a:t>
            </a:r>
            <a:br>
              <a:rPr sz="1300"/>
            </a:br>
            <a:r>
              <a:rPr b="0" lang="en-US" sz="1300" strike="noStrike" u="none">
                <a:solidFill>
                  <a:srgbClr val="465264"/>
                </a:solidFill>
                <a:effectLst/>
                <a:uFillTx/>
                <a:latin typeface="Calibri"/>
              </a:rPr>
              <a:t>Integrität</a:t>
            </a:r>
            <a:endParaRPr b="0" lang="en-US" sz="1300" strike="noStrike" u="none">
              <a:solidFill>
                <a:srgbClr val="000000"/>
              </a:solidFill>
              <a:effectLst/>
              <a:uFillTx/>
              <a:latin typeface="Arial"/>
            </a:endParaRPr>
          </a:p>
        </p:txBody>
      </p:sp>
      <p:sp>
        <p:nvSpPr>
          <p:cNvPr id="424" name="Rounded Rectangle 12"/>
          <p:cNvSpPr/>
          <p:nvPr/>
        </p:nvSpPr>
        <p:spPr>
          <a:xfrm>
            <a:off x="8321040" y="1874520"/>
            <a:ext cx="3154320" cy="214848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25" name="Rectangle 13"/>
          <p:cNvSpPr/>
          <p:nvPr/>
        </p:nvSpPr>
        <p:spPr>
          <a:xfrm>
            <a:off x="8321040" y="1874520"/>
            <a:ext cx="63720" cy="214848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26" name="TextBox 14"/>
          <p:cNvSpPr/>
          <p:nvPr/>
        </p:nvSpPr>
        <p:spPr>
          <a:xfrm>
            <a:off x="8522280" y="2011680"/>
            <a:ext cx="27885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A</a:t>
            </a:r>
            <a:endParaRPr b="0" lang="en-US" sz="1500" strike="noStrike" u="none">
              <a:solidFill>
                <a:srgbClr val="000000"/>
              </a:solidFill>
              <a:effectLst/>
              <a:uFillTx/>
              <a:latin typeface="Arial"/>
            </a:endParaRPr>
          </a:p>
        </p:txBody>
      </p:sp>
      <p:sp>
        <p:nvSpPr>
          <p:cNvPr id="427" name="TextBox 15"/>
          <p:cNvSpPr/>
          <p:nvPr/>
        </p:nvSpPr>
        <p:spPr>
          <a:xfrm>
            <a:off x="8522280" y="2468880"/>
            <a:ext cx="2788560" cy="1435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Availability</a:t>
            </a:r>
            <a:br>
              <a:rPr sz="1300"/>
            </a:br>
            <a:r>
              <a:rPr b="0" lang="en-US" sz="1300" strike="noStrike" u="none">
                <a:solidFill>
                  <a:srgbClr val="465264"/>
                </a:solidFill>
                <a:effectLst/>
                <a:uFillTx/>
                <a:latin typeface="Calibri"/>
              </a:rPr>
              <a:t>Verfügbarkeit</a:t>
            </a:r>
            <a:endParaRPr b="0" lang="en-US" sz="1300" strike="noStrike" u="none">
              <a:solidFill>
                <a:srgbClr val="000000"/>
              </a:solidFill>
              <a:effectLst/>
              <a:uFillTx/>
              <a:latin typeface="Arial"/>
            </a:endParaRPr>
          </a:p>
        </p:txBody>
      </p:sp>
      <p:sp>
        <p:nvSpPr>
          <p:cNvPr id="428" name="TextBox 16"/>
          <p:cNvSpPr/>
          <p:nvPr/>
        </p:nvSpPr>
        <p:spPr>
          <a:xfrm>
            <a:off x="914400" y="4709160"/>
            <a:ext cx="10240920" cy="548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700" strike="noStrike" u="none">
                <a:solidFill>
                  <a:srgbClr val="16263f"/>
                </a:solidFill>
                <a:effectLst/>
                <a:uFillTx/>
                <a:latin typeface="Calibri"/>
              </a:rPr>
              <a:t>Lesen fremder Daten · Manipulation der Workshopwahl · Ausfall der Anmeldung</a:t>
            </a:r>
            <a:endParaRPr b="0" lang="en-US" sz="1700" strike="noStrike" u="none">
              <a:solidFill>
                <a:srgbClr val="000000"/>
              </a:solidFill>
              <a:effectLst/>
              <a:uFillTx/>
              <a:latin typeface="Arial"/>
            </a:endParaRPr>
          </a:p>
        </p:txBody>
      </p:sp>
      <p:sp>
        <p:nvSpPr>
          <p:cNvPr id="429" name="TextBox 17"/>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430" name="TextBox 18"/>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25</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431"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SECURITY</a:t>
            </a:r>
            <a:endParaRPr b="0" lang="en-US" sz="900" strike="noStrike" u="none">
              <a:solidFill>
                <a:srgbClr val="000000"/>
              </a:solidFill>
              <a:effectLst/>
              <a:uFillTx/>
              <a:latin typeface="Arial"/>
            </a:endParaRPr>
          </a:p>
        </p:txBody>
      </p:sp>
      <p:sp>
        <p:nvSpPr>
          <p:cNvPr id="432"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Angriffsfläche</a:t>
            </a:r>
            <a:endParaRPr b="0" lang="en-US" sz="2700" strike="noStrike" u="none">
              <a:solidFill>
                <a:srgbClr val="000000"/>
              </a:solidFill>
              <a:effectLst/>
              <a:uFillTx/>
              <a:latin typeface="Arial"/>
            </a:endParaRPr>
          </a:p>
        </p:txBody>
      </p:sp>
      <p:sp>
        <p:nvSpPr>
          <p:cNvPr id="433"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34" name="Rounded Rectangle 4"/>
          <p:cNvSpPr/>
          <p:nvPr/>
        </p:nvSpPr>
        <p:spPr>
          <a:xfrm>
            <a:off x="411480" y="2240280"/>
            <a:ext cx="1599840" cy="109692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35" name="Rectangle 5"/>
          <p:cNvSpPr/>
          <p:nvPr/>
        </p:nvSpPr>
        <p:spPr>
          <a:xfrm>
            <a:off x="411480" y="2240280"/>
            <a:ext cx="63720" cy="1096920"/>
          </a:xfrm>
          <a:prstGeom prst="rect">
            <a:avLst/>
          </a:prstGeom>
          <a:solidFill>
            <a:srgbClr val="be641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36" name="TextBox 6"/>
          <p:cNvSpPr/>
          <p:nvPr/>
        </p:nvSpPr>
        <p:spPr>
          <a:xfrm>
            <a:off x="612720" y="2377440"/>
            <a:ext cx="1234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Mensch</a:t>
            </a:r>
            <a:endParaRPr b="0" lang="en-US" sz="1500" strike="noStrike" u="none">
              <a:solidFill>
                <a:srgbClr val="000000"/>
              </a:solidFill>
              <a:effectLst/>
              <a:uFillTx/>
              <a:latin typeface="Arial"/>
            </a:endParaRPr>
          </a:p>
        </p:txBody>
      </p:sp>
      <p:sp>
        <p:nvSpPr>
          <p:cNvPr id="437" name="TextBox 7"/>
          <p:cNvSpPr/>
          <p:nvPr/>
        </p:nvSpPr>
        <p:spPr>
          <a:xfrm>
            <a:off x="612720" y="2834640"/>
            <a:ext cx="1234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300" strike="noStrike" u="none">
              <a:solidFill>
                <a:srgbClr val="465264"/>
              </a:solidFill>
              <a:effectLst/>
              <a:uFillTx/>
              <a:latin typeface="Calibri"/>
            </a:endParaRPr>
          </a:p>
        </p:txBody>
      </p:sp>
      <p:sp>
        <p:nvSpPr>
          <p:cNvPr id="438" name="Rounded Rectangle 8"/>
          <p:cNvSpPr/>
          <p:nvPr/>
        </p:nvSpPr>
        <p:spPr>
          <a:xfrm>
            <a:off x="2331720" y="2240280"/>
            <a:ext cx="1599840" cy="109692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39" name="Rectangle 9"/>
          <p:cNvSpPr/>
          <p:nvPr/>
        </p:nvSpPr>
        <p:spPr>
          <a:xfrm>
            <a:off x="2331720" y="2240280"/>
            <a:ext cx="63720" cy="109692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40" name="TextBox 10"/>
          <p:cNvSpPr/>
          <p:nvPr/>
        </p:nvSpPr>
        <p:spPr>
          <a:xfrm>
            <a:off x="2532960" y="2377440"/>
            <a:ext cx="1234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Browser</a:t>
            </a:r>
            <a:endParaRPr b="0" lang="en-US" sz="1500" strike="noStrike" u="none">
              <a:solidFill>
                <a:srgbClr val="000000"/>
              </a:solidFill>
              <a:effectLst/>
              <a:uFillTx/>
              <a:latin typeface="Arial"/>
            </a:endParaRPr>
          </a:p>
        </p:txBody>
      </p:sp>
      <p:sp>
        <p:nvSpPr>
          <p:cNvPr id="441" name="TextBox 11"/>
          <p:cNvSpPr/>
          <p:nvPr/>
        </p:nvSpPr>
        <p:spPr>
          <a:xfrm>
            <a:off x="2532960" y="2834640"/>
            <a:ext cx="1234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300" strike="noStrike" u="none">
              <a:solidFill>
                <a:srgbClr val="465264"/>
              </a:solidFill>
              <a:effectLst/>
              <a:uFillTx/>
              <a:latin typeface="Calibri"/>
            </a:endParaRPr>
          </a:p>
        </p:txBody>
      </p:sp>
      <p:sp>
        <p:nvSpPr>
          <p:cNvPr id="442" name="Rounded Rectangle 12"/>
          <p:cNvSpPr/>
          <p:nvPr/>
        </p:nvSpPr>
        <p:spPr>
          <a:xfrm>
            <a:off x="4251960" y="2240280"/>
            <a:ext cx="1599840" cy="109692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43" name="Rectangle 13"/>
          <p:cNvSpPr/>
          <p:nvPr/>
        </p:nvSpPr>
        <p:spPr>
          <a:xfrm>
            <a:off x="4251960" y="2240280"/>
            <a:ext cx="63720" cy="109692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44" name="TextBox 14"/>
          <p:cNvSpPr/>
          <p:nvPr/>
        </p:nvSpPr>
        <p:spPr>
          <a:xfrm>
            <a:off x="4453200" y="2377440"/>
            <a:ext cx="1234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Netzwerk</a:t>
            </a:r>
            <a:endParaRPr b="0" lang="en-US" sz="1500" strike="noStrike" u="none">
              <a:solidFill>
                <a:srgbClr val="000000"/>
              </a:solidFill>
              <a:effectLst/>
              <a:uFillTx/>
              <a:latin typeface="Arial"/>
            </a:endParaRPr>
          </a:p>
        </p:txBody>
      </p:sp>
      <p:sp>
        <p:nvSpPr>
          <p:cNvPr id="445" name="TextBox 15"/>
          <p:cNvSpPr/>
          <p:nvPr/>
        </p:nvSpPr>
        <p:spPr>
          <a:xfrm>
            <a:off x="4453200" y="2834640"/>
            <a:ext cx="1234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300" strike="noStrike" u="none">
              <a:solidFill>
                <a:srgbClr val="465264"/>
              </a:solidFill>
              <a:effectLst/>
              <a:uFillTx/>
              <a:latin typeface="Calibri"/>
            </a:endParaRPr>
          </a:p>
        </p:txBody>
      </p:sp>
      <p:sp>
        <p:nvSpPr>
          <p:cNvPr id="446" name="Rounded Rectangle 16"/>
          <p:cNvSpPr/>
          <p:nvPr/>
        </p:nvSpPr>
        <p:spPr>
          <a:xfrm>
            <a:off x="6172200" y="2240280"/>
            <a:ext cx="1599840" cy="109692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47" name="Rectangle 17"/>
          <p:cNvSpPr/>
          <p:nvPr/>
        </p:nvSpPr>
        <p:spPr>
          <a:xfrm>
            <a:off x="6172200" y="2240280"/>
            <a:ext cx="63720" cy="109692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48" name="TextBox 18"/>
          <p:cNvSpPr/>
          <p:nvPr/>
        </p:nvSpPr>
        <p:spPr>
          <a:xfrm>
            <a:off x="6373440" y="2377440"/>
            <a:ext cx="1234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Frontend</a:t>
            </a:r>
            <a:endParaRPr b="0" lang="en-US" sz="1500" strike="noStrike" u="none">
              <a:solidFill>
                <a:srgbClr val="000000"/>
              </a:solidFill>
              <a:effectLst/>
              <a:uFillTx/>
              <a:latin typeface="Arial"/>
            </a:endParaRPr>
          </a:p>
        </p:txBody>
      </p:sp>
      <p:sp>
        <p:nvSpPr>
          <p:cNvPr id="449" name="TextBox 19"/>
          <p:cNvSpPr/>
          <p:nvPr/>
        </p:nvSpPr>
        <p:spPr>
          <a:xfrm>
            <a:off x="6373440" y="2834640"/>
            <a:ext cx="1234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300" strike="noStrike" u="none">
              <a:solidFill>
                <a:srgbClr val="465264"/>
              </a:solidFill>
              <a:effectLst/>
              <a:uFillTx/>
              <a:latin typeface="Calibri"/>
            </a:endParaRPr>
          </a:p>
        </p:txBody>
      </p:sp>
      <p:sp>
        <p:nvSpPr>
          <p:cNvPr id="450" name="Rounded Rectangle 20"/>
          <p:cNvSpPr/>
          <p:nvPr/>
        </p:nvSpPr>
        <p:spPr>
          <a:xfrm>
            <a:off x="8092440" y="2240280"/>
            <a:ext cx="1599840" cy="109692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51" name="Rectangle 21"/>
          <p:cNvSpPr/>
          <p:nvPr/>
        </p:nvSpPr>
        <p:spPr>
          <a:xfrm>
            <a:off x="8092440" y="2240280"/>
            <a:ext cx="63720" cy="109692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52" name="TextBox 22"/>
          <p:cNvSpPr/>
          <p:nvPr/>
        </p:nvSpPr>
        <p:spPr>
          <a:xfrm>
            <a:off x="8293680" y="2377440"/>
            <a:ext cx="1234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Backend/API</a:t>
            </a:r>
            <a:endParaRPr b="0" lang="en-US" sz="1500" strike="noStrike" u="none">
              <a:solidFill>
                <a:srgbClr val="000000"/>
              </a:solidFill>
              <a:effectLst/>
              <a:uFillTx/>
              <a:latin typeface="Arial"/>
            </a:endParaRPr>
          </a:p>
        </p:txBody>
      </p:sp>
      <p:sp>
        <p:nvSpPr>
          <p:cNvPr id="453" name="TextBox 23"/>
          <p:cNvSpPr/>
          <p:nvPr/>
        </p:nvSpPr>
        <p:spPr>
          <a:xfrm>
            <a:off x="8293680" y="2834640"/>
            <a:ext cx="1234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300" strike="noStrike" u="none">
              <a:solidFill>
                <a:srgbClr val="465264"/>
              </a:solidFill>
              <a:effectLst/>
              <a:uFillTx/>
              <a:latin typeface="Calibri"/>
            </a:endParaRPr>
          </a:p>
        </p:txBody>
      </p:sp>
      <p:sp>
        <p:nvSpPr>
          <p:cNvPr id="454" name="Rounded Rectangle 24"/>
          <p:cNvSpPr/>
          <p:nvPr/>
        </p:nvSpPr>
        <p:spPr>
          <a:xfrm>
            <a:off x="10012680" y="2240280"/>
            <a:ext cx="1599840" cy="109692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55" name="Rectangle 25"/>
          <p:cNvSpPr/>
          <p:nvPr/>
        </p:nvSpPr>
        <p:spPr>
          <a:xfrm>
            <a:off x="10012680" y="2240280"/>
            <a:ext cx="63720" cy="109692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56" name="TextBox 26"/>
          <p:cNvSpPr/>
          <p:nvPr/>
        </p:nvSpPr>
        <p:spPr>
          <a:xfrm>
            <a:off x="10213920" y="2377440"/>
            <a:ext cx="1234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Daten</a:t>
            </a:r>
            <a:endParaRPr b="0" lang="en-US" sz="1500" strike="noStrike" u="none">
              <a:solidFill>
                <a:srgbClr val="000000"/>
              </a:solidFill>
              <a:effectLst/>
              <a:uFillTx/>
              <a:latin typeface="Arial"/>
            </a:endParaRPr>
          </a:p>
        </p:txBody>
      </p:sp>
      <p:sp>
        <p:nvSpPr>
          <p:cNvPr id="457" name="TextBox 27"/>
          <p:cNvSpPr/>
          <p:nvPr/>
        </p:nvSpPr>
        <p:spPr>
          <a:xfrm>
            <a:off x="10213920" y="2834640"/>
            <a:ext cx="1234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300" strike="noStrike" u="none">
              <a:solidFill>
                <a:srgbClr val="465264"/>
              </a:solidFill>
              <a:effectLst/>
              <a:uFillTx/>
              <a:latin typeface="Calibri"/>
            </a:endParaRPr>
          </a:p>
        </p:txBody>
      </p:sp>
      <p:sp>
        <p:nvSpPr>
          <p:cNvPr id="458" name="TextBox 28"/>
          <p:cNvSpPr/>
          <p:nvPr/>
        </p:nvSpPr>
        <p:spPr>
          <a:xfrm>
            <a:off x="914400" y="4251960"/>
            <a:ext cx="10240920" cy="731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700" strike="noStrike" u="none">
                <a:solidFill>
                  <a:srgbClr val="16263f"/>
                </a:solidFill>
                <a:effectLst/>
                <a:uFillTx/>
                <a:latin typeface="Calibri"/>
              </a:rPr>
              <a:t>Konten · Konfiguration · Schnittstellen · Abhängigkeiten · Infrastruktur · Prozesse</a:t>
            </a:r>
            <a:endParaRPr b="0" lang="en-US" sz="1700" strike="noStrike" u="none">
              <a:solidFill>
                <a:srgbClr val="000000"/>
              </a:solidFill>
              <a:effectLst/>
              <a:uFillTx/>
              <a:latin typeface="Arial"/>
            </a:endParaRPr>
          </a:p>
        </p:txBody>
      </p:sp>
      <p:sp>
        <p:nvSpPr>
          <p:cNvPr id="459" name="TextBox 29"/>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460" name="TextBox 30"/>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26</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461"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SECURITY</a:t>
            </a:r>
            <a:endParaRPr b="0" lang="en-US" sz="900" strike="noStrike" u="none">
              <a:solidFill>
                <a:srgbClr val="000000"/>
              </a:solidFill>
              <a:effectLst/>
              <a:uFillTx/>
              <a:latin typeface="Arial"/>
            </a:endParaRPr>
          </a:p>
        </p:txBody>
      </p:sp>
      <p:sp>
        <p:nvSpPr>
          <p:cNvPr id="462"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White Hat · Black Hat · Grey Hat</a:t>
            </a:r>
            <a:endParaRPr b="0" lang="en-US" sz="2700" strike="noStrike" u="none">
              <a:solidFill>
                <a:srgbClr val="000000"/>
              </a:solidFill>
              <a:effectLst/>
              <a:uFillTx/>
              <a:latin typeface="Arial"/>
            </a:endParaRPr>
          </a:p>
        </p:txBody>
      </p:sp>
      <p:sp>
        <p:nvSpPr>
          <p:cNvPr id="463"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64" name="Rounded Rectangle 4"/>
          <p:cNvSpPr/>
          <p:nvPr/>
        </p:nvSpPr>
        <p:spPr>
          <a:xfrm>
            <a:off x="731520" y="1965960"/>
            <a:ext cx="3474360" cy="22856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65" name="Rectangle 5"/>
          <p:cNvSpPr/>
          <p:nvPr/>
        </p:nvSpPr>
        <p:spPr>
          <a:xfrm>
            <a:off x="731520" y="1965960"/>
            <a:ext cx="63720" cy="228564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66" name="TextBox 6"/>
          <p:cNvSpPr/>
          <p:nvPr/>
        </p:nvSpPr>
        <p:spPr>
          <a:xfrm>
            <a:off x="932760" y="2103120"/>
            <a:ext cx="310860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White Hat</a:t>
            </a:r>
            <a:endParaRPr b="0" lang="en-US" sz="1500" strike="noStrike" u="none">
              <a:solidFill>
                <a:srgbClr val="000000"/>
              </a:solidFill>
              <a:effectLst/>
              <a:uFillTx/>
              <a:latin typeface="Arial"/>
            </a:endParaRPr>
          </a:p>
        </p:txBody>
      </p:sp>
      <p:sp>
        <p:nvSpPr>
          <p:cNvPr id="467" name="TextBox 7"/>
          <p:cNvSpPr/>
          <p:nvPr/>
        </p:nvSpPr>
        <p:spPr>
          <a:xfrm>
            <a:off x="932760" y="2560320"/>
            <a:ext cx="3108600" cy="1572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autorisiert</a:t>
            </a:r>
            <a:br>
              <a:rPr sz="1300"/>
            </a:br>
            <a:r>
              <a:rPr b="0" lang="en-US" sz="1300" strike="noStrike" u="none">
                <a:solidFill>
                  <a:srgbClr val="465264"/>
                </a:solidFill>
                <a:effectLst/>
                <a:uFillTx/>
                <a:latin typeface="Calibri"/>
              </a:rPr>
              <a:t>im vereinbarten Rahmen</a:t>
            </a:r>
            <a:endParaRPr b="0" lang="en-US" sz="1300" strike="noStrike" u="none">
              <a:solidFill>
                <a:srgbClr val="000000"/>
              </a:solidFill>
              <a:effectLst/>
              <a:uFillTx/>
              <a:latin typeface="Arial"/>
            </a:endParaRPr>
          </a:p>
        </p:txBody>
      </p:sp>
      <p:sp>
        <p:nvSpPr>
          <p:cNvPr id="468" name="Rounded Rectangle 8"/>
          <p:cNvSpPr/>
          <p:nvPr/>
        </p:nvSpPr>
        <p:spPr>
          <a:xfrm>
            <a:off x="4389120" y="1965960"/>
            <a:ext cx="3474360" cy="22856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69" name="Rectangle 9"/>
          <p:cNvSpPr/>
          <p:nvPr/>
        </p:nvSpPr>
        <p:spPr>
          <a:xfrm>
            <a:off x="4389120" y="1965960"/>
            <a:ext cx="63720" cy="2285640"/>
          </a:xfrm>
          <a:prstGeom prst="rect">
            <a:avLst/>
          </a:prstGeom>
          <a:solidFill>
            <a:srgbClr val="b4282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70" name="TextBox 10"/>
          <p:cNvSpPr/>
          <p:nvPr/>
        </p:nvSpPr>
        <p:spPr>
          <a:xfrm>
            <a:off x="4590360" y="2103120"/>
            <a:ext cx="310860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Black Hat</a:t>
            </a:r>
            <a:endParaRPr b="0" lang="en-US" sz="1500" strike="noStrike" u="none">
              <a:solidFill>
                <a:srgbClr val="000000"/>
              </a:solidFill>
              <a:effectLst/>
              <a:uFillTx/>
              <a:latin typeface="Arial"/>
            </a:endParaRPr>
          </a:p>
        </p:txBody>
      </p:sp>
      <p:sp>
        <p:nvSpPr>
          <p:cNvPr id="471" name="TextBox 11"/>
          <p:cNvSpPr/>
          <p:nvPr/>
        </p:nvSpPr>
        <p:spPr>
          <a:xfrm>
            <a:off x="4590360" y="2560320"/>
            <a:ext cx="3108600" cy="1572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nicht autorisiert</a:t>
            </a:r>
            <a:br>
              <a:rPr sz="1300"/>
            </a:br>
            <a:r>
              <a:rPr b="0" lang="en-US" sz="1300" strike="noStrike" u="none">
                <a:solidFill>
                  <a:srgbClr val="465264"/>
                </a:solidFill>
                <a:effectLst/>
                <a:uFillTx/>
                <a:latin typeface="Calibri"/>
              </a:rPr>
              <a:t>bzw. schädlich</a:t>
            </a:r>
            <a:endParaRPr b="0" lang="en-US" sz="1300" strike="noStrike" u="none">
              <a:solidFill>
                <a:srgbClr val="000000"/>
              </a:solidFill>
              <a:effectLst/>
              <a:uFillTx/>
              <a:latin typeface="Arial"/>
            </a:endParaRPr>
          </a:p>
        </p:txBody>
      </p:sp>
      <p:sp>
        <p:nvSpPr>
          <p:cNvPr id="472" name="Rounded Rectangle 12"/>
          <p:cNvSpPr/>
          <p:nvPr/>
        </p:nvSpPr>
        <p:spPr>
          <a:xfrm>
            <a:off x="8046720" y="1965960"/>
            <a:ext cx="3474360" cy="22856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73" name="Rectangle 13"/>
          <p:cNvSpPr/>
          <p:nvPr/>
        </p:nvSpPr>
        <p:spPr>
          <a:xfrm>
            <a:off x="8046720" y="1965960"/>
            <a:ext cx="63720" cy="2285640"/>
          </a:xfrm>
          <a:prstGeom prst="rect">
            <a:avLst/>
          </a:prstGeom>
          <a:solidFill>
            <a:srgbClr val="be641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74" name="TextBox 14"/>
          <p:cNvSpPr/>
          <p:nvPr/>
        </p:nvSpPr>
        <p:spPr>
          <a:xfrm>
            <a:off x="8247960" y="2103120"/>
            <a:ext cx="310860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Grey Hat</a:t>
            </a:r>
            <a:endParaRPr b="0" lang="en-US" sz="1500" strike="noStrike" u="none">
              <a:solidFill>
                <a:srgbClr val="000000"/>
              </a:solidFill>
              <a:effectLst/>
              <a:uFillTx/>
              <a:latin typeface="Arial"/>
            </a:endParaRPr>
          </a:p>
        </p:txBody>
      </p:sp>
      <p:sp>
        <p:nvSpPr>
          <p:cNvPr id="475" name="TextBox 15"/>
          <p:cNvSpPr/>
          <p:nvPr/>
        </p:nvSpPr>
        <p:spPr>
          <a:xfrm>
            <a:off x="8247960" y="2560320"/>
            <a:ext cx="3108600" cy="1572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populärer Zwischenbegriff</a:t>
            </a:r>
            <a:br>
              <a:rPr sz="1300"/>
            </a:br>
            <a:r>
              <a:rPr b="0" lang="en-US" sz="1300" strike="noStrike" u="none">
                <a:solidFill>
                  <a:srgbClr val="465264"/>
                </a:solidFill>
                <a:effectLst/>
                <a:uFillTx/>
                <a:latin typeface="Calibri"/>
              </a:rPr>
              <a:t>ggf. ohne ausreichende Autorisierung</a:t>
            </a:r>
            <a:endParaRPr b="0" lang="en-US" sz="1300" strike="noStrike" u="none">
              <a:solidFill>
                <a:srgbClr val="000000"/>
              </a:solidFill>
              <a:effectLst/>
              <a:uFillTx/>
              <a:latin typeface="Arial"/>
            </a:endParaRPr>
          </a:p>
        </p:txBody>
      </p:sp>
      <p:sp>
        <p:nvSpPr>
          <p:cNvPr id="476" name="TextBox 16"/>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477" name="TextBox 17"/>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27</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478"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SECURITY</a:t>
            </a:r>
            <a:endParaRPr b="0" lang="en-US" sz="900" strike="noStrike" u="none">
              <a:solidFill>
                <a:srgbClr val="000000"/>
              </a:solidFill>
              <a:effectLst/>
              <a:uFillTx/>
              <a:latin typeface="Arial"/>
            </a:endParaRPr>
          </a:p>
        </p:txBody>
      </p:sp>
      <p:sp>
        <p:nvSpPr>
          <p:cNvPr id="479"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Penetration Testing</a:t>
            </a:r>
            <a:endParaRPr b="0" lang="en-US" sz="2700" strike="noStrike" u="none">
              <a:solidFill>
                <a:srgbClr val="000000"/>
              </a:solidFill>
              <a:effectLst/>
              <a:uFillTx/>
              <a:latin typeface="Arial"/>
            </a:endParaRPr>
          </a:p>
        </p:txBody>
      </p:sp>
      <p:sp>
        <p:nvSpPr>
          <p:cNvPr id="480"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81" name="TextBox 4"/>
          <p:cNvSpPr/>
          <p:nvPr/>
        </p:nvSpPr>
        <p:spPr>
          <a:xfrm>
            <a:off x="914400" y="1645920"/>
            <a:ext cx="10332360" cy="63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100" strike="noStrike" u="none">
                <a:solidFill>
                  <a:srgbClr val="16263f"/>
                </a:solidFill>
                <a:effectLst/>
                <a:uFillTx/>
                <a:latin typeface="Calibri"/>
              </a:rPr>
              <a:t>Darf man eine Anwendung absichtlich angreifen, um sie sicherer zu machen?</a:t>
            </a:r>
            <a:endParaRPr b="0" lang="en-US" sz="2100" strike="noStrike" u="none">
              <a:solidFill>
                <a:srgbClr val="000000"/>
              </a:solidFill>
              <a:effectLst/>
              <a:uFillTx/>
              <a:latin typeface="Arial"/>
            </a:endParaRPr>
          </a:p>
        </p:txBody>
      </p:sp>
      <p:sp>
        <p:nvSpPr>
          <p:cNvPr id="482" name="TextBox 5"/>
          <p:cNvSpPr/>
          <p:nvPr/>
        </p:nvSpPr>
        <p:spPr>
          <a:xfrm>
            <a:off x="914400" y="2468880"/>
            <a:ext cx="10332360" cy="502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800" strike="noStrike" u="none">
                <a:solidFill>
                  <a:srgbClr val="1e7346"/>
                </a:solidFill>
                <a:effectLst/>
                <a:uFillTx/>
                <a:latin typeface="Calibri"/>
              </a:rPr>
              <a:t>Ja – bei eindeutig autorisiertem Auftrag und Scope.</a:t>
            </a:r>
            <a:endParaRPr b="0" lang="en-US" sz="1800" strike="noStrike" u="none">
              <a:solidFill>
                <a:srgbClr val="000000"/>
              </a:solidFill>
              <a:effectLst/>
              <a:uFillTx/>
              <a:latin typeface="Arial"/>
            </a:endParaRPr>
          </a:p>
        </p:txBody>
      </p:sp>
      <p:sp>
        <p:nvSpPr>
          <p:cNvPr id="483" name="Rounded Rectangle 6"/>
          <p:cNvSpPr/>
          <p:nvPr/>
        </p:nvSpPr>
        <p:spPr>
          <a:xfrm>
            <a:off x="914400" y="3657600"/>
            <a:ext cx="3108600" cy="127980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84" name="Rectangle 7"/>
          <p:cNvSpPr/>
          <p:nvPr/>
        </p:nvSpPr>
        <p:spPr>
          <a:xfrm>
            <a:off x="914400" y="3657600"/>
            <a:ext cx="63720" cy="1279800"/>
          </a:xfrm>
          <a:prstGeom prst="rect">
            <a:avLst/>
          </a:prstGeom>
          <a:solidFill>
            <a:srgbClr val="16263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85" name="TextBox 8"/>
          <p:cNvSpPr/>
          <p:nvPr/>
        </p:nvSpPr>
        <p:spPr>
          <a:xfrm>
            <a:off x="1115640" y="3794760"/>
            <a:ext cx="274284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Black Box</a:t>
            </a:r>
            <a:endParaRPr b="0" lang="en-US" sz="1500" strike="noStrike" u="none">
              <a:solidFill>
                <a:srgbClr val="000000"/>
              </a:solidFill>
              <a:effectLst/>
              <a:uFillTx/>
              <a:latin typeface="Arial"/>
            </a:endParaRPr>
          </a:p>
        </p:txBody>
      </p:sp>
      <p:sp>
        <p:nvSpPr>
          <p:cNvPr id="486" name="TextBox 9"/>
          <p:cNvSpPr/>
          <p:nvPr/>
        </p:nvSpPr>
        <p:spPr>
          <a:xfrm>
            <a:off x="1115640" y="4251960"/>
            <a:ext cx="2742840" cy="566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wenig internes Wissen</a:t>
            </a:r>
            <a:endParaRPr b="0" lang="en-US" sz="1300" strike="noStrike" u="none">
              <a:solidFill>
                <a:srgbClr val="000000"/>
              </a:solidFill>
              <a:effectLst/>
              <a:uFillTx/>
              <a:latin typeface="Arial"/>
            </a:endParaRPr>
          </a:p>
        </p:txBody>
      </p:sp>
      <p:sp>
        <p:nvSpPr>
          <p:cNvPr id="487" name="Rounded Rectangle 10"/>
          <p:cNvSpPr/>
          <p:nvPr/>
        </p:nvSpPr>
        <p:spPr>
          <a:xfrm>
            <a:off x="4526280" y="3657600"/>
            <a:ext cx="3108600" cy="127980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88" name="Rectangle 11"/>
          <p:cNvSpPr/>
          <p:nvPr/>
        </p:nvSpPr>
        <p:spPr>
          <a:xfrm>
            <a:off x="4526280" y="3657600"/>
            <a:ext cx="63720" cy="1279800"/>
          </a:xfrm>
          <a:prstGeom prst="rect">
            <a:avLst/>
          </a:prstGeom>
          <a:solidFill>
            <a:srgbClr val="46526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89" name="TextBox 12"/>
          <p:cNvSpPr/>
          <p:nvPr/>
        </p:nvSpPr>
        <p:spPr>
          <a:xfrm>
            <a:off x="4727520" y="3794760"/>
            <a:ext cx="274284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Grey Box</a:t>
            </a:r>
            <a:endParaRPr b="0" lang="en-US" sz="1500" strike="noStrike" u="none">
              <a:solidFill>
                <a:srgbClr val="000000"/>
              </a:solidFill>
              <a:effectLst/>
              <a:uFillTx/>
              <a:latin typeface="Arial"/>
            </a:endParaRPr>
          </a:p>
        </p:txBody>
      </p:sp>
      <p:sp>
        <p:nvSpPr>
          <p:cNvPr id="490" name="TextBox 13"/>
          <p:cNvSpPr/>
          <p:nvPr/>
        </p:nvSpPr>
        <p:spPr>
          <a:xfrm>
            <a:off x="4727520" y="4251960"/>
            <a:ext cx="2742840" cy="566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teilweise Informationen</a:t>
            </a:r>
            <a:endParaRPr b="0" lang="en-US" sz="1300" strike="noStrike" u="none">
              <a:solidFill>
                <a:srgbClr val="000000"/>
              </a:solidFill>
              <a:effectLst/>
              <a:uFillTx/>
              <a:latin typeface="Arial"/>
            </a:endParaRPr>
          </a:p>
        </p:txBody>
      </p:sp>
      <p:sp>
        <p:nvSpPr>
          <p:cNvPr id="491" name="Rounded Rectangle 14"/>
          <p:cNvSpPr/>
          <p:nvPr/>
        </p:nvSpPr>
        <p:spPr>
          <a:xfrm>
            <a:off x="8138160" y="3657600"/>
            <a:ext cx="3108600" cy="127980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92" name="Rectangle 15"/>
          <p:cNvSpPr/>
          <p:nvPr/>
        </p:nvSpPr>
        <p:spPr>
          <a:xfrm>
            <a:off x="8138160" y="3657600"/>
            <a:ext cx="63720" cy="127980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93" name="TextBox 16"/>
          <p:cNvSpPr/>
          <p:nvPr/>
        </p:nvSpPr>
        <p:spPr>
          <a:xfrm>
            <a:off x="8339400" y="3794760"/>
            <a:ext cx="274284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White Box</a:t>
            </a:r>
            <a:endParaRPr b="0" lang="en-US" sz="1500" strike="noStrike" u="none">
              <a:solidFill>
                <a:srgbClr val="000000"/>
              </a:solidFill>
              <a:effectLst/>
              <a:uFillTx/>
              <a:latin typeface="Arial"/>
            </a:endParaRPr>
          </a:p>
        </p:txBody>
      </p:sp>
      <p:sp>
        <p:nvSpPr>
          <p:cNvPr id="494" name="TextBox 17"/>
          <p:cNvSpPr/>
          <p:nvPr/>
        </p:nvSpPr>
        <p:spPr>
          <a:xfrm>
            <a:off x="8339400" y="4251960"/>
            <a:ext cx="2742840" cy="566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umfangreiche interne Informationen</a:t>
            </a:r>
            <a:endParaRPr b="0" lang="en-US" sz="1300" strike="noStrike" u="none">
              <a:solidFill>
                <a:srgbClr val="000000"/>
              </a:solidFill>
              <a:effectLst/>
              <a:uFillTx/>
              <a:latin typeface="Arial"/>
            </a:endParaRPr>
          </a:p>
        </p:txBody>
      </p:sp>
      <p:sp>
        <p:nvSpPr>
          <p:cNvPr id="495" name="TextBox 18"/>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496" name="TextBox 19"/>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28</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497"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SECURITY</a:t>
            </a:r>
            <a:endParaRPr b="0" lang="en-US" sz="900" strike="noStrike" u="none">
              <a:solidFill>
                <a:srgbClr val="000000"/>
              </a:solidFill>
              <a:effectLst/>
              <a:uFillTx/>
              <a:latin typeface="Arial"/>
            </a:endParaRPr>
          </a:p>
        </p:txBody>
      </p:sp>
      <p:sp>
        <p:nvSpPr>
          <p:cNvPr id="498"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Security by Design</a:t>
            </a:r>
            <a:endParaRPr b="0" lang="en-US" sz="2700" strike="noStrike" u="none">
              <a:solidFill>
                <a:srgbClr val="000000"/>
              </a:solidFill>
              <a:effectLst/>
              <a:uFillTx/>
              <a:latin typeface="Arial"/>
            </a:endParaRPr>
          </a:p>
        </p:txBody>
      </p:sp>
      <p:sp>
        <p:nvSpPr>
          <p:cNvPr id="499"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00" name="TextBox 4"/>
          <p:cNvSpPr/>
          <p:nvPr/>
        </p:nvSpPr>
        <p:spPr>
          <a:xfrm>
            <a:off x="822960" y="1691640"/>
            <a:ext cx="10515240" cy="4388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300" strike="noStrike" u="none">
                <a:solidFill>
                  <a:srgbClr val="465264"/>
                </a:solidFill>
                <a:effectLst/>
                <a:uFillTx/>
                <a:latin typeface="Calibri"/>
              </a:rPr>
              <a:t>• Planung → Entwicklung → Test</a:t>
            </a:r>
            <a:endParaRPr b="0" lang="en-US" sz="2300" strike="noStrike" u="none">
              <a:solidFill>
                <a:srgbClr val="000000"/>
              </a:solidFill>
              <a:effectLst/>
              <a:uFillTx/>
              <a:latin typeface="Arial"/>
            </a:endParaRPr>
          </a:p>
          <a:p>
            <a:pPr defTabSz="457200">
              <a:lnSpc>
                <a:spcPct val="100000"/>
              </a:lnSpc>
              <a:spcAft>
                <a:spcPts val="799"/>
              </a:spcAft>
            </a:pPr>
            <a:r>
              <a:rPr b="0" lang="en-US" sz="2300" strike="noStrike" u="none">
                <a:solidFill>
                  <a:srgbClr val="465264"/>
                </a:solidFill>
                <a:effectLst/>
                <a:uFillTx/>
                <a:latin typeface="Calibri"/>
              </a:rPr>
              <a:t>• Deployment → Betrieb / Monitoring</a:t>
            </a:r>
            <a:endParaRPr b="0" lang="en-US" sz="2300" strike="noStrike" u="none">
              <a:solidFill>
                <a:srgbClr val="000000"/>
              </a:solidFill>
              <a:effectLst/>
              <a:uFillTx/>
              <a:latin typeface="Arial"/>
            </a:endParaRPr>
          </a:p>
          <a:p>
            <a:pPr defTabSz="457200">
              <a:lnSpc>
                <a:spcPct val="100000"/>
              </a:lnSpc>
              <a:spcAft>
                <a:spcPts val="799"/>
              </a:spcAft>
            </a:pPr>
            <a:r>
              <a:rPr b="0" lang="en-US" sz="2300" strike="noStrike" u="none">
                <a:solidFill>
                  <a:srgbClr val="465264"/>
                </a:solidFill>
                <a:effectLst/>
                <a:uFillTx/>
                <a:latin typeface="Calibri"/>
              </a:rPr>
              <a:t>• Updates → Verbesserung</a:t>
            </a:r>
            <a:endParaRPr b="0" lang="en-US" sz="2300" strike="noStrike" u="none">
              <a:solidFill>
                <a:srgbClr val="000000"/>
              </a:solidFill>
              <a:effectLst/>
              <a:uFillTx/>
              <a:latin typeface="Arial"/>
            </a:endParaRPr>
          </a:p>
        </p:txBody>
      </p:sp>
      <p:sp>
        <p:nvSpPr>
          <p:cNvPr id="501" name="TextBox 5"/>
          <p:cNvSpPr/>
          <p:nvPr/>
        </p:nvSpPr>
        <p:spPr>
          <a:xfrm>
            <a:off x="914400" y="4709160"/>
            <a:ext cx="10240920" cy="5940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900" strike="noStrike" u="none">
                <a:solidFill>
                  <a:srgbClr val="16263f"/>
                </a:solidFill>
                <a:effectLst/>
                <a:uFillTx/>
                <a:latin typeface="Calibri"/>
              </a:rPr>
              <a:t>Sicherheit wird nicht am Ende „angeschraubt“.</a:t>
            </a:r>
            <a:endParaRPr b="0" lang="en-US" sz="1900" strike="noStrike" u="none">
              <a:solidFill>
                <a:srgbClr val="000000"/>
              </a:solidFill>
              <a:effectLst/>
              <a:uFillTx/>
              <a:latin typeface="Arial"/>
            </a:endParaRPr>
          </a:p>
        </p:txBody>
      </p:sp>
      <p:sp>
        <p:nvSpPr>
          <p:cNvPr id="502" name="TextBox 6"/>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503" name="TextBox 7"/>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29</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504"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SECURITY</a:t>
            </a:r>
            <a:endParaRPr b="0" lang="en-US" sz="900" strike="noStrike" u="none">
              <a:solidFill>
                <a:srgbClr val="000000"/>
              </a:solidFill>
              <a:effectLst/>
              <a:uFillTx/>
              <a:latin typeface="Arial"/>
            </a:endParaRPr>
          </a:p>
        </p:txBody>
      </p:sp>
      <p:sp>
        <p:nvSpPr>
          <p:cNvPr id="505"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Authentifizierung und Autorisierung</a:t>
            </a:r>
            <a:endParaRPr b="0" lang="en-US" sz="2700" strike="noStrike" u="none">
              <a:solidFill>
                <a:srgbClr val="000000"/>
              </a:solidFill>
              <a:effectLst/>
              <a:uFillTx/>
              <a:latin typeface="Arial"/>
            </a:endParaRPr>
          </a:p>
        </p:txBody>
      </p:sp>
      <p:sp>
        <p:nvSpPr>
          <p:cNvPr id="506"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07" name="Rounded Rectangle 4"/>
          <p:cNvSpPr/>
          <p:nvPr/>
        </p:nvSpPr>
        <p:spPr>
          <a:xfrm>
            <a:off x="914400" y="1965960"/>
            <a:ext cx="4754520" cy="219420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08" name="Rectangle 5"/>
          <p:cNvSpPr/>
          <p:nvPr/>
        </p:nvSpPr>
        <p:spPr>
          <a:xfrm>
            <a:off x="914400" y="1965960"/>
            <a:ext cx="63720" cy="219420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09" name="TextBox 6"/>
          <p:cNvSpPr/>
          <p:nvPr/>
        </p:nvSpPr>
        <p:spPr>
          <a:xfrm>
            <a:off x="1115640" y="2103120"/>
            <a:ext cx="43887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Authentifizierung</a:t>
            </a:r>
            <a:endParaRPr b="0" lang="en-US" sz="1500" strike="noStrike" u="none">
              <a:solidFill>
                <a:srgbClr val="000000"/>
              </a:solidFill>
              <a:effectLst/>
              <a:uFillTx/>
              <a:latin typeface="Arial"/>
            </a:endParaRPr>
          </a:p>
        </p:txBody>
      </p:sp>
      <p:sp>
        <p:nvSpPr>
          <p:cNvPr id="510" name="TextBox 7"/>
          <p:cNvSpPr/>
          <p:nvPr/>
        </p:nvSpPr>
        <p:spPr>
          <a:xfrm>
            <a:off x="1115640" y="2560320"/>
            <a:ext cx="4388760" cy="1481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Wer bist du?</a:t>
            </a:r>
            <a:endParaRPr b="0" lang="en-US" sz="1300" strike="noStrike" u="none">
              <a:solidFill>
                <a:srgbClr val="000000"/>
              </a:solidFill>
              <a:effectLst/>
              <a:uFillTx/>
              <a:latin typeface="Arial"/>
            </a:endParaRPr>
          </a:p>
        </p:txBody>
      </p:sp>
      <p:sp>
        <p:nvSpPr>
          <p:cNvPr id="511" name="Rounded Rectangle 8"/>
          <p:cNvSpPr/>
          <p:nvPr/>
        </p:nvSpPr>
        <p:spPr>
          <a:xfrm>
            <a:off x="6492240" y="1965960"/>
            <a:ext cx="4754520" cy="219420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12" name="Rectangle 9"/>
          <p:cNvSpPr/>
          <p:nvPr/>
        </p:nvSpPr>
        <p:spPr>
          <a:xfrm>
            <a:off x="6492240" y="1965960"/>
            <a:ext cx="63720" cy="219420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13" name="TextBox 10"/>
          <p:cNvSpPr/>
          <p:nvPr/>
        </p:nvSpPr>
        <p:spPr>
          <a:xfrm>
            <a:off x="6693480" y="2103120"/>
            <a:ext cx="43887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Autorisierung</a:t>
            </a:r>
            <a:endParaRPr b="0" lang="en-US" sz="1500" strike="noStrike" u="none">
              <a:solidFill>
                <a:srgbClr val="000000"/>
              </a:solidFill>
              <a:effectLst/>
              <a:uFillTx/>
              <a:latin typeface="Arial"/>
            </a:endParaRPr>
          </a:p>
        </p:txBody>
      </p:sp>
      <p:sp>
        <p:nvSpPr>
          <p:cNvPr id="514" name="TextBox 11"/>
          <p:cNvSpPr/>
          <p:nvPr/>
        </p:nvSpPr>
        <p:spPr>
          <a:xfrm>
            <a:off x="6693480" y="2560320"/>
            <a:ext cx="4388760" cy="1481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Was darfst du?</a:t>
            </a:r>
            <a:endParaRPr b="0" lang="en-US" sz="1300" strike="noStrike" u="none">
              <a:solidFill>
                <a:srgbClr val="000000"/>
              </a:solidFill>
              <a:effectLst/>
              <a:uFillTx/>
              <a:latin typeface="Arial"/>
            </a:endParaRPr>
          </a:p>
        </p:txBody>
      </p:sp>
      <p:sp>
        <p:nvSpPr>
          <p:cNvPr id="515" name="TextBox 12"/>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516" name="TextBox 13"/>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30</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517"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SECURITY</a:t>
            </a:r>
            <a:endParaRPr b="0" lang="en-US" sz="900" strike="noStrike" u="none">
              <a:solidFill>
                <a:srgbClr val="000000"/>
              </a:solidFill>
              <a:effectLst/>
              <a:uFillTx/>
              <a:latin typeface="Arial"/>
            </a:endParaRPr>
          </a:p>
        </p:txBody>
      </p:sp>
      <p:sp>
        <p:nvSpPr>
          <p:cNvPr id="518"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Kontoschutz und MFA</a:t>
            </a:r>
            <a:endParaRPr b="0" lang="en-US" sz="2700" strike="noStrike" u="none">
              <a:solidFill>
                <a:srgbClr val="000000"/>
              </a:solidFill>
              <a:effectLst/>
              <a:uFillTx/>
              <a:latin typeface="Arial"/>
            </a:endParaRPr>
          </a:p>
        </p:txBody>
      </p:sp>
      <p:sp>
        <p:nvSpPr>
          <p:cNvPr id="519"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20" name="TextBox 4"/>
          <p:cNvSpPr/>
          <p:nvPr/>
        </p:nvSpPr>
        <p:spPr>
          <a:xfrm>
            <a:off x="822960" y="1691640"/>
            <a:ext cx="10515240" cy="4388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000" strike="noStrike" u="none">
                <a:solidFill>
                  <a:srgbClr val="465264"/>
                </a:solidFill>
                <a:effectLst/>
                <a:uFillTx/>
                <a:latin typeface="Calibri"/>
              </a:rPr>
              <a:t>• einzigartige Passwörter</a:t>
            </a:r>
            <a:endParaRPr b="0" lang="en-US" sz="2000" strike="noStrike" u="none">
              <a:solidFill>
                <a:srgbClr val="000000"/>
              </a:solidFill>
              <a:effectLst/>
              <a:uFillTx/>
              <a:latin typeface="Arial"/>
            </a:endParaRPr>
          </a:p>
          <a:p>
            <a:pPr defTabSz="457200">
              <a:lnSpc>
                <a:spcPct val="100000"/>
              </a:lnSpc>
              <a:spcAft>
                <a:spcPts val="799"/>
              </a:spcAft>
            </a:pPr>
            <a:r>
              <a:rPr b="0" lang="en-US" sz="2000" strike="noStrike" u="none">
                <a:solidFill>
                  <a:srgbClr val="465264"/>
                </a:solidFill>
                <a:effectLst/>
                <a:uFillTx/>
                <a:latin typeface="Calibri"/>
              </a:rPr>
              <a:t>• Passwortmanager</a:t>
            </a:r>
            <a:endParaRPr b="0" lang="en-US" sz="2000" strike="noStrike" u="none">
              <a:solidFill>
                <a:srgbClr val="000000"/>
              </a:solidFill>
              <a:effectLst/>
              <a:uFillTx/>
              <a:latin typeface="Arial"/>
            </a:endParaRPr>
          </a:p>
          <a:p>
            <a:pPr defTabSz="457200">
              <a:lnSpc>
                <a:spcPct val="100000"/>
              </a:lnSpc>
              <a:spcAft>
                <a:spcPts val="799"/>
              </a:spcAft>
            </a:pPr>
            <a:r>
              <a:rPr b="0" lang="en-US" sz="2000" strike="noStrike" u="none">
                <a:solidFill>
                  <a:srgbClr val="465264"/>
                </a:solidFill>
                <a:effectLst/>
                <a:uFillTx/>
                <a:latin typeface="Calibri"/>
              </a:rPr>
              <a:t>• Mehrfaktor-Authentisierung (MFA)</a:t>
            </a:r>
            <a:endParaRPr b="0" lang="en-US" sz="2000" strike="noStrike" u="none">
              <a:solidFill>
                <a:srgbClr val="000000"/>
              </a:solidFill>
              <a:effectLst/>
              <a:uFillTx/>
              <a:latin typeface="Arial"/>
            </a:endParaRPr>
          </a:p>
          <a:p>
            <a:pPr defTabSz="457200">
              <a:lnSpc>
                <a:spcPct val="100000"/>
              </a:lnSpc>
              <a:spcAft>
                <a:spcPts val="799"/>
              </a:spcAft>
            </a:pPr>
            <a:r>
              <a:rPr b="0" lang="en-US" sz="2000" strike="noStrike" u="none">
                <a:solidFill>
                  <a:srgbClr val="465264"/>
                </a:solidFill>
                <a:effectLst/>
                <a:uFillTx/>
                <a:latin typeface="Calibri"/>
              </a:rPr>
              <a:t>• sichere Wiederherstellung</a:t>
            </a:r>
            <a:endParaRPr b="0" lang="en-US" sz="2000" strike="noStrike" u="none">
              <a:solidFill>
                <a:srgbClr val="000000"/>
              </a:solidFill>
              <a:effectLst/>
              <a:uFillTx/>
              <a:latin typeface="Arial"/>
            </a:endParaRPr>
          </a:p>
          <a:p>
            <a:pPr defTabSz="457200">
              <a:lnSpc>
                <a:spcPct val="100000"/>
              </a:lnSpc>
              <a:spcAft>
                <a:spcPts val="799"/>
              </a:spcAft>
            </a:pPr>
            <a:r>
              <a:rPr b="0" lang="en-US" sz="2000" strike="noStrike" u="none">
                <a:solidFill>
                  <a:srgbClr val="465264"/>
                </a:solidFill>
                <a:effectLst/>
                <a:uFillTx/>
                <a:latin typeface="Calibri"/>
              </a:rPr>
              <a:t>• verdächtige Anmeldungen erkennen</a:t>
            </a:r>
            <a:endParaRPr b="0" lang="en-US" sz="2000" strike="noStrike" u="none">
              <a:solidFill>
                <a:srgbClr val="000000"/>
              </a:solidFill>
              <a:effectLst/>
              <a:uFillTx/>
              <a:latin typeface="Arial"/>
            </a:endParaRPr>
          </a:p>
        </p:txBody>
      </p:sp>
      <p:sp>
        <p:nvSpPr>
          <p:cNvPr id="521" name="TextBox 5"/>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522" name="TextBox 6"/>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31</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523"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SECURITY</a:t>
            </a:r>
            <a:endParaRPr b="0" lang="en-US" sz="900" strike="noStrike" u="none">
              <a:solidFill>
                <a:srgbClr val="000000"/>
              </a:solidFill>
              <a:effectLst/>
              <a:uFillTx/>
              <a:latin typeface="Arial"/>
            </a:endParaRPr>
          </a:p>
        </p:txBody>
      </p:sp>
      <p:sp>
        <p:nvSpPr>
          <p:cNvPr id="524"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Social Engineering</a:t>
            </a:r>
            <a:endParaRPr b="0" lang="en-US" sz="2700" strike="noStrike" u="none">
              <a:solidFill>
                <a:srgbClr val="000000"/>
              </a:solidFill>
              <a:effectLst/>
              <a:uFillTx/>
              <a:latin typeface="Arial"/>
            </a:endParaRPr>
          </a:p>
        </p:txBody>
      </p:sp>
      <p:sp>
        <p:nvSpPr>
          <p:cNvPr id="525"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26" name="TextBox 4"/>
          <p:cNvSpPr/>
          <p:nvPr/>
        </p:nvSpPr>
        <p:spPr>
          <a:xfrm>
            <a:off x="914400" y="1783080"/>
            <a:ext cx="10240920" cy="914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000" strike="noStrike" u="none">
                <a:solidFill>
                  <a:srgbClr val="16263f"/>
                </a:solidFill>
                <a:effectLst/>
                <a:uFillTx/>
                <a:latin typeface="Calibri"/>
              </a:rPr>
              <a:t>Gezielte Beeinflussung von Menschen, damit sie Informationen preisgeben oder sicherheitskritische Handlungen ausführen.</a:t>
            </a:r>
            <a:endParaRPr b="0" lang="en-US" sz="2000" strike="noStrike" u="none">
              <a:solidFill>
                <a:srgbClr val="000000"/>
              </a:solidFill>
              <a:effectLst/>
              <a:uFillTx/>
              <a:latin typeface="Arial"/>
            </a:endParaRPr>
          </a:p>
        </p:txBody>
      </p:sp>
      <p:sp>
        <p:nvSpPr>
          <p:cNvPr id="527" name="Rounded Rectangle 5"/>
          <p:cNvSpPr/>
          <p:nvPr/>
        </p:nvSpPr>
        <p:spPr>
          <a:xfrm>
            <a:off x="1920240" y="3200400"/>
            <a:ext cx="8320680" cy="164556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28" name="Rectangle 6"/>
          <p:cNvSpPr/>
          <p:nvPr/>
        </p:nvSpPr>
        <p:spPr>
          <a:xfrm>
            <a:off x="1920240" y="3200400"/>
            <a:ext cx="63720" cy="1645560"/>
          </a:xfrm>
          <a:prstGeom prst="rect">
            <a:avLst/>
          </a:prstGeom>
          <a:solidFill>
            <a:srgbClr val="be641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29" name="TextBox 7"/>
          <p:cNvSpPr/>
          <p:nvPr/>
        </p:nvSpPr>
        <p:spPr>
          <a:xfrm>
            <a:off x="2121480" y="3337560"/>
            <a:ext cx="795492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Beispiel</a:t>
            </a:r>
            <a:endParaRPr b="0" lang="en-US" sz="1500" strike="noStrike" u="none">
              <a:solidFill>
                <a:srgbClr val="000000"/>
              </a:solidFill>
              <a:effectLst/>
              <a:uFillTx/>
              <a:latin typeface="Arial"/>
            </a:endParaRPr>
          </a:p>
        </p:txBody>
      </p:sp>
      <p:sp>
        <p:nvSpPr>
          <p:cNvPr id="530" name="TextBox 8"/>
          <p:cNvSpPr/>
          <p:nvPr/>
        </p:nvSpPr>
        <p:spPr>
          <a:xfrm>
            <a:off x="2121480" y="3794760"/>
            <a:ext cx="7954920" cy="932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Ein angeblicher IT-Support verlangt dringend Passwort oder MFA-Bestätigung.</a:t>
            </a:r>
            <a:endParaRPr b="0" lang="en-US" sz="1300" strike="noStrike" u="none">
              <a:solidFill>
                <a:srgbClr val="000000"/>
              </a:solidFill>
              <a:effectLst/>
              <a:uFillTx/>
              <a:latin typeface="Arial"/>
            </a:endParaRPr>
          </a:p>
        </p:txBody>
      </p:sp>
      <p:sp>
        <p:nvSpPr>
          <p:cNvPr id="531" name="TextBox 9"/>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532" name="TextBox 10"/>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32</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533"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SECURITY</a:t>
            </a:r>
            <a:endParaRPr b="0" lang="en-US" sz="900" strike="noStrike" u="none">
              <a:solidFill>
                <a:srgbClr val="000000"/>
              </a:solidFill>
              <a:effectLst/>
              <a:uFillTx/>
              <a:latin typeface="Arial"/>
            </a:endParaRPr>
          </a:p>
        </p:txBody>
      </p:sp>
      <p:sp>
        <p:nvSpPr>
          <p:cNvPr id="534"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Phishing</a:t>
            </a:r>
            <a:endParaRPr b="0" lang="en-US" sz="2700" strike="noStrike" u="none">
              <a:solidFill>
                <a:srgbClr val="000000"/>
              </a:solidFill>
              <a:effectLst/>
              <a:uFillTx/>
              <a:latin typeface="Arial"/>
            </a:endParaRPr>
          </a:p>
        </p:txBody>
      </p:sp>
      <p:sp>
        <p:nvSpPr>
          <p:cNvPr id="535"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36" name="TextBox 4"/>
          <p:cNvSpPr/>
          <p:nvPr/>
        </p:nvSpPr>
        <p:spPr>
          <a:xfrm>
            <a:off x="914400" y="1691640"/>
            <a:ext cx="10240920" cy="914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000" strike="noStrike" u="none">
                <a:solidFill>
                  <a:srgbClr val="16263f"/>
                </a:solidFill>
                <a:effectLst/>
                <a:uFillTx/>
                <a:latin typeface="Calibri"/>
              </a:rPr>
              <a:t>Form des Social Engineering: vertrauenswürdige Kommunikation wird vorgetäuscht, um Daten oder Handlungen zu erlangen.</a:t>
            </a:r>
            <a:endParaRPr b="0" lang="en-US" sz="2000" strike="noStrike" u="none">
              <a:solidFill>
                <a:srgbClr val="000000"/>
              </a:solidFill>
              <a:effectLst/>
              <a:uFillTx/>
              <a:latin typeface="Arial"/>
            </a:endParaRPr>
          </a:p>
        </p:txBody>
      </p:sp>
      <p:sp>
        <p:nvSpPr>
          <p:cNvPr id="537" name="Rounded Rectangle 5"/>
          <p:cNvSpPr/>
          <p:nvPr/>
        </p:nvSpPr>
        <p:spPr>
          <a:xfrm>
            <a:off x="1188720" y="3017520"/>
            <a:ext cx="9783720" cy="146268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38" name="Rectangle 6"/>
          <p:cNvSpPr/>
          <p:nvPr/>
        </p:nvSpPr>
        <p:spPr>
          <a:xfrm>
            <a:off x="1188720" y="3017520"/>
            <a:ext cx="63720" cy="1462680"/>
          </a:xfrm>
          <a:prstGeom prst="rect">
            <a:avLst/>
          </a:prstGeom>
          <a:solidFill>
            <a:srgbClr val="b4282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39" name="TextBox 7"/>
          <p:cNvSpPr/>
          <p:nvPr/>
        </p:nvSpPr>
        <p:spPr>
          <a:xfrm>
            <a:off x="1389960" y="3154680"/>
            <a:ext cx="94179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Beispiel</a:t>
            </a:r>
            <a:endParaRPr b="0" lang="en-US" sz="1500" strike="noStrike" u="none">
              <a:solidFill>
                <a:srgbClr val="000000"/>
              </a:solidFill>
              <a:effectLst/>
              <a:uFillTx/>
              <a:latin typeface="Arial"/>
            </a:endParaRPr>
          </a:p>
        </p:txBody>
      </p:sp>
      <p:sp>
        <p:nvSpPr>
          <p:cNvPr id="540" name="TextBox 8"/>
          <p:cNvSpPr/>
          <p:nvPr/>
        </p:nvSpPr>
        <p:spPr>
          <a:xfrm>
            <a:off x="1389960" y="3611880"/>
            <a:ext cx="9417960" cy="749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„Dein Schulcloud-Konto wird heute gesperrt. Melde dich sofort über diesen Link an.“</a:t>
            </a:r>
            <a:endParaRPr b="0" lang="en-US" sz="1300" strike="noStrike" u="none">
              <a:solidFill>
                <a:srgbClr val="000000"/>
              </a:solidFill>
              <a:effectLst/>
              <a:uFillTx/>
              <a:latin typeface="Arial"/>
            </a:endParaRPr>
          </a:p>
        </p:txBody>
      </p:sp>
      <p:sp>
        <p:nvSpPr>
          <p:cNvPr id="541" name="TextBox 9"/>
          <p:cNvSpPr/>
          <p:nvPr/>
        </p:nvSpPr>
        <p:spPr>
          <a:xfrm>
            <a:off x="914400" y="4937760"/>
            <a:ext cx="10240920" cy="548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700" strike="noStrike" u="none">
                <a:solidFill>
                  <a:srgbClr val="16263f"/>
                </a:solidFill>
                <a:effectLst/>
                <a:uFillTx/>
                <a:latin typeface="Calibri"/>
              </a:rPr>
              <a:t>Prüfen: Kontext · Zeitdruck · Identität · Linkziel · unabhängiger Rückkanal</a:t>
            </a:r>
            <a:endParaRPr b="0" lang="en-US" sz="1700" strike="noStrike" u="none">
              <a:solidFill>
                <a:srgbClr val="000000"/>
              </a:solidFill>
              <a:effectLst/>
              <a:uFillTx/>
              <a:latin typeface="Arial"/>
            </a:endParaRPr>
          </a:p>
        </p:txBody>
      </p:sp>
      <p:sp>
        <p:nvSpPr>
          <p:cNvPr id="542" name="TextBox 10"/>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543" name="TextBox 11"/>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33</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544"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DATENSICHERHEIT</a:t>
            </a:r>
            <a:endParaRPr b="0" lang="en-US" sz="900" strike="noStrike" u="none">
              <a:solidFill>
                <a:srgbClr val="000000"/>
              </a:solidFill>
              <a:effectLst/>
              <a:uFillTx/>
              <a:latin typeface="Arial"/>
            </a:endParaRPr>
          </a:p>
        </p:txBody>
      </p:sp>
      <p:sp>
        <p:nvSpPr>
          <p:cNvPr id="545"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Backup und Wiederherstellung</a:t>
            </a:r>
            <a:endParaRPr b="0" lang="en-US" sz="2700" strike="noStrike" u="none">
              <a:solidFill>
                <a:srgbClr val="000000"/>
              </a:solidFill>
              <a:effectLst/>
              <a:uFillTx/>
              <a:latin typeface="Arial"/>
            </a:endParaRPr>
          </a:p>
        </p:txBody>
      </p:sp>
      <p:sp>
        <p:nvSpPr>
          <p:cNvPr id="546"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47" name="TextBox 4"/>
          <p:cNvSpPr/>
          <p:nvPr/>
        </p:nvSpPr>
        <p:spPr>
          <a:xfrm>
            <a:off x="822960" y="1691640"/>
            <a:ext cx="10515240" cy="4388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900" strike="noStrike" u="none">
                <a:solidFill>
                  <a:srgbClr val="465264"/>
                </a:solidFill>
                <a:effectLst/>
                <a:uFillTx/>
                <a:latin typeface="Calibri"/>
              </a:rPr>
              <a:t>• Was wird gesichert?</a:t>
            </a:r>
            <a:endParaRPr b="0" lang="en-US" sz="1900" strike="noStrike" u="none">
              <a:solidFill>
                <a:srgbClr val="000000"/>
              </a:solidFill>
              <a:effectLst/>
              <a:uFillTx/>
              <a:latin typeface="Arial"/>
            </a:endParaRPr>
          </a:p>
          <a:p>
            <a:pPr defTabSz="457200">
              <a:lnSpc>
                <a:spcPct val="100000"/>
              </a:lnSpc>
              <a:spcAft>
                <a:spcPts val="799"/>
              </a:spcAft>
            </a:pPr>
            <a:r>
              <a:rPr b="0" lang="en-US" sz="1900" strike="noStrike" u="none">
                <a:solidFill>
                  <a:srgbClr val="465264"/>
                </a:solidFill>
                <a:effectLst/>
                <a:uFillTx/>
                <a:latin typeface="Calibri"/>
              </a:rPr>
              <a:t>• Wo und wie getrennt?</a:t>
            </a:r>
            <a:endParaRPr b="0" lang="en-US" sz="1900" strike="noStrike" u="none">
              <a:solidFill>
                <a:srgbClr val="000000"/>
              </a:solidFill>
              <a:effectLst/>
              <a:uFillTx/>
              <a:latin typeface="Arial"/>
            </a:endParaRPr>
          </a:p>
          <a:p>
            <a:pPr defTabSz="457200">
              <a:lnSpc>
                <a:spcPct val="100000"/>
              </a:lnSpc>
              <a:spcAft>
                <a:spcPts val="799"/>
              </a:spcAft>
            </a:pPr>
            <a:r>
              <a:rPr b="0" lang="en-US" sz="1900" strike="noStrike" u="none">
                <a:solidFill>
                  <a:srgbClr val="465264"/>
                </a:solidFill>
                <a:effectLst/>
                <a:uFillTx/>
                <a:latin typeface="Calibri"/>
              </a:rPr>
              <a:t>• Wann / wie häufig?</a:t>
            </a:r>
            <a:endParaRPr b="0" lang="en-US" sz="1900" strike="noStrike" u="none">
              <a:solidFill>
                <a:srgbClr val="000000"/>
              </a:solidFill>
              <a:effectLst/>
              <a:uFillTx/>
              <a:latin typeface="Arial"/>
            </a:endParaRPr>
          </a:p>
          <a:p>
            <a:pPr defTabSz="457200">
              <a:lnSpc>
                <a:spcPct val="100000"/>
              </a:lnSpc>
              <a:spcAft>
                <a:spcPts val="799"/>
              </a:spcAft>
            </a:pPr>
            <a:r>
              <a:rPr b="0" lang="en-US" sz="1900" strike="noStrike" u="none">
                <a:solidFill>
                  <a:srgbClr val="465264"/>
                </a:solidFill>
                <a:effectLst/>
                <a:uFillTx/>
                <a:latin typeface="Calibri"/>
              </a:rPr>
              <a:t>• Wer ist verantwortlich?</a:t>
            </a:r>
            <a:endParaRPr b="0" lang="en-US" sz="1900" strike="noStrike" u="none">
              <a:solidFill>
                <a:srgbClr val="000000"/>
              </a:solidFill>
              <a:effectLst/>
              <a:uFillTx/>
              <a:latin typeface="Arial"/>
            </a:endParaRPr>
          </a:p>
          <a:p>
            <a:pPr defTabSz="457200">
              <a:lnSpc>
                <a:spcPct val="100000"/>
              </a:lnSpc>
              <a:spcAft>
                <a:spcPts val="799"/>
              </a:spcAft>
            </a:pPr>
            <a:r>
              <a:rPr b="0" lang="en-US" sz="1900" strike="noStrike" u="none">
                <a:solidFill>
                  <a:srgbClr val="465264"/>
                </a:solidFill>
                <a:effectLst/>
                <a:uFillTx/>
                <a:latin typeface="Calibri"/>
              </a:rPr>
              <a:t>• Wie lange wird aufbewahrt?</a:t>
            </a:r>
            <a:endParaRPr b="0" lang="en-US" sz="1900" strike="noStrike" u="none">
              <a:solidFill>
                <a:srgbClr val="000000"/>
              </a:solidFill>
              <a:effectLst/>
              <a:uFillTx/>
              <a:latin typeface="Arial"/>
            </a:endParaRPr>
          </a:p>
          <a:p>
            <a:pPr defTabSz="457200">
              <a:lnSpc>
                <a:spcPct val="100000"/>
              </a:lnSpc>
              <a:spcAft>
                <a:spcPts val="799"/>
              </a:spcAft>
            </a:pPr>
            <a:r>
              <a:rPr b="0" lang="en-US" sz="1900" strike="noStrike" u="none">
                <a:solidFill>
                  <a:srgbClr val="465264"/>
                </a:solidFill>
                <a:effectLst/>
                <a:uFillTx/>
                <a:latin typeface="Calibri"/>
              </a:rPr>
              <a:t>• Wird der Restore getestet?</a:t>
            </a:r>
            <a:endParaRPr b="0" lang="en-US" sz="1900" strike="noStrike" u="none">
              <a:solidFill>
                <a:srgbClr val="000000"/>
              </a:solidFill>
              <a:effectLst/>
              <a:uFillTx/>
              <a:latin typeface="Arial"/>
            </a:endParaRPr>
          </a:p>
        </p:txBody>
      </p:sp>
      <p:sp>
        <p:nvSpPr>
          <p:cNvPr id="548" name="TextBox 5"/>
          <p:cNvSpPr/>
          <p:nvPr/>
        </p:nvSpPr>
        <p:spPr>
          <a:xfrm>
            <a:off x="914400" y="5120640"/>
            <a:ext cx="10240920" cy="502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800" strike="noStrike" u="none">
                <a:solidFill>
                  <a:srgbClr val="be6414"/>
                </a:solidFill>
                <a:effectLst/>
                <a:uFillTx/>
                <a:latin typeface="Calibri"/>
              </a:rPr>
              <a:t>Synchronisation ≠ Redundanz ≠ Backup ≠ Archiv</a:t>
            </a:r>
            <a:endParaRPr b="0" lang="en-US" sz="1800" strike="noStrike" u="none">
              <a:solidFill>
                <a:srgbClr val="000000"/>
              </a:solidFill>
              <a:effectLst/>
              <a:uFillTx/>
              <a:latin typeface="Arial"/>
            </a:endParaRPr>
          </a:p>
        </p:txBody>
      </p:sp>
      <p:sp>
        <p:nvSpPr>
          <p:cNvPr id="549" name="TextBox 6"/>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550" name="TextBox 7"/>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34</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551"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DATENSICHERHEIT</a:t>
            </a:r>
            <a:endParaRPr b="0" lang="en-US" sz="900" strike="noStrike" u="none">
              <a:solidFill>
                <a:srgbClr val="000000"/>
              </a:solidFill>
              <a:effectLst/>
              <a:uFillTx/>
              <a:latin typeface="Arial"/>
            </a:endParaRPr>
          </a:p>
        </p:txBody>
      </p:sp>
      <p:sp>
        <p:nvSpPr>
          <p:cNvPr id="552"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Backup ist selbst ein Security- und Datenschutzthema</a:t>
            </a:r>
            <a:endParaRPr b="0" lang="en-US" sz="2700" strike="noStrike" u="none">
              <a:solidFill>
                <a:srgbClr val="000000"/>
              </a:solidFill>
              <a:effectLst/>
              <a:uFillTx/>
              <a:latin typeface="Arial"/>
            </a:endParaRPr>
          </a:p>
        </p:txBody>
      </p:sp>
      <p:sp>
        <p:nvSpPr>
          <p:cNvPr id="553"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54" name="Rounded Rectangle 4"/>
          <p:cNvSpPr/>
          <p:nvPr/>
        </p:nvSpPr>
        <p:spPr>
          <a:xfrm>
            <a:off x="731520" y="2011680"/>
            <a:ext cx="3474360" cy="201132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55" name="Rectangle 5"/>
          <p:cNvSpPr/>
          <p:nvPr/>
        </p:nvSpPr>
        <p:spPr>
          <a:xfrm>
            <a:off x="731520" y="2011680"/>
            <a:ext cx="63720" cy="201132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56" name="TextBox 6"/>
          <p:cNvSpPr/>
          <p:nvPr/>
        </p:nvSpPr>
        <p:spPr>
          <a:xfrm>
            <a:off x="932760" y="2148840"/>
            <a:ext cx="310860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Verfügbarkeit</a:t>
            </a:r>
            <a:endParaRPr b="0" lang="en-US" sz="1500" strike="noStrike" u="none">
              <a:solidFill>
                <a:srgbClr val="000000"/>
              </a:solidFill>
              <a:effectLst/>
              <a:uFillTx/>
              <a:latin typeface="Arial"/>
            </a:endParaRPr>
          </a:p>
        </p:txBody>
      </p:sp>
      <p:sp>
        <p:nvSpPr>
          <p:cNvPr id="557" name="TextBox 7"/>
          <p:cNvSpPr/>
          <p:nvPr/>
        </p:nvSpPr>
        <p:spPr>
          <a:xfrm>
            <a:off x="932760" y="2606040"/>
            <a:ext cx="3108600" cy="1298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Daten wiederherstellen</a:t>
            </a:r>
            <a:endParaRPr b="0" lang="en-US" sz="1300" strike="noStrike" u="none">
              <a:solidFill>
                <a:srgbClr val="000000"/>
              </a:solidFill>
              <a:effectLst/>
              <a:uFillTx/>
              <a:latin typeface="Arial"/>
            </a:endParaRPr>
          </a:p>
        </p:txBody>
      </p:sp>
      <p:sp>
        <p:nvSpPr>
          <p:cNvPr id="558" name="Rounded Rectangle 8"/>
          <p:cNvSpPr/>
          <p:nvPr/>
        </p:nvSpPr>
        <p:spPr>
          <a:xfrm>
            <a:off x="4389120" y="2011680"/>
            <a:ext cx="3474360" cy="201132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59" name="Rectangle 9"/>
          <p:cNvSpPr/>
          <p:nvPr/>
        </p:nvSpPr>
        <p:spPr>
          <a:xfrm>
            <a:off x="4389120" y="2011680"/>
            <a:ext cx="63720" cy="201132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60" name="TextBox 10"/>
          <p:cNvSpPr/>
          <p:nvPr/>
        </p:nvSpPr>
        <p:spPr>
          <a:xfrm>
            <a:off x="4590360" y="2148840"/>
            <a:ext cx="310860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Integrität</a:t>
            </a:r>
            <a:endParaRPr b="0" lang="en-US" sz="1500" strike="noStrike" u="none">
              <a:solidFill>
                <a:srgbClr val="000000"/>
              </a:solidFill>
              <a:effectLst/>
              <a:uFillTx/>
              <a:latin typeface="Arial"/>
            </a:endParaRPr>
          </a:p>
        </p:txBody>
      </p:sp>
      <p:sp>
        <p:nvSpPr>
          <p:cNvPr id="561" name="TextBox 11"/>
          <p:cNvSpPr/>
          <p:nvPr/>
        </p:nvSpPr>
        <p:spPr>
          <a:xfrm>
            <a:off x="4590360" y="2606040"/>
            <a:ext cx="3108600" cy="1298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Ist die Sicherung korrekt?</a:t>
            </a:r>
            <a:endParaRPr b="0" lang="en-US" sz="1300" strike="noStrike" u="none">
              <a:solidFill>
                <a:srgbClr val="000000"/>
              </a:solidFill>
              <a:effectLst/>
              <a:uFillTx/>
              <a:latin typeface="Arial"/>
            </a:endParaRPr>
          </a:p>
        </p:txBody>
      </p:sp>
      <p:sp>
        <p:nvSpPr>
          <p:cNvPr id="562" name="Rounded Rectangle 12"/>
          <p:cNvSpPr/>
          <p:nvPr/>
        </p:nvSpPr>
        <p:spPr>
          <a:xfrm>
            <a:off x="8046720" y="2011680"/>
            <a:ext cx="3474360" cy="201132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63" name="Rectangle 13"/>
          <p:cNvSpPr/>
          <p:nvPr/>
        </p:nvSpPr>
        <p:spPr>
          <a:xfrm>
            <a:off x="8046720" y="2011680"/>
            <a:ext cx="63720" cy="201132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64" name="TextBox 14"/>
          <p:cNvSpPr/>
          <p:nvPr/>
        </p:nvSpPr>
        <p:spPr>
          <a:xfrm>
            <a:off x="8247960" y="2148840"/>
            <a:ext cx="310860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Vertraulichkeit</a:t>
            </a:r>
            <a:endParaRPr b="0" lang="en-US" sz="1500" strike="noStrike" u="none">
              <a:solidFill>
                <a:srgbClr val="000000"/>
              </a:solidFill>
              <a:effectLst/>
              <a:uFillTx/>
              <a:latin typeface="Arial"/>
            </a:endParaRPr>
          </a:p>
        </p:txBody>
      </p:sp>
      <p:sp>
        <p:nvSpPr>
          <p:cNvPr id="565" name="TextBox 15"/>
          <p:cNvSpPr/>
          <p:nvPr/>
        </p:nvSpPr>
        <p:spPr>
          <a:xfrm>
            <a:off x="8247960" y="2606040"/>
            <a:ext cx="3108600" cy="1298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Wer darf sie lesen?</a:t>
            </a:r>
            <a:endParaRPr b="0" lang="en-US" sz="1300" strike="noStrike" u="none">
              <a:solidFill>
                <a:srgbClr val="000000"/>
              </a:solidFill>
              <a:effectLst/>
              <a:uFillTx/>
              <a:latin typeface="Arial"/>
            </a:endParaRPr>
          </a:p>
        </p:txBody>
      </p:sp>
      <p:sp>
        <p:nvSpPr>
          <p:cNvPr id="566" name="TextBox 16"/>
          <p:cNvSpPr/>
          <p:nvPr/>
        </p:nvSpPr>
        <p:spPr>
          <a:xfrm>
            <a:off x="914400" y="4709160"/>
            <a:ext cx="10240920" cy="548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800" strike="noStrike" u="none">
                <a:solidFill>
                  <a:srgbClr val="16263f"/>
                </a:solidFill>
                <a:effectLst/>
                <a:uFillTx/>
                <a:latin typeface="Calibri"/>
              </a:rPr>
              <a:t>Wo liegt das Backup? Verschlüsselt? Aufbewahrung? Löschung?</a:t>
            </a:r>
            <a:endParaRPr b="0" lang="en-US" sz="1800" strike="noStrike" u="none">
              <a:solidFill>
                <a:srgbClr val="000000"/>
              </a:solidFill>
              <a:effectLst/>
              <a:uFillTx/>
              <a:latin typeface="Arial"/>
            </a:endParaRPr>
          </a:p>
        </p:txBody>
      </p:sp>
      <p:sp>
        <p:nvSpPr>
          <p:cNvPr id="567" name="TextBox 17"/>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568" name="TextBox 18"/>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35</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569"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KRYPTOGRAFIE</a:t>
            </a:r>
            <a:endParaRPr b="0" lang="en-US" sz="900" strike="noStrike" u="none">
              <a:solidFill>
                <a:srgbClr val="000000"/>
              </a:solidFill>
              <a:effectLst/>
              <a:uFillTx/>
              <a:latin typeface="Arial"/>
            </a:endParaRPr>
          </a:p>
        </p:txBody>
      </p:sp>
      <p:sp>
        <p:nvSpPr>
          <p:cNvPr id="570"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Wofür Verschlüsselung?</a:t>
            </a:r>
            <a:endParaRPr b="0" lang="en-US" sz="2700" strike="noStrike" u="none">
              <a:solidFill>
                <a:srgbClr val="000000"/>
              </a:solidFill>
              <a:effectLst/>
              <a:uFillTx/>
              <a:latin typeface="Arial"/>
            </a:endParaRPr>
          </a:p>
        </p:txBody>
      </p:sp>
      <p:sp>
        <p:nvSpPr>
          <p:cNvPr id="571"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72" name="Rounded Rectangle 4"/>
          <p:cNvSpPr/>
          <p:nvPr/>
        </p:nvSpPr>
        <p:spPr>
          <a:xfrm>
            <a:off x="914400" y="1920240"/>
            <a:ext cx="4754520" cy="237708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73" name="Rectangle 5"/>
          <p:cNvSpPr/>
          <p:nvPr/>
        </p:nvSpPr>
        <p:spPr>
          <a:xfrm>
            <a:off x="914400" y="1920240"/>
            <a:ext cx="63720" cy="23770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74" name="TextBox 6"/>
          <p:cNvSpPr/>
          <p:nvPr/>
        </p:nvSpPr>
        <p:spPr>
          <a:xfrm>
            <a:off x="1115640" y="2057400"/>
            <a:ext cx="43887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Data in Transit</a:t>
            </a:r>
            <a:endParaRPr b="0" lang="en-US" sz="1500" strike="noStrike" u="none">
              <a:solidFill>
                <a:srgbClr val="000000"/>
              </a:solidFill>
              <a:effectLst/>
              <a:uFillTx/>
              <a:latin typeface="Arial"/>
            </a:endParaRPr>
          </a:p>
        </p:txBody>
      </p:sp>
      <p:sp>
        <p:nvSpPr>
          <p:cNvPr id="575" name="TextBox 7"/>
          <p:cNvSpPr/>
          <p:nvPr/>
        </p:nvSpPr>
        <p:spPr>
          <a:xfrm>
            <a:off x="1115640" y="2514600"/>
            <a:ext cx="4388760" cy="1663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Daten während der Übertragung</a:t>
            </a:r>
            <a:br>
              <a:rPr sz="1300"/>
            </a:br>
            <a:r>
              <a:rPr b="0" lang="en-US" sz="1300" strike="noStrike" u="none">
                <a:solidFill>
                  <a:srgbClr val="465264"/>
                </a:solidFill>
                <a:effectLst/>
                <a:uFillTx/>
                <a:latin typeface="Calibri"/>
              </a:rPr>
              <a:t>z. B. Browser ⇄ Server</a:t>
            </a:r>
            <a:endParaRPr b="0" lang="en-US" sz="1300" strike="noStrike" u="none">
              <a:solidFill>
                <a:srgbClr val="000000"/>
              </a:solidFill>
              <a:effectLst/>
              <a:uFillTx/>
              <a:latin typeface="Arial"/>
            </a:endParaRPr>
          </a:p>
        </p:txBody>
      </p:sp>
      <p:sp>
        <p:nvSpPr>
          <p:cNvPr id="576" name="Rounded Rectangle 8"/>
          <p:cNvSpPr/>
          <p:nvPr/>
        </p:nvSpPr>
        <p:spPr>
          <a:xfrm>
            <a:off x="6492240" y="1920240"/>
            <a:ext cx="4754520" cy="237708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77" name="Rectangle 9"/>
          <p:cNvSpPr/>
          <p:nvPr/>
        </p:nvSpPr>
        <p:spPr>
          <a:xfrm>
            <a:off x="6492240" y="1920240"/>
            <a:ext cx="63720" cy="237708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78" name="TextBox 10"/>
          <p:cNvSpPr/>
          <p:nvPr/>
        </p:nvSpPr>
        <p:spPr>
          <a:xfrm>
            <a:off x="6693480" y="2057400"/>
            <a:ext cx="43887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Data at Rest</a:t>
            </a:r>
            <a:endParaRPr b="0" lang="en-US" sz="1500" strike="noStrike" u="none">
              <a:solidFill>
                <a:srgbClr val="000000"/>
              </a:solidFill>
              <a:effectLst/>
              <a:uFillTx/>
              <a:latin typeface="Arial"/>
            </a:endParaRPr>
          </a:p>
        </p:txBody>
      </p:sp>
      <p:sp>
        <p:nvSpPr>
          <p:cNvPr id="579" name="TextBox 11"/>
          <p:cNvSpPr/>
          <p:nvPr/>
        </p:nvSpPr>
        <p:spPr>
          <a:xfrm>
            <a:off x="6693480" y="2514600"/>
            <a:ext cx="4388760" cy="1663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gespeicherte Daten</a:t>
            </a:r>
            <a:br>
              <a:rPr sz="1300"/>
            </a:br>
            <a:r>
              <a:rPr b="0" lang="en-US" sz="1300" strike="noStrike" u="none">
                <a:solidFill>
                  <a:srgbClr val="465264"/>
                </a:solidFill>
                <a:effectLst/>
                <a:uFillTx/>
                <a:latin typeface="Calibri"/>
              </a:rPr>
              <a:t>z. B. Datenträger · Backup</a:t>
            </a:r>
            <a:endParaRPr b="0" lang="en-US" sz="1300" strike="noStrike" u="none">
              <a:solidFill>
                <a:srgbClr val="000000"/>
              </a:solidFill>
              <a:effectLst/>
              <a:uFillTx/>
              <a:latin typeface="Arial"/>
            </a:endParaRPr>
          </a:p>
        </p:txBody>
      </p:sp>
      <p:sp>
        <p:nvSpPr>
          <p:cNvPr id="580" name="TextBox 12"/>
          <p:cNvSpPr/>
          <p:nvPr/>
        </p:nvSpPr>
        <p:spPr>
          <a:xfrm>
            <a:off x="914400" y="4754880"/>
            <a:ext cx="10240920" cy="5940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700" strike="noStrike" u="none">
                <a:solidFill>
                  <a:srgbClr val="16263f"/>
                </a:solidFill>
                <a:effectLst/>
                <a:uFillTx/>
                <a:latin typeface="Calibri"/>
              </a:rPr>
              <a:t>Auch verlorene Geräte oder vertrauliche Nachrichten können Verschlüsselung benötigen.</a:t>
            </a:r>
            <a:endParaRPr b="0" lang="en-US" sz="1700" strike="noStrike" u="none">
              <a:solidFill>
                <a:srgbClr val="000000"/>
              </a:solidFill>
              <a:effectLst/>
              <a:uFillTx/>
              <a:latin typeface="Arial"/>
            </a:endParaRPr>
          </a:p>
        </p:txBody>
      </p:sp>
      <p:sp>
        <p:nvSpPr>
          <p:cNvPr id="581" name="TextBox 13"/>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582" name="TextBox 14"/>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36</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583"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KRYPTOGRAFIE</a:t>
            </a:r>
            <a:endParaRPr b="0" lang="en-US" sz="900" strike="noStrike" u="none">
              <a:solidFill>
                <a:srgbClr val="000000"/>
              </a:solidFill>
              <a:effectLst/>
              <a:uFillTx/>
              <a:latin typeface="Arial"/>
            </a:endParaRPr>
          </a:p>
        </p:txBody>
      </p:sp>
      <p:sp>
        <p:nvSpPr>
          <p:cNvPr id="584"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HTTPS/TLS: Schutz der Kommunikation</a:t>
            </a:r>
            <a:endParaRPr b="0" lang="en-US" sz="2700" strike="noStrike" u="none">
              <a:solidFill>
                <a:srgbClr val="000000"/>
              </a:solidFill>
              <a:effectLst/>
              <a:uFillTx/>
              <a:latin typeface="Arial"/>
            </a:endParaRPr>
          </a:p>
        </p:txBody>
      </p:sp>
      <p:sp>
        <p:nvSpPr>
          <p:cNvPr id="585"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86" name="Rounded Rectangle 4"/>
          <p:cNvSpPr/>
          <p:nvPr/>
        </p:nvSpPr>
        <p:spPr>
          <a:xfrm>
            <a:off x="914400" y="2286000"/>
            <a:ext cx="2742840" cy="13712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87" name="Rectangle 5"/>
          <p:cNvSpPr/>
          <p:nvPr/>
        </p:nvSpPr>
        <p:spPr>
          <a:xfrm>
            <a:off x="914400" y="2286000"/>
            <a:ext cx="63720" cy="137124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88" name="TextBox 6"/>
          <p:cNvSpPr/>
          <p:nvPr/>
        </p:nvSpPr>
        <p:spPr>
          <a:xfrm>
            <a:off x="1115640" y="2423160"/>
            <a:ext cx="2377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Browser</a:t>
            </a:r>
            <a:endParaRPr b="0" lang="en-US" sz="1500" strike="noStrike" u="none">
              <a:solidFill>
                <a:srgbClr val="000000"/>
              </a:solidFill>
              <a:effectLst/>
              <a:uFillTx/>
              <a:latin typeface="Arial"/>
            </a:endParaRPr>
          </a:p>
        </p:txBody>
      </p:sp>
      <p:sp>
        <p:nvSpPr>
          <p:cNvPr id="589" name="TextBox 7"/>
          <p:cNvSpPr/>
          <p:nvPr/>
        </p:nvSpPr>
        <p:spPr>
          <a:xfrm>
            <a:off x="1115640" y="2880360"/>
            <a:ext cx="2377080" cy="658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300" strike="noStrike" u="none">
              <a:solidFill>
                <a:srgbClr val="465264"/>
              </a:solidFill>
              <a:effectLst/>
              <a:uFillTx/>
              <a:latin typeface="Calibri"/>
            </a:endParaRPr>
          </a:p>
        </p:txBody>
      </p:sp>
      <p:sp>
        <p:nvSpPr>
          <p:cNvPr id="590" name="Rounded Rectangle 8"/>
          <p:cNvSpPr/>
          <p:nvPr/>
        </p:nvSpPr>
        <p:spPr>
          <a:xfrm>
            <a:off x="8503920" y="2286000"/>
            <a:ext cx="2742840" cy="13712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91" name="Rectangle 9"/>
          <p:cNvSpPr/>
          <p:nvPr/>
        </p:nvSpPr>
        <p:spPr>
          <a:xfrm>
            <a:off x="8503920" y="2286000"/>
            <a:ext cx="63720" cy="137124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592" name="TextBox 10"/>
          <p:cNvSpPr/>
          <p:nvPr/>
        </p:nvSpPr>
        <p:spPr>
          <a:xfrm>
            <a:off x="8705160" y="2423160"/>
            <a:ext cx="23770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Webserver</a:t>
            </a:r>
            <a:endParaRPr b="0" lang="en-US" sz="1500" strike="noStrike" u="none">
              <a:solidFill>
                <a:srgbClr val="000000"/>
              </a:solidFill>
              <a:effectLst/>
              <a:uFillTx/>
              <a:latin typeface="Arial"/>
            </a:endParaRPr>
          </a:p>
        </p:txBody>
      </p:sp>
      <p:sp>
        <p:nvSpPr>
          <p:cNvPr id="593" name="TextBox 11"/>
          <p:cNvSpPr/>
          <p:nvPr/>
        </p:nvSpPr>
        <p:spPr>
          <a:xfrm>
            <a:off x="8705160" y="2880360"/>
            <a:ext cx="2377080" cy="658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300" strike="noStrike" u="none">
              <a:solidFill>
                <a:srgbClr val="465264"/>
              </a:solidFill>
              <a:effectLst/>
              <a:uFillTx/>
              <a:latin typeface="Calibri"/>
            </a:endParaRPr>
          </a:p>
        </p:txBody>
      </p:sp>
      <p:sp>
        <p:nvSpPr>
          <p:cNvPr id="594" name="TextBox 12"/>
          <p:cNvSpPr/>
          <p:nvPr/>
        </p:nvSpPr>
        <p:spPr>
          <a:xfrm>
            <a:off x="3794760" y="2651760"/>
            <a:ext cx="4571640" cy="502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900" strike="noStrike" u="none">
                <a:solidFill>
                  <a:srgbClr val="16263f"/>
                </a:solidFill>
                <a:effectLst/>
                <a:uFillTx/>
                <a:latin typeface="Calibri"/>
              </a:rPr>
              <a:t>⇄  verschlüsselte TLS-Verbindung  ⇄</a:t>
            </a:r>
            <a:endParaRPr b="0" lang="en-US" sz="1900" strike="noStrike" u="none">
              <a:solidFill>
                <a:srgbClr val="000000"/>
              </a:solidFill>
              <a:effectLst/>
              <a:uFillTx/>
              <a:latin typeface="Arial"/>
            </a:endParaRPr>
          </a:p>
        </p:txBody>
      </p:sp>
      <p:sp>
        <p:nvSpPr>
          <p:cNvPr id="595" name="TextBox 13"/>
          <p:cNvSpPr/>
          <p:nvPr/>
        </p:nvSpPr>
        <p:spPr>
          <a:xfrm>
            <a:off x="914400" y="4709160"/>
            <a:ext cx="10240920" cy="63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700" strike="noStrike" u="none">
                <a:solidFill>
                  <a:srgbClr val="b42828"/>
                </a:solidFill>
                <a:effectLst/>
                <a:uFillTx/>
                <a:latin typeface="Calibri"/>
              </a:rPr>
              <a:t>HTTPS schützt die Verbindung – nicht automatisch die Vertrauenswürdigkeit der Anwendung.</a:t>
            </a:r>
            <a:endParaRPr b="0" lang="en-US" sz="1700" strike="noStrike" u="none">
              <a:solidFill>
                <a:srgbClr val="000000"/>
              </a:solidFill>
              <a:effectLst/>
              <a:uFillTx/>
              <a:latin typeface="Arial"/>
            </a:endParaRPr>
          </a:p>
        </p:txBody>
      </p:sp>
      <p:sp>
        <p:nvSpPr>
          <p:cNvPr id="596" name="TextBox 14"/>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597" name="TextBox 15"/>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37</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598"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KRYPTOGRAFIE</a:t>
            </a:r>
            <a:endParaRPr b="0" lang="en-US" sz="900" strike="noStrike" u="none">
              <a:solidFill>
                <a:srgbClr val="000000"/>
              </a:solidFill>
              <a:effectLst/>
              <a:uFillTx/>
              <a:latin typeface="Arial"/>
            </a:endParaRPr>
          </a:p>
        </p:txBody>
      </p:sp>
      <p:sp>
        <p:nvSpPr>
          <p:cNvPr id="599"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Verschlüsselung gespeicherter Daten</a:t>
            </a:r>
            <a:endParaRPr b="0" lang="en-US" sz="2700" strike="noStrike" u="none">
              <a:solidFill>
                <a:srgbClr val="000000"/>
              </a:solidFill>
              <a:effectLst/>
              <a:uFillTx/>
              <a:latin typeface="Arial"/>
            </a:endParaRPr>
          </a:p>
        </p:txBody>
      </p:sp>
      <p:sp>
        <p:nvSpPr>
          <p:cNvPr id="600"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01" name="TextBox 4"/>
          <p:cNvSpPr/>
          <p:nvPr/>
        </p:nvSpPr>
        <p:spPr>
          <a:xfrm>
            <a:off x="822960" y="1691640"/>
            <a:ext cx="10515240" cy="4388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000" strike="noStrike" u="none">
                <a:solidFill>
                  <a:srgbClr val="465264"/>
                </a:solidFill>
                <a:effectLst/>
                <a:uFillTx/>
                <a:latin typeface="Calibri"/>
              </a:rPr>
              <a:t>• Geräte-/Volume-Verschlüsselung</a:t>
            </a:r>
            <a:endParaRPr b="0" lang="en-US" sz="2000" strike="noStrike" u="none">
              <a:solidFill>
                <a:srgbClr val="000000"/>
              </a:solidFill>
              <a:effectLst/>
              <a:uFillTx/>
              <a:latin typeface="Arial"/>
            </a:endParaRPr>
          </a:p>
          <a:p>
            <a:pPr defTabSz="457200">
              <a:lnSpc>
                <a:spcPct val="100000"/>
              </a:lnSpc>
              <a:spcAft>
                <a:spcPts val="799"/>
              </a:spcAft>
            </a:pPr>
            <a:r>
              <a:rPr b="0" lang="en-US" sz="2000" strike="noStrike" u="none">
                <a:solidFill>
                  <a:srgbClr val="465264"/>
                </a:solidFill>
                <a:effectLst/>
                <a:uFillTx/>
                <a:latin typeface="Calibri"/>
              </a:rPr>
              <a:t>• verschlüsselte Backups</a:t>
            </a:r>
            <a:endParaRPr b="0" lang="en-US" sz="2000" strike="noStrike" u="none">
              <a:solidFill>
                <a:srgbClr val="000000"/>
              </a:solidFill>
              <a:effectLst/>
              <a:uFillTx/>
              <a:latin typeface="Arial"/>
            </a:endParaRPr>
          </a:p>
          <a:p>
            <a:pPr defTabSz="457200">
              <a:lnSpc>
                <a:spcPct val="100000"/>
              </a:lnSpc>
              <a:spcAft>
                <a:spcPts val="799"/>
              </a:spcAft>
            </a:pPr>
            <a:r>
              <a:rPr b="0" lang="en-US" sz="2000" strike="noStrike" u="none">
                <a:solidFill>
                  <a:srgbClr val="465264"/>
                </a:solidFill>
                <a:effectLst/>
                <a:uFillTx/>
                <a:latin typeface="Calibri"/>
              </a:rPr>
              <a:t>• ggf. anwendungsseitige Verschlüsselung</a:t>
            </a:r>
            <a:endParaRPr b="0" lang="en-US" sz="2000" strike="noStrike" u="none">
              <a:solidFill>
                <a:srgbClr val="000000"/>
              </a:solidFill>
              <a:effectLst/>
              <a:uFillTx/>
              <a:latin typeface="Arial"/>
            </a:endParaRPr>
          </a:p>
          <a:p>
            <a:pPr defTabSz="457200">
              <a:lnSpc>
                <a:spcPct val="100000"/>
              </a:lnSpc>
              <a:spcAft>
                <a:spcPts val="799"/>
              </a:spcAft>
            </a:pPr>
            <a:r>
              <a:rPr b="0" lang="en-US" sz="2000" strike="noStrike" u="none">
                <a:solidFill>
                  <a:srgbClr val="465264"/>
                </a:solidFill>
                <a:effectLst/>
                <a:uFillTx/>
                <a:latin typeface="Calibri"/>
              </a:rPr>
              <a:t>• Schlüsselmanagement: Wer besitzt/sichert die Schlüssel?</a:t>
            </a:r>
            <a:endParaRPr b="0" lang="en-US" sz="2000" strike="noStrike" u="none">
              <a:solidFill>
                <a:srgbClr val="000000"/>
              </a:solidFill>
              <a:effectLst/>
              <a:uFillTx/>
              <a:latin typeface="Arial"/>
            </a:endParaRPr>
          </a:p>
        </p:txBody>
      </p:sp>
      <p:sp>
        <p:nvSpPr>
          <p:cNvPr id="602" name="TextBox 5"/>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603" name="TextBox 6"/>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38</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04"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KRYPTOGRAFIE</a:t>
            </a:r>
            <a:endParaRPr b="0" lang="en-US" sz="900" strike="noStrike" u="none">
              <a:solidFill>
                <a:srgbClr val="000000"/>
              </a:solidFill>
              <a:effectLst/>
              <a:uFillTx/>
              <a:latin typeface="Arial"/>
            </a:endParaRPr>
          </a:p>
        </p:txBody>
      </p:sp>
      <p:sp>
        <p:nvSpPr>
          <p:cNvPr id="605"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Symmetrisch und asymmetrisch</a:t>
            </a:r>
            <a:endParaRPr b="0" lang="en-US" sz="2700" strike="noStrike" u="none">
              <a:solidFill>
                <a:srgbClr val="000000"/>
              </a:solidFill>
              <a:effectLst/>
              <a:uFillTx/>
              <a:latin typeface="Arial"/>
            </a:endParaRPr>
          </a:p>
        </p:txBody>
      </p:sp>
      <p:sp>
        <p:nvSpPr>
          <p:cNvPr id="606"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07" name="Rounded Rectangle 4"/>
          <p:cNvSpPr/>
          <p:nvPr/>
        </p:nvSpPr>
        <p:spPr>
          <a:xfrm>
            <a:off x="914400" y="1920240"/>
            <a:ext cx="4754520" cy="237708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08" name="Rectangle 5"/>
          <p:cNvSpPr/>
          <p:nvPr/>
        </p:nvSpPr>
        <p:spPr>
          <a:xfrm>
            <a:off x="914400" y="1920240"/>
            <a:ext cx="63720" cy="23770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09" name="TextBox 6"/>
          <p:cNvSpPr/>
          <p:nvPr/>
        </p:nvSpPr>
        <p:spPr>
          <a:xfrm>
            <a:off x="1115640" y="2057400"/>
            <a:ext cx="43887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Symmetrisch</a:t>
            </a:r>
            <a:endParaRPr b="0" lang="en-US" sz="1500" strike="noStrike" u="none">
              <a:solidFill>
                <a:srgbClr val="000000"/>
              </a:solidFill>
              <a:effectLst/>
              <a:uFillTx/>
              <a:latin typeface="Arial"/>
            </a:endParaRPr>
          </a:p>
        </p:txBody>
      </p:sp>
      <p:sp>
        <p:nvSpPr>
          <p:cNvPr id="610" name="TextBox 7"/>
          <p:cNvSpPr/>
          <p:nvPr/>
        </p:nvSpPr>
        <p:spPr>
          <a:xfrm>
            <a:off x="1115640" y="2514600"/>
            <a:ext cx="4388760" cy="1663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gemeinsamer geheimer Schlüssel</a:t>
            </a:r>
            <a:br>
              <a:rPr sz="1300"/>
            </a:br>
            <a:r>
              <a:rPr b="0" lang="en-US" sz="1300" strike="noStrike" u="none">
                <a:solidFill>
                  <a:srgbClr val="465264"/>
                </a:solidFill>
                <a:effectLst/>
                <a:uFillTx/>
                <a:latin typeface="Calibri"/>
              </a:rPr>
              <a:t>effizient für große Datenmengen</a:t>
            </a:r>
            <a:endParaRPr b="0" lang="en-US" sz="1300" strike="noStrike" u="none">
              <a:solidFill>
                <a:srgbClr val="000000"/>
              </a:solidFill>
              <a:effectLst/>
              <a:uFillTx/>
              <a:latin typeface="Arial"/>
            </a:endParaRPr>
          </a:p>
        </p:txBody>
      </p:sp>
      <p:sp>
        <p:nvSpPr>
          <p:cNvPr id="611" name="Rounded Rectangle 8"/>
          <p:cNvSpPr/>
          <p:nvPr/>
        </p:nvSpPr>
        <p:spPr>
          <a:xfrm>
            <a:off x="6492240" y="1920240"/>
            <a:ext cx="4754520" cy="237708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12" name="Rectangle 9"/>
          <p:cNvSpPr/>
          <p:nvPr/>
        </p:nvSpPr>
        <p:spPr>
          <a:xfrm>
            <a:off x="6492240" y="1920240"/>
            <a:ext cx="63720" cy="237708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13" name="TextBox 10"/>
          <p:cNvSpPr/>
          <p:nvPr/>
        </p:nvSpPr>
        <p:spPr>
          <a:xfrm>
            <a:off x="6693480" y="2057400"/>
            <a:ext cx="43887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Asymmetrisch</a:t>
            </a:r>
            <a:endParaRPr b="0" lang="en-US" sz="1500" strike="noStrike" u="none">
              <a:solidFill>
                <a:srgbClr val="000000"/>
              </a:solidFill>
              <a:effectLst/>
              <a:uFillTx/>
              <a:latin typeface="Arial"/>
            </a:endParaRPr>
          </a:p>
        </p:txBody>
      </p:sp>
      <p:sp>
        <p:nvSpPr>
          <p:cNvPr id="614" name="TextBox 11"/>
          <p:cNvSpPr/>
          <p:nvPr/>
        </p:nvSpPr>
        <p:spPr>
          <a:xfrm>
            <a:off x="6693480" y="2514600"/>
            <a:ext cx="4388760" cy="1663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öffentlicher + privater Schlüssel</a:t>
            </a:r>
            <a:br>
              <a:rPr sz="1300"/>
            </a:br>
            <a:r>
              <a:rPr b="0" lang="en-US" sz="1300" strike="noStrike" u="none">
                <a:solidFill>
                  <a:srgbClr val="465264"/>
                </a:solidFill>
                <a:effectLst/>
                <a:uFillTx/>
                <a:latin typeface="Calibri"/>
              </a:rPr>
              <a:t>u. a. für Authentisierung / Schlüsselaushandlung</a:t>
            </a:r>
            <a:endParaRPr b="0" lang="en-US" sz="1300" strike="noStrike" u="none">
              <a:solidFill>
                <a:srgbClr val="000000"/>
              </a:solidFill>
              <a:effectLst/>
              <a:uFillTx/>
              <a:latin typeface="Arial"/>
            </a:endParaRPr>
          </a:p>
        </p:txBody>
      </p:sp>
      <p:sp>
        <p:nvSpPr>
          <p:cNvPr id="615" name="TextBox 12"/>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616" name="TextBox 13"/>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39</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17"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KRYPTOGRAFIE</a:t>
            </a:r>
            <a:endParaRPr b="0" lang="en-US" sz="900" strike="noStrike" u="none">
              <a:solidFill>
                <a:srgbClr val="000000"/>
              </a:solidFill>
              <a:effectLst/>
              <a:uFillTx/>
              <a:latin typeface="Arial"/>
            </a:endParaRPr>
          </a:p>
        </p:txBody>
      </p:sp>
      <p:sp>
        <p:nvSpPr>
          <p:cNvPr id="618"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Verschlüsselung · Hashing · Signatur</a:t>
            </a:r>
            <a:endParaRPr b="0" lang="en-US" sz="2700" strike="noStrike" u="none">
              <a:solidFill>
                <a:srgbClr val="000000"/>
              </a:solidFill>
              <a:effectLst/>
              <a:uFillTx/>
              <a:latin typeface="Arial"/>
            </a:endParaRPr>
          </a:p>
        </p:txBody>
      </p:sp>
      <p:sp>
        <p:nvSpPr>
          <p:cNvPr id="619"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20" name="Rounded Rectangle 4"/>
          <p:cNvSpPr/>
          <p:nvPr/>
        </p:nvSpPr>
        <p:spPr>
          <a:xfrm>
            <a:off x="640080" y="1874520"/>
            <a:ext cx="3474360" cy="237708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21" name="Rectangle 5"/>
          <p:cNvSpPr/>
          <p:nvPr/>
        </p:nvSpPr>
        <p:spPr>
          <a:xfrm>
            <a:off x="640080" y="1874520"/>
            <a:ext cx="63720" cy="23770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22" name="TextBox 6"/>
          <p:cNvSpPr/>
          <p:nvPr/>
        </p:nvSpPr>
        <p:spPr>
          <a:xfrm>
            <a:off x="841320" y="2011680"/>
            <a:ext cx="310860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Verschlüsselung</a:t>
            </a:r>
            <a:endParaRPr b="0" lang="en-US" sz="1500" strike="noStrike" u="none">
              <a:solidFill>
                <a:srgbClr val="000000"/>
              </a:solidFill>
              <a:effectLst/>
              <a:uFillTx/>
              <a:latin typeface="Arial"/>
            </a:endParaRPr>
          </a:p>
        </p:txBody>
      </p:sp>
      <p:sp>
        <p:nvSpPr>
          <p:cNvPr id="623" name="TextBox 7"/>
          <p:cNvSpPr/>
          <p:nvPr/>
        </p:nvSpPr>
        <p:spPr>
          <a:xfrm>
            <a:off x="841320" y="2468880"/>
            <a:ext cx="3108600" cy="1663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Inhalt vor unberechtigtem Lesen schützen</a:t>
            </a:r>
            <a:endParaRPr b="0" lang="en-US" sz="1300" strike="noStrike" u="none">
              <a:solidFill>
                <a:srgbClr val="000000"/>
              </a:solidFill>
              <a:effectLst/>
              <a:uFillTx/>
              <a:latin typeface="Arial"/>
            </a:endParaRPr>
          </a:p>
        </p:txBody>
      </p:sp>
      <p:sp>
        <p:nvSpPr>
          <p:cNvPr id="624" name="Rounded Rectangle 8"/>
          <p:cNvSpPr/>
          <p:nvPr/>
        </p:nvSpPr>
        <p:spPr>
          <a:xfrm>
            <a:off x="4343400" y="1874520"/>
            <a:ext cx="3474360" cy="237708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25" name="Rectangle 9"/>
          <p:cNvSpPr/>
          <p:nvPr/>
        </p:nvSpPr>
        <p:spPr>
          <a:xfrm>
            <a:off x="4343400" y="1874520"/>
            <a:ext cx="63720" cy="237708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26" name="TextBox 10"/>
          <p:cNvSpPr/>
          <p:nvPr/>
        </p:nvSpPr>
        <p:spPr>
          <a:xfrm>
            <a:off x="4544640" y="2011680"/>
            <a:ext cx="310860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Hash</a:t>
            </a:r>
            <a:endParaRPr b="0" lang="en-US" sz="1500" strike="noStrike" u="none">
              <a:solidFill>
                <a:srgbClr val="000000"/>
              </a:solidFill>
              <a:effectLst/>
              <a:uFillTx/>
              <a:latin typeface="Arial"/>
            </a:endParaRPr>
          </a:p>
        </p:txBody>
      </p:sp>
      <p:sp>
        <p:nvSpPr>
          <p:cNvPr id="627" name="TextBox 11"/>
          <p:cNvSpPr/>
          <p:nvPr/>
        </p:nvSpPr>
        <p:spPr>
          <a:xfrm>
            <a:off x="4544640" y="2468880"/>
            <a:ext cx="3108600" cy="1663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Einweg-Fingerabdruck</a:t>
            </a:r>
            <a:br>
              <a:rPr sz="1300"/>
            </a:br>
            <a:r>
              <a:rPr b="0" lang="en-US" sz="1300" strike="noStrike" u="none">
                <a:solidFill>
                  <a:srgbClr val="465264"/>
                </a:solidFill>
                <a:effectLst/>
                <a:uFillTx/>
                <a:latin typeface="Calibri"/>
              </a:rPr>
              <a:t>eines Datenwerts</a:t>
            </a:r>
            <a:endParaRPr b="0" lang="en-US" sz="1300" strike="noStrike" u="none">
              <a:solidFill>
                <a:srgbClr val="000000"/>
              </a:solidFill>
              <a:effectLst/>
              <a:uFillTx/>
              <a:latin typeface="Arial"/>
            </a:endParaRPr>
          </a:p>
        </p:txBody>
      </p:sp>
      <p:sp>
        <p:nvSpPr>
          <p:cNvPr id="628" name="Rounded Rectangle 12"/>
          <p:cNvSpPr/>
          <p:nvPr/>
        </p:nvSpPr>
        <p:spPr>
          <a:xfrm>
            <a:off x="8046720" y="1874520"/>
            <a:ext cx="3474360" cy="237708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29" name="Rectangle 13"/>
          <p:cNvSpPr/>
          <p:nvPr/>
        </p:nvSpPr>
        <p:spPr>
          <a:xfrm>
            <a:off x="8046720" y="1874520"/>
            <a:ext cx="63720" cy="237708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30" name="TextBox 14"/>
          <p:cNvSpPr/>
          <p:nvPr/>
        </p:nvSpPr>
        <p:spPr>
          <a:xfrm>
            <a:off x="8247960" y="2011680"/>
            <a:ext cx="310860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Digitale Signatur</a:t>
            </a:r>
            <a:endParaRPr b="0" lang="en-US" sz="1500" strike="noStrike" u="none">
              <a:solidFill>
                <a:srgbClr val="000000"/>
              </a:solidFill>
              <a:effectLst/>
              <a:uFillTx/>
              <a:latin typeface="Arial"/>
            </a:endParaRPr>
          </a:p>
        </p:txBody>
      </p:sp>
      <p:sp>
        <p:nvSpPr>
          <p:cNvPr id="631" name="TextBox 15"/>
          <p:cNvSpPr/>
          <p:nvPr/>
        </p:nvSpPr>
        <p:spPr>
          <a:xfrm>
            <a:off x="8247960" y="2468880"/>
            <a:ext cx="3108600" cy="1663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Integrität und Herkunft/Authentizität prüfbar machen</a:t>
            </a:r>
            <a:endParaRPr b="0" lang="en-US" sz="1300" strike="noStrike" u="none">
              <a:solidFill>
                <a:srgbClr val="000000"/>
              </a:solidFill>
              <a:effectLst/>
              <a:uFillTx/>
              <a:latin typeface="Arial"/>
            </a:endParaRPr>
          </a:p>
        </p:txBody>
      </p:sp>
      <p:sp>
        <p:nvSpPr>
          <p:cNvPr id="632" name="TextBox 16"/>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633" name="TextBox 17"/>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40</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34"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DATENSCHUTZ</a:t>
            </a:r>
            <a:endParaRPr b="0" lang="en-US" sz="900" strike="noStrike" u="none">
              <a:solidFill>
                <a:srgbClr val="000000"/>
              </a:solidFill>
              <a:effectLst/>
              <a:uFillTx/>
              <a:latin typeface="Arial"/>
            </a:endParaRPr>
          </a:p>
        </p:txBody>
      </p:sp>
      <p:sp>
        <p:nvSpPr>
          <p:cNvPr id="635"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IT-Sicherheit ≠ Datenschutz</a:t>
            </a:r>
            <a:endParaRPr b="0" lang="en-US" sz="2700" strike="noStrike" u="none">
              <a:solidFill>
                <a:srgbClr val="000000"/>
              </a:solidFill>
              <a:effectLst/>
              <a:uFillTx/>
              <a:latin typeface="Arial"/>
            </a:endParaRPr>
          </a:p>
        </p:txBody>
      </p:sp>
      <p:sp>
        <p:nvSpPr>
          <p:cNvPr id="636"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37" name="Rounded Rectangle 4"/>
          <p:cNvSpPr/>
          <p:nvPr/>
        </p:nvSpPr>
        <p:spPr>
          <a:xfrm>
            <a:off x="914400" y="1920240"/>
            <a:ext cx="4754520" cy="22856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38" name="Rectangle 5"/>
          <p:cNvSpPr/>
          <p:nvPr/>
        </p:nvSpPr>
        <p:spPr>
          <a:xfrm>
            <a:off x="914400" y="1920240"/>
            <a:ext cx="63720" cy="228564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39" name="TextBox 6"/>
          <p:cNvSpPr/>
          <p:nvPr/>
        </p:nvSpPr>
        <p:spPr>
          <a:xfrm>
            <a:off x="1115640" y="2057400"/>
            <a:ext cx="43887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IT-Sicherheit</a:t>
            </a:r>
            <a:endParaRPr b="0" lang="en-US" sz="1500" strike="noStrike" u="none">
              <a:solidFill>
                <a:srgbClr val="000000"/>
              </a:solidFill>
              <a:effectLst/>
              <a:uFillTx/>
              <a:latin typeface="Arial"/>
            </a:endParaRPr>
          </a:p>
        </p:txBody>
      </p:sp>
      <p:sp>
        <p:nvSpPr>
          <p:cNvPr id="640" name="TextBox 7"/>
          <p:cNvSpPr/>
          <p:nvPr/>
        </p:nvSpPr>
        <p:spPr>
          <a:xfrm>
            <a:off x="1115640" y="2514600"/>
            <a:ext cx="4388760" cy="1572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Systeme und Informationen</a:t>
            </a:r>
            <a:br>
              <a:rPr sz="1300"/>
            </a:br>
            <a:r>
              <a:rPr b="0" lang="en-US" sz="1300" strike="noStrike" u="none">
                <a:solidFill>
                  <a:srgbClr val="465264"/>
                </a:solidFill>
                <a:effectLst/>
                <a:uFillTx/>
                <a:latin typeface="Calibri"/>
              </a:rPr>
              <a:t>gegen Risiken schützen</a:t>
            </a:r>
            <a:endParaRPr b="0" lang="en-US" sz="1300" strike="noStrike" u="none">
              <a:solidFill>
                <a:srgbClr val="000000"/>
              </a:solidFill>
              <a:effectLst/>
              <a:uFillTx/>
              <a:latin typeface="Arial"/>
            </a:endParaRPr>
          </a:p>
        </p:txBody>
      </p:sp>
      <p:sp>
        <p:nvSpPr>
          <p:cNvPr id="641" name="Rounded Rectangle 8"/>
          <p:cNvSpPr/>
          <p:nvPr/>
        </p:nvSpPr>
        <p:spPr>
          <a:xfrm>
            <a:off x="6492240" y="1920240"/>
            <a:ext cx="4754520" cy="22856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42" name="Rectangle 9"/>
          <p:cNvSpPr/>
          <p:nvPr/>
        </p:nvSpPr>
        <p:spPr>
          <a:xfrm>
            <a:off x="6492240" y="1920240"/>
            <a:ext cx="63720" cy="228564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43" name="TextBox 10"/>
          <p:cNvSpPr/>
          <p:nvPr/>
        </p:nvSpPr>
        <p:spPr>
          <a:xfrm>
            <a:off x="6693480" y="2057400"/>
            <a:ext cx="43887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Datenschutz</a:t>
            </a:r>
            <a:endParaRPr b="0" lang="en-US" sz="1500" strike="noStrike" u="none">
              <a:solidFill>
                <a:srgbClr val="000000"/>
              </a:solidFill>
              <a:effectLst/>
              <a:uFillTx/>
              <a:latin typeface="Arial"/>
            </a:endParaRPr>
          </a:p>
        </p:txBody>
      </p:sp>
      <p:sp>
        <p:nvSpPr>
          <p:cNvPr id="644" name="TextBox 11"/>
          <p:cNvSpPr/>
          <p:nvPr/>
        </p:nvSpPr>
        <p:spPr>
          <a:xfrm>
            <a:off x="6693480" y="2514600"/>
            <a:ext cx="4388760" cy="1572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rechtmäßiger und angemessener Umgang</a:t>
            </a:r>
            <a:br>
              <a:rPr sz="1300"/>
            </a:br>
            <a:r>
              <a:rPr b="0" lang="en-US" sz="1300" strike="noStrike" u="none">
                <a:solidFill>
                  <a:srgbClr val="465264"/>
                </a:solidFill>
                <a:effectLst/>
                <a:uFillTx/>
                <a:latin typeface="Calibri"/>
              </a:rPr>
              <a:t>mit personenbezogenen Daten</a:t>
            </a:r>
            <a:endParaRPr b="0" lang="en-US" sz="1300" strike="noStrike" u="none">
              <a:solidFill>
                <a:srgbClr val="000000"/>
              </a:solidFill>
              <a:effectLst/>
              <a:uFillTx/>
              <a:latin typeface="Arial"/>
            </a:endParaRPr>
          </a:p>
        </p:txBody>
      </p:sp>
      <p:sp>
        <p:nvSpPr>
          <p:cNvPr id="645" name="TextBox 12"/>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646" name="TextBox 13"/>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41</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47"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DATENSCHUTZ</a:t>
            </a:r>
            <a:endParaRPr b="0" lang="en-US" sz="900" strike="noStrike" u="none">
              <a:solidFill>
                <a:srgbClr val="000000"/>
              </a:solidFill>
              <a:effectLst/>
              <a:uFillTx/>
              <a:latin typeface="Arial"/>
            </a:endParaRPr>
          </a:p>
        </p:txBody>
      </p:sp>
      <p:sp>
        <p:nvSpPr>
          <p:cNvPr id="648"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DSGVO</a:t>
            </a:r>
            <a:endParaRPr b="0" lang="en-US" sz="2700" strike="noStrike" u="none">
              <a:solidFill>
                <a:srgbClr val="000000"/>
              </a:solidFill>
              <a:effectLst/>
              <a:uFillTx/>
              <a:latin typeface="Arial"/>
            </a:endParaRPr>
          </a:p>
        </p:txBody>
      </p:sp>
      <p:sp>
        <p:nvSpPr>
          <p:cNvPr id="649"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50" name="TextBox 4"/>
          <p:cNvSpPr/>
          <p:nvPr/>
        </p:nvSpPr>
        <p:spPr>
          <a:xfrm>
            <a:off x="822960" y="1691640"/>
            <a:ext cx="10515240" cy="4388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000" strike="noStrike" u="none">
                <a:solidFill>
                  <a:srgbClr val="465264"/>
                </a:solidFill>
                <a:effectLst/>
                <a:uFillTx/>
                <a:latin typeface="Calibri"/>
              </a:rPr>
              <a:t>• Welche personenbezogenen Daten brauchen wir wirklich?</a:t>
            </a:r>
            <a:endParaRPr b="0" lang="en-US" sz="2000" strike="noStrike" u="none">
              <a:solidFill>
                <a:srgbClr val="000000"/>
              </a:solidFill>
              <a:effectLst/>
              <a:uFillTx/>
              <a:latin typeface="Arial"/>
            </a:endParaRPr>
          </a:p>
          <a:p>
            <a:pPr defTabSz="457200">
              <a:lnSpc>
                <a:spcPct val="100000"/>
              </a:lnSpc>
              <a:spcAft>
                <a:spcPts val="799"/>
              </a:spcAft>
            </a:pPr>
            <a:r>
              <a:rPr b="0" lang="en-US" sz="2000" strike="noStrike" u="none">
                <a:solidFill>
                  <a:srgbClr val="465264"/>
                </a:solidFill>
                <a:effectLst/>
                <a:uFillTx/>
                <a:latin typeface="Calibri"/>
              </a:rPr>
              <a:t>• Wer darf sie nutzen?</a:t>
            </a:r>
            <a:endParaRPr b="0" lang="en-US" sz="2000" strike="noStrike" u="none">
              <a:solidFill>
                <a:srgbClr val="000000"/>
              </a:solidFill>
              <a:effectLst/>
              <a:uFillTx/>
              <a:latin typeface="Arial"/>
            </a:endParaRPr>
          </a:p>
          <a:p>
            <a:pPr defTabSz="457200">
              <a:lnSpc>
                <a:spcPct val="100000"/>
              </a:lnSpc>
              <a:spcAft>
                <a:spcPts val="799"/>
              </a:spcAft>
            </a:pPr>
            <a:r>
              <a:rPr b="0" lang="en-US" sz="2000" strike="noStrike" u="none">
                <a:solidFill>
                  <a:srgbClr val="465264"/>
                </a:solidFill>
                <a:effectLst/>
                <a:uFillTx/>
                <a:latin typeface="Calibri"/>
              </a:rPr>
              <a:t>• Für welchen Zweck?</a:t>
            </a:r>
            <a:endParaRPr b="0" lang="en-US" sz="2000" strike="noStrike" u="none">
              <a:solidFill>
                <a:srgbClr val="000000"/>
              </a:solidFill>
              <a:effectLst/>
              <a:uFillTx/>
              <a:latin typeface="Arial"/>
            </a:endParaRPr>
          </a:p>
          <a:p>
            <a:pPr defTabSz="457200">
              <a:lnSpc>
                <a:spcPct val="100000"/>
              </a:lnSpc>
              <a:spcAft>
                <a:spcPts val="799"/>
              </a:spcAft>
            </a:pPr>
            <a:r>
              <a:rPr b="0" lang="en-US" sz="2000" strike="noStrike" u="none">
                <a:solidFill>
                  <a:srgbClr val="465264"/>
                </a:solidFill>
                <a:effectLst/>
                <a:uFillTx/>
                <a:latin typeface="Calibri"/>
              </a:rPr>
              <a:t>• Wie lange werden sie benötigt?</a:t>
            </a:r>
            <a:endParaRPr b="0" lang="en-US" sz="2000" strike="noStrike" u="none">
              <a:solidFill>
                <a:srgbClr val="000000"/>
              </a:solidFill>
              <a:effectLst/>
              <a:uFillTx/>
              <a:latin typeface="Arial"/>
            </a:endParaRPr>
          </a:p>
          <a:p>
            <a:pPr defTabSz="457200">
              <a:lnSpc>
                <a:spcPct val="100000"/>
              </a:lnSpc>
              <a:spcAft>
                <a:spcPts val="799"/>
              </a:spcAft>
            </a:pPr>
            <a:r>
              <a:rPr b="0" lang="en-US" sz="2000" strike="noStrike" u="none">
                <a:solidFill>
                  <a:srgbClr val="465264"/>
                </a:solidFill>
                <a:effectLst/>
                <a:uFillTx/>
                <a:latin typeface="Calibri"/>
              </a:rPr>
              <a:t>• Wie werden sie angemessen geschützt?</a:t>
            </a:r>
            <a:endParaRPr b="0" lang="en-US" sz="2000" strike="noStrike" u="none">
              <a:solidFill>
                <a:srgbClr val="000000"/>
              </a:solidFill>
              <a:effectLst/>
              <a:uFillTx/>
              <a:latin typeface="Arial"/>
            </a:endParaRPr>
          </a:p>
        </p:txBody>
      </p:sp>
      <p:sp>
        <p:nvSpPr>
          <p:cNvPr id="651" name="TextBox 5"/>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652" name="TextBox 6"/>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42</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53"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REGULIERUNG</a:t>
            </a:r>
            <a:endParaRPr b="0" lang="en-US" sz="900" strike="noStrike" u="none">
              <a:solidFill>
                <a:srgbClr val="000000"/>
              </a:solidFill>
              <a:effectLst/>
              <a:uFillTx/>
              <a:latin typeface="Arial"/>
            </a:endParaRPr>
          </a:p>
        </p:txBody>
      </p:sp>
      <p:sp>
        <p:nvSpPr>
          <p:cNvPr id="654"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NIS2: Cybersicherheit als Organisationsaufgabe</a:t>
            </a:r>
            <a:endParaRPr b="0" lang="en-US" sz="2700" strike="noStrike" u="none">
              <a:solidFill>
                <a:srgbClr val="000000"/>
              </a:solidFill>
              <a:effectLst/>
              <a:uFillTx/>
              <a:latin typeface="Arial"/>
            </a:endParaRPr>
          </a:p>
        </p:txBody>
      </p:sp>
      <p:sp>
        <p:nvSpPr>
          <p:cNvPr id="655"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56" name="TextBox 4"/>
          <p:cNvSpPr/>
          <p:nvPr/>
        </p:nvSpPr>
        <p:spPr>
          <a:xfrm>
            <a:off x="914400" y="1600200"/>
            <a:ext cx="10240920" cy="914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900" strike="noStrike" u="none">
                <a:solidFill>
                  <a:srgbClr val="16263f"/>
                </a:solidFill>
                <a:effectLst/>
                <a:uFillTx/>
                <a:latin typeface="Calibri"/>
              </a:rPr>
              <a:t>Für bestimmte Unternehmen und Einrichtungen gibt es gesetzliche Anforderungen, Cybersicherheitsrisiken systematisch zu beherrschen.</a:t>
            </a:r>
            <a:endParaRPr b="0" lang="en-US" sz="1900" strike="noStrike" u="none">
              <a:solidFill>
                <a:srgbClr val="000000"/>
              </a:solidFill>
              <a:effectLst/>
              <a:uFillTx/>
              <a:latin typeface="Arial"/>
            </a:endParaRPr>
          </a:p>
        </p:txBody>
      </p:sp>
      <p:sp>
        <p:nvSpPr>
          <p:cNvPr id="657" name="TextBox 5"/>
          <p:cNvSpPr/>
          <p:nvPr/>
        </p:nvSpPr>
        <p:spPr>
          <a:xfrm>
            <a:off x="1097280" y="2834640"/>
            <a:ext cx="9875160" cy="2559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700" strike="noStrike" u="none">
                <a:solidFill>
                  <a:srgbClr val="465264"/>
                </a:solidFill>
                <a:effectLst/>
                <a:uFillTx/>
                <a:latin typeface="Calibri"/>
              </a:rPr>
              <a:t>• Risikomanagement</a:t>
            </a:r>
            <a:endParaRPr b="0" lang="en-US" sz="1700" strike="noStrike" u="none">
              <a:solidFill>
                <a:srgbClr val="000000"/>
              </a:solidFill>
              <a:effectLst/>
              <a:uFillTx/>
              <a:latin typeface="Arial"/>
            </a:endParaRPr>
          </a:p>
          <a:p>
            <a:pPr defTabSz="457200">
              <a:lnSpc>
                <a:spcPct val="100000"/>
              </a:lnSpc>
              <a:spcAft>
                <a:spcPts val="799"/>
              </a:spcAft>
            </a:pPr>
            <a:r>
              <a:rPr b="0" lang="en-US" sz="1700" strike="noStrike" u="none">
                <a:solidFill>
                  <a:srgbClr val="465264"/>
                </a:solidFill>
                <a:effectLst/>
                <a:uFillTx/>
                <a:latin typeface="Calibri"/>
              </a:rPr>
              <a:t>• Vorfallbehandlung</a:t>
            </a:r>
            <a:endParaRPr b="0" lang="en-US" sz="1700" strike="noStrike" u="none">
              <a:solidFill>
                <a:srgbClr val="000000"/>
              </a:solidFill>
              <a:effectLst/>
              <a:uFillTx/>
              <a:latin typeface="Arial"/>
            </a:endParaRPr>
          </a:p>
          <a:p>
            <a:pPr defTabSz="457200">
              <a:lnSpc>
                <a:spcPct val="100000"/>
              </a:lnSpc>
              <a:spcAft>
                <a:spcPts val="799"/>
              </a:spcAft>
            </a:pPr>
            <a:r>
              <a:rPr b="0" lang="en-US" sz="1700" strike="noStrike" u="none">
                <a:solidFill>
                  <a:srgbClr val="465264"/>
                </a:solidFill>
                <a:effectLst/>
                <a:uFillTx/>
                <a:latin typeface="Calibri"/>
              </a:rPr>
              <a:t>• Business Continuity / Backup</a:t>
            </a:r>
            <a:endParaRPr b="0" lang="en-US" sz="1700" strike="noStrike" u="none">
              <a:solidFill>
                <a:srgbClr val="000000"/>
              </a:solidFill>
              <a:effectLst/>
              <a:uFillTx/>
              <a:latin typeface="Arial"/>
            </a:endParaRPr>
          </a:p>
          <a:p>
            <a:pPr defTabSz="457200">
              <a:lnSpc>
                <a:spcPct val="100000"/>
              </a:lnSpc>
              <a:spcAft>
                <a:spcPts val="799"/>
              </a:spcAft>
            </a:pPr>
            <a:r>
              <a:rPr b="0" lang="en-US" sz="1700" strike="noStrike" u="none">
                <a:solidFill>
                  <a:srgbClr val="465264"/>
                </a:solidFill>
                <a:effectLst/>
                <a:uFillTx/>
                <a:latin typeface="Calibri"/>
              </a:rPr>
              <a:t>• Lieferkettensicherheit</a:t>
            </a:r>
            <a:endParaRPr b="0" lang="en-US" sz="1700" strike="noStrike" u="none">
              <a:solidFill>
                <a:srgbClr val="000000"/>
              </a:solidFill>
              <a:effectLst/>
              <a:uFillTx/>
              <a:latin typeface="Arial"/>
            </a:endParaRPr>
          </a:p>
          <a:p>
            <a:pPr defTabSz="457200">
              <a:lnSpc>
                <a:spcPct val="100000"/>
              </a:lnSpc>
              <a:spcAft>
                <a:spcPts val="799"/>
              </a:spcAft>
            </a:pPr>
            <a:r>
              <a:rPr b="0" lang="en-US" sz="1700" strike="noStrike" u="none">
                <a:solidFill>
                  <a:srgbClr val="465264"/>
                </a:solidFill>
                <a:effectLst/>
                <a:uFillTx/>
                <a:latin typeface="Calibri"/>
              </a:rPr>
              <a:t>• Schwachstellenmanagement · Cyberhygiene</a:t>
            </a:r>
            <a:endParaRPr b="0" lang="en-US" sz="1700" strike="noStrike" u="none">
              <a:solidFill>
                <a:srgbClr val="000000"/>
              </a:solidFill>
              <a:effectLst/>
              <a:uFillTx/>
              <a:latin typeface="Arial"/>
            </a:endParaRPr>
          </a:p>
          <a:p>
            <a:pPr defTabSz="457200">
              <a:lnSpc>
                <a:spcPct val="100000"/>
              </a:lnSpc>
              <a:spcAft>
                <a:spcPts val="799"/>
              </a:spcAft>
            </a:pPr>
            <a:r>
              <a:rPr b="0" lang="en-US" sz="1700" strike="noStrike" u="none">
                <a:solidFill>
                  <a:srgbClr val="465264"/>
                </a:solidFill>
                <a:effectLst/>
                <a:uFillTx/>
                <a:latin typeface="Calibri"/>
              </a:rPr>
              <a:t>• Kryptografie · Zugriffsschutz / MFA</a:t>
            </a:r>
            <a:endParaRPr b="0" lang="en-US" sz="1700" strike="noStrike" u="none">
              <a:solidFill>
                <a:srgbClr val="000000"/>
              </a:solidFill>
              <a:effectLst/>
              <a:uFillTx/>
              <a:latin typeface="Arial"/>
            </a:endParaRPr>
          </a:p>
        </p:txBody>
      </p:sp>
      <p:sp>
        <p:nvSpPr>
          <p:cNvPr id="658" name="TextBox 6"/>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659" name="TextBox 7"/>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43</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60"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KI &amp; SECURITY</a:t>
            </a:r>
            <a:endParaRPr b="0" lang="en-US" sz="900" strike="noStrike" u="none">
              <a:solidFill>
                <a:srgbClr val="000000"/>
              </a:solidFill>
              <a:effectLst/>
              <a:uFillTx/>
              <a:latin typeface="Arial"/>
            </a:endParaRPr>
          </a:p>
        </p:txBody>
      </p:sp>
      <p:sp>
        <p:nvSpPr>
          <p:cNvPr id="661"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KI auf Angreifer- und Verteidigerseite</a:t>
            </a:r>
            <a:endParaRPr b="0" lang="en-US" sz="2700" strike="noStrike" u="none">
              <a:solidFill>
                <a:srgbClr val="000000"/>
              </a:solidFill>
              <a:effectLst/>
              <a:uFillTx/>
              <a:latin typeface="Arial"/>
            </a:endParaRPr>
          </a:p>
        </p:txBody>
      </p:sp>
      <p:sp>
        <p:nvSpPr>
          <p:cNvPr id="662"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63" name="Rounded Rectangle 4"/>
          <p:cNvSpPr/>
          <p:nvPr/>
        </p:nvSpPr>
        <p:spPr>
          <a:xfrm>
            <a:off x="914400" y="1828800"/>
            <a:ext cx="4754520" cy="27428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64" name="Rectangle 5"/>
          <p:cNvSpPr/>
          <p:nvPr/>
        </p:nvSpPr>
        <p:spPr>
          <a:xfrm>
            <a:off x="914400" y="1828800"/>
            <a:ext cx="63720" cy="2742840"/>
          </a:xfrm>
          <a:prstGeom prst="rect">
            <a:avLst/>
          </a:prstGeom>
          <a:solidFill>
            <a:srgbClr val="b4282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65" name="TextBox 6"/>
          <p:cNvSpPr/>
          <p:nvPr/>
        </p:nvSpPr>
        <p:spPr>
          <a:xfrm>
            <a:off x="1115640" y="1965960"/>
            <a:ext cx="43887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Angriff</a:t>
            </a:r>
            <a:endParaRPr b="0" lang="en-US" sz="1500" strike="noStrike" u="none">
              <a:solidFill>
                <a:srgbClr val="000000"/>
              </a:solidFill>
              <a:effectLst/>
              <a:uFillTx/>
              <a:latin typeface="Arial"/>
            </a:endParaRPr>
          </a:p>
        </p:txBody>
      </p:sp>
      <p:sp>
        <p:nvSpPr>
          <p:cNvPr id="666" name="TextBox 7"/>
          <p:cNvSpPr/>
          <p:nvPr/>
        </p:nvSpPr>
        <p:spPr>
          <a:xfrm>
            <a:off x="1115640" y="2423160"/>
            <a:ext cx="4388760" cy="202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überzeugenderes Phishing</a:t>
            </a:r>
            <a:br>
              <a:rPr sz="1300"/>
            </a:br>
            <a:r>
              <a:rPr b="0" lang="en-US" sz="1300" strike="noStrike" u="none">
                <a:solidFill>
                  <a:srgbClr val="465264"/>
                </a:solidFill>
                <a:effectLst/>
                <a:uFillTx/>
                <a:latin typeface="Calibri"/>
              </a:rPr>
              <a:t>Informationsauswertung</a:t>
            </a:r>
            <a:br>
              <a:rPr sz="1300"/>
            </a:br>
            <a:r>
              <a:rPr b="0" lang="en-US" sz="1300" strike="noStrike" u="none">
                <a:solidFill>
                  <a:srgbClr val="465264"/>
                </a:solidFill>
                <a:effectLst/>
                <a:uFillTx/>
                <a:latin typeface="Calibri"/>
              </a:rPr>
              <a:t>Social Engineering / Deepfakes</a:t>
            </a:r>
            <a:br>
              <a:rPr sz="1300"/>
            </a:br>
            <a:r>
              <a:rPr b="0" lang="en-US" sz="1300" strike="noStrike" u="none">
                <a:solidFill>
                  <a:srgbClr val="465264"/>
                </a:solidFill>
                <a:effectLst/>
                <a:uFillTx/>
                <a:latin typeface="Calibri"/>
              </a:rPr>
              <a:t>Automatisierung</a:t>
            </a:r>
            <a:endParaRPr b="0" lang="en-US" sz="1300" strike="noStrike" u="none">
              <a:solidFill>
                <a:srgbClr val="000000"/>
              </a:solidFill>
              <a:effectLst/>
              <a:uFillTx/>
              <a:latin typeface="Arial"/>
            </a:endParaRPr>
          </a:p>
        </p:txBody>
      </p:sp>
      <p:sp>
        <p:nvSpPr>
          <p:cNvPr id="667" name="Rounded Rectangle 8"/>
          <p:cNvSpPr/>
          <p:nvPr/>
        </p:nvSpPr>
        <p:spPr>
          <a:xfrm>
            <a:off x="6492240" y="1828800"/>
            <a:ext cx="4754520" cy="27428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68" name="Rectangle 9"/>
          <p:cNvSpPr/>
          <p:nvPr/>
        </p:nvSpPr>
        <p:spPr>
          <a:xfrm>
            <a:off x="6492240" y="1828800"/>
            <a:ext cx="63720" cy="274284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69" name="TextBox 10"/>
          <p:cNvSpPr/>
          <p:nvPr/>
        </p:nvSpPr>
        <p:spPr>
          <a:xfrm>
            <a:off x="6693480" y="1965960"/>
            <a:ext cx="438876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Verteidigung</a:t>
            </a:r>
            <a:endParaRPr b="0" lang="en-US" sz="1500" strike="noStrike" u="none">
              <a:solidFill>
                <a:srgbClr val="000000"/>
              </a:solidFill>
              <a:effectLst/>
              <a:uFillTx/>
              <a:latin typeface="Arial"/>
            </a:endParaRPr>
          </a:p>
        </p:txBody>
      </p:sp>
      <p:sp>
        <p:nvSpPr>
          <p:cNvPr id="670" name="TextBox 11"/>
          <p:cNvSpPr/>
          <p:nvPr/>
        </p:nvSpPr>
        <p:spPr>
          <a:xfrm>
            <a:off x="6693480" y="2423160"/>
            <a:ext cx="4388760" cy="2029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Anomalieerkennung</a:t>
            </a:r>
            <a:br>
              <a:rPr sz="1300"/>
            </a:br>
            <a:r>
              <a:rPr b="0" lang="en-US" sz="1300" strike="noStrike" u="none">
                <a:solidFill>
                  <a:srgbClr val="465264"/>
                </a:solidFill>
                <a:effectLst/>
                <a:uFillTx/>
                <a:latin typeface="Calibri"/>
              </a:rPr>
              <a:t>Loganalyse</a:t>
            </a:r>
            <a:br>
              <a:rPr sz="1300"/>
            </a:br>
            <a:r>
              <a:rPr b="0" lang="en-US" sz="1300" strike="noStrike" u="none">
                <a:solidFill>
                  <a:srgbClr val="465264"/>
                </a:solidFill>
                <a:effectLst/>
                <a:uFillTx/>
                <a:latin typeface="Calibri"/>
              </a:rPr>
              <a:t>Codeanalyse</a:t>
            </a:r>
            <a:br>
              <a:rPr sz="1300"/>
            </a:br>
            <a:r>
              <a:rPr b="0" lang="en-US" sz="1300" strike="noStrike" u="none">
                <a:solidFill>
                  <a:srgbClr val="465264"/>
                </a:solidFill>
                <a:effectLst/>
                <a:uFillTx/>
                <a:latin typeface="Calibri"/>
              </a:rPr>
              <a:t>Unterstützung von Security-Teams</a:t>
            </a:r>
            <a:endParaRPr b="0" lang="en-US" sz="1300" strike="noStrike" u="none">
              <a:solidFill>
                <a:srgbClr val="000000"/>
              </a:solidFill>
              <a:effectLst/>
              <a:uFillTx/>
              <a:latin typeface="Arial"/>
            </a:endParaRPr>
          </a:p>
        </p:txBody>
      </p:sp>
      <p:sp>
        <p:nvSpPr>
          <p:cNvPr id="671" name="TextBox 12"/>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672" name="TextBox 13"/>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44</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73"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KI &amp; ENTWICKLUNG</a:t>
            </a:r>
            <a:endParaRPr b="0" lang="en-US" sz="900" strike="noStrike" u="none">
              <a:solidFill>
                <a:srgbClr val="000000"/>
              </a:solidFill>
              <a:effectLst/>
              <a:uFillTx/>
              <a:latin typeface="Arial"/>
            </a:endParaRPr>
          </a:p>
        </p:txBody>
      </p:sp>
      <p:sp>
        <p:nvSpPr>
          <p:cNvPr id="674"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KI-generierter Code: niemals blind übernehmen</a:t>
            </a:r>
            <a:endParaRPr b="0" lang="en-US" sz="2700" strike="noStrike" u="none">
              <a:solidFill>
                <a:srgbClr val="000000"/>
              </a:solidFill>
              <a:effectLst/>
              <a:uFillTx/>
              <a:latin typeface="Arial"/>
            </a:endParaRPr>
          </a:p>
        </p:txBody>
      </p:sp>
      <p:sp>
        <p:nvSpPr>
          <p:cNvPr id="675"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76" name="TextBox 4"/>
          <p:cNvSpPr/>
          <p:nvPr/>
        </p:nvSpPr>
        <p:spPr>
          <a:xfrm>
            <a:off x="914400" y="1600200"/>
            <a:ext cx="10240920" cy="10969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400" strike="noStrike" u="none">
                <a:solidFill>
                  <a:srgbClr val="b42828"/>
                </a:solidFill>
                <a:effectLst/>
                <a:uFillTx/>
                <a:latin typeface="Calibri"/>
              </a:rPr>
              <a:t>KI-generierter Code muss immer geprüft werden</a:t>
            </a:r>
            <a:br>
              <a:rPr sz="2400"/>
            </a:br>
            <a:r>
              <a:rPr b="1" lang="en-US" sz="2400" strike="noStrike" u="none">
                <a:solidFill>
                  <a:srgbClr val="b42828"/>
                </a:solidFill>
                <a:effectLst/>
                <a:uFillTx/>
                <a:latin typeface="Calibri"/>
              </a:rPr>
              <a:t>und darf niemals blind übernommen werden.</a:t>
            </a:r>
            <a:endParaRPr b="0" lang="en-US" sz="2400" strike="noStrike" u="none">
              <a:solidFill>
                <a:srgbClr val="000000"/>
              </a:solidFill>
              <a:effectLst/>
              <a:uFillTx/>
              <a:latin typeface="Arial"/>
            </a:endParaRPr>
          </a:p>
        </p:txBody>
      </p:sp>
      <p:sp>
        <p:nvSpPr>
          <p:cNvPr id="677" name="TextBox 5"/>
          <p:cNvSpPr/>
          <p:nvPr/>
        </p:nvSpPr>
        <p:spPr>
          <a:xfrm>
            <a:off x="1280160" y="3063240"/>
            <a:ext cx="9692280" cy="2102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700" strike="noStrike" u="none">
                <a:solidFill>
                  <a:srgbClr val="465264"/>
                </a:solidFill>
                <a:effectLst/>
                <a:uFillTx/>
                <a:latin typeface="Calibri"/>
              </a:rPr>
              <a:t>• fachliche / logische Fehler</a:t>
            </a:r>
            <a:endParaRPr b="0" lang="en-US" sz="1700" strike="noStrike" u="none">
              <a:solidFill>
                <a:srgbClr val="000000"/>
              </a:solidFill>
              <a:effectLst/>
              <a:uFillTx/>
              <a:latin typeface="Arial"/>
            </a:endParaRPr>
          </a:p>
          <a:p>
            <a:pPr defTabSz="457200">
              <a:lnSpc>
                <a:spcPct val="100000"/>
              </a:lnSpc>
              <a:spcAft>
                <a:spcPts val="799"/>
              </a:spcAft>
            </a:pPr>
            <a:r>
              <a:rPr b="0" lang="en-US" sz="1700" strike="noStrike" u="none">
                <a:solidFill>
                  <a:srgbClr val="465264"/>
                </a:solidFill>
                <a:effectLst/>
                <a:uFillTx/>
                <a:latin typeface="Calibri"/>
              </a:rPr>
              <a:t>• Sicherheitslücken</a:t>
            </a:r>
            <a:endParaRPr b="0" lang="en-US" sz="1700" strike="noStrike" u="none">
              <a:solidFill>
                <a:srgbClr val="000000"/>
              </a:solidFill>
              <a:effectLst/>
              <a:uFillTx/>
              <a:latin typeface="Arial"/>
            </a:endParaRPr>
          </a:p>
          <a:p>
            <a:pPr defTabSz="457200">
              <a:lnSpc>
                <a:spcPct val="100000"/>
              </a:lnSpc>
              <a:spcAft>
                <a:spcPts val="799"/>
              </a:spcAft>
            </a:pPr>
            <a:r>
              <a:rPr b="0" lang="en-US" sz="1700" strike="noStrike" u="none">
                <a:solidFill>
                  <a:srgbClr val="465264"/>
                </a:solidFill>
                <a:effectLst/>
                <a:uFillTx/>
                <a:latin typeface="Calibri"/>
              </a:rPr>
              <a:t>• veraltete oder ungeeignete Abhängigkeiten</a:t>
            </a:r>
            <a:endParaRPr b="0" lang="en-US" sz="1700" strike="noStrike" u="none">
              <a:solidFill>
                <a:srgbClr val="000000"/>
              </a:solidFill>
              <a:effectLst/>
              <a:uFillTx/>
              <a:latin typeface="Arial"/>
            </a:endParaRPr>
          </a:p>
          <a:p>
            <a:pPr defTabSz="457200">
              <a:lnSpc>
                <a:spcPct val="100000"/>
              </a:lnSpc>
              <a:spcAft>
                <a:spcPts val="799"/>
              </a:spcAft>
            </a:pPr>
            <a:r>
              <a:rPr b="0" lang="en-US" sz="1700" strike="noStrike" u="none">
                <a:solidFill>
                  <a:srgbClr val="465264"/>
                </a:solidFill>
                <a:effectLst/>
                <a:uFillTx/>
                <a:latin typeface="Calibri"/>
              </a:rPr>
              <a:t>• Datenschutz- oder Lizenz-/Herkunftsfragen</a:t>
            </a:r>
            <a:endParaRPr b="0" lang="en-US" sz="1700" strike="noStrike" u="none">
              <a:solidFill>
                <a:srgbClr val="000000"/>
              </a:solidFill>
              <a:effectLst/>
              <a:uFillTx/>
              <a:latin typeface="Arial"/>
            </a:endParaRPr>
          </a:p>
          <a:p>
            <a:pPr defTabSz="457200">
              <a:lnSpc>
                <a:spcPct val="100000"/>
              </a:lnSpc>
              <a:spcAft>
                <a:spcPts val="799"/>
              </a:spcAft>
            </a:pPr>
            <a:r>
              <a:rPr b="0" lang="en-US" sz="1700" strike="noStrike" u="none">
                <a:solidFill>
                  <a:srgbClr val="465264"/>
                </a:solidFill>
                <a:effectLst/>
                <a:uFillTx/>
                <a:latin typeface="Calibri"/>
              </a:rPr>
              <a:t>• schlechte Wartbarkeit</a:t>
            </a:r>
            <a:endParaRPr b="0" lang="en-US" sz="1700" strike="noStrike" u="none">
              <a:solidFill>
                <a:srgbClr val="000000"/>
              </a:solidFill>
              <a:effectLst/>
              <a:uFillTx/>
              <a:latin typeface="Arial"/>
            </a:endParaRPr>
          </a:p>
        </p:txBody>
      </p:sp>
      <p:sp>
        <p:nvSpPr>
          <p:cNvPr id="678" name="TextBox 6"/>
          <p:cNvSpPr/>
          <p:nvPr/>
        </p:nvSpPr>
        <p:spPr>
          <a:xfrm>
            <a:off x="914400" y="5394960"/>
            <a:ext cx="10240920" cy="411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500" strike="noStrike" u="none">
                <a:solidFill>
                  <a:srgbClr val="16263f"/>
                </a:solidFill>
                <a:effectLst/>
                <a:uFillTx/>
                <a:latin typeface="Calibri"/>
              </a:rPr>
              <a:t>Prüfen: Funktion → Verständlichkeit → Sicherheit → Datenschutz → Abhängigkeiten → Tests</a:t>
            </a:r>
            <a:endParaRPr b="0" lang="en-US" sz="1500" strike="noStrike" u="none">
              <a:solidFill>
                <a:srgbClr val="000000"/>
              </a:solidFill>
              <a:effectLst/>
              <a:uFillTx/>
              <a:latin typeface="Arial"/>
            </a:endParaRPr>
          </a:p>
        </p:txBody>
      </p:sp>
      <p:sp>
        <p:nvSpPr>
          <p:cNvPr id="679" name="TextBox 7"/>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680" name="TextBox 8"/>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45</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81"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TRANSFER</a:t>
            </a:r>
            <a:endParaRPr b="0" lang="en-US" sz="900" strike="noStrike" u="none">
              <a:solidFill>
                <a:srgbClr val="000000"/>
              </a:solidFill>
              <a:effectLst/>
              <a:uFillTx/>
              <a:latin typeface="Arial"/>
            </a:endParaRPr>
          </a:p>
        </p:txBody>
      </p:sp>
      <p:sp>
        <p:nvSpPr>
          <p:cNvPr id="682"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Abschlussfall: Schülerfestival</a:t>
            </a:r>
            <a:endParaRPr b="0" lang="en-US" sz="2700" strike="noStrike" u="none">
              <a:solidFill>
                <a:srgbClr val="000000"/>
              </a:solidFill>
              <a:effectLst/>
              <a:uFillTx/>
              <a:latin typeface="Arial"/>
            </a:endParaRPr>
          </a:p>
        </p:txBody>
      </p:sp>
      <p:sp>
        <p:nvSpPr>
          <p:cNvPr id="683"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84" name="Rounded Rectangle 4"/>
          <p:cNvSpPr/>
          <p:nvPr/>
        </p:nvSpPr>
        <p:spPr>
          <a:xfrm>
            <a:off x="640080" y="1737360"/>
            <a:ext cx="3657240" cy="22856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85" name="Rectangle 5"/>
          <p:cNvSpPr/>
          <p:nvPr/>
        </p:nvSpPr>
        <p:spPr>
          <a:xfrm>
            <a:off x="640080" y="1737360"/>
            <a:ext cx="63720" cy="2285640"/>
          </a:xfrm>
          <a:prstGeom prst="rect">
            <a:avLst/>
          </a:prstGeom>
          <a:solidFill>
            <a:srgbClr val="2d69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86" name="TextBox 6"/>
          <p:cNvSpPr/>
          <p:nvPr/>
        </p:nvSpPr>
        <p:spPr>
          <a:xfrm>
            <a:off x="841320" y="1874520"/>
            <a:ext cx="32914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Architektur</a:t>
            </a:r>
            <a:endParaRPr b="0" lang="en-US" sz="1500" strike="noStrike" u="none">
              <a:solidFill>
                <a:srgbClr val="000000"/>
              </a:solidFill>
              <a:effectLst/>
              <a:uFillTx/>
              <a:latin typeface="Arial"/>
            </a:endParaRPr>
          </a:p>
        </p:txBody>
      </p:sp>
      <p:sp>
        <p:nvSpPr>
          <p:cNvPr id="687" name="TextBox 7"/>
          <p:cNvSpPr/>
          <p:nvPr/>
        </p:nvSpPr>
        <p:spPr>
          <a:xfrm>
            <a:off x="841320" y="2331720"/>
            <a:ext cx="3291480" cy="1572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Angular-Frontend ⇄ API ⇄ Backend ⇄ Datenbank</a:t>
            </a:r>
            <a:br>
              <a:rPr sz="1300"/>
            </a:br>
            <a:r>
              <a:rPr b="0" lang="en-US" sz="1300" strike="noStrike" u="none">
                <a:solidFill>
                  <a:srgbClr val="465264"/>
                </a:solidFill>
                <a:effectLst/>
                <a:uFillTx/>
                <a:latin typeface="Calibri"/>
              </a:rPr>
              <a:t>Cloudbetrieb · optional WebSocket</a:t>
            </a:r>
            <a:endParaRPr b="0" lang="en-US" sz="1300" strike="noStrike" u="none">
              <a:solidFill>
                <a:srgbClr val="000000"/>
              </a:solidFill>
              <a:effectLst/>
              <a:uFillTx/>
              <a:latin typeface="Arial"/>
            </a:endParaRPr>
          </a:p>
        </p:txBody>
      </p:sp>
      <p:sp>
        <p:nvSpPr>
          <p:cNvPr id="688" name="Rounded Rectangle 8"/>
          <p:cNvSpPr/>
          <p:nvPr/>
        </p:nvSpPr>
        <p:spPr>
          <a:xfrm>
            <a:off x="4480560" y="1737360"/>
            <a:ext cx="3200040" cy="22856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89" name="Rectangle 9"/>
          <p:cNvSpPr/>
          <p:nvPr/>
        </p:nvSpPr>
        <p:spPr>
          <a:xfrm>
            <a:off x="4480560" y="1737360"/>
            <a:ext cx="63720" cy="228564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90" name="TextBox 10"/>
          <p:cNvSpPr/>
          <p:nvPr/>
        </p:nvSpPr>
        <p:spPr>
          <a:xfrm>
            <a:off x="4681800" y="1874520"/>
            <a:ext cx="28342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Daten</a:t>
            </a:r>
            <a:endParaRPr b="0" lang="en-US" sz="1500" strike="noStrike" u="none">
              <a:solidFill>
                <a:srgbClr val="000000"/>
              </a:solidFill>
              <a:effectLst/>
              <a:uFillTx/>
              <a:latin typeface="Arial"/>
            </a:endParaRPr>
          </a:p>
        </p:txBody>
      </p:sp>
      <p:sp>
        <p:nvSpPr>
          <p:cNvPr id="691" name="TextBox 11"/>
          <p:cNvSpPr/>
          <p:nvPr/>
        </p:nvSpPr>
        <p:spPr>
          <a:xfrm>
            <a:off x="4681800" y="2331720"/>
            <a:ext cx="2834280" cy="1572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Name · Klasse · E-Mail · Workshopwahl</a:t>
            </a:r>
            <a:endParaRPr b="0" lang="en-US" sz="1300" strike="noStrike" u="none">
              <a:solidFill>
                <a:srgbClr val="000000"/>
              </a:solidFill>
              <a:effectLst/>
              <a:uFillTx/>
              <a:latin typeface="Arial"/>
            </a:endParaRPr>
          </a:p>
        </p:txBody>
      </p:sp>
      <p:sp>
        <p:nvSpPr>
          <p:cNvPr id="692" name="Rounded Rectangle 12"/>
          <p:cNvSpPr/>
          <p:nvPr/>
        </p:nvSpPr>
        <p:spPr>
          <a:xfrm>
            <a:off x="7863840" y="1737360"/>
            <a:ext cx="3657240" cy="228564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93" name="Rectangle 13"/>
          <p:cNvSpPr/>
          <p:nvPr/>
        </p:nvSpPr>
        <p:spPr>
          <a:xfrm>
            <a:off x="7863840" y="1737360"/>
            <a:ext cx="63720" cy="228564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94" name="TextBox 14"/>
          <p:cNvSpPr/>
          <p:nvPr/>
        </p:nvSpPr>
        <p:spPr>
          <a:xfrm>
            <a:off x="8065080" y="1874520"/>
            <a:ext cx="329148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Prüft als Team</a:t>
            </a:r>
            <a:endParaRPr b="0" lang="en-US" sz="1500" strike="noStrike" u="none">
              <a:solidFill>
                <a:srgbClr val="000000"/>
              </a:solidFill>
              <a:effectLst/>
              <a:uFillTx/>
              <a:latin typeface="Arial"/>
            </a:endParaRPr>
          </a:p>
        </p:txBody>
      </p:sp>
      <p:sp>
        <p:nvSpPr>
          <p:cNvPr id="695" name="TextBox 15"/>
          <p:cNvSpPr/>
          <p:nvPr/>
        </p:nvSpPr>
        <p:spPr>
          <a:xfrm>
            <a:off x="8065080" y="2331720"/>
            <a:ext cx="3291480" cy="1572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Architektur</a:t>
            </a:r>
            <a:br>
              <a:rPr sz="1300"/>
            </a:br>
            <a:r>
              <a:rPr b="0" lang="en-US" sz="1300" strike="noStrike" u="none">
                <a:solidFill>
                  <a:srgbClr val="465264"/>
                </a:solidFill>
                <a:effectLst/>
                <a:uFillTx/>
                <a:latin typeface="Calibri"/>
              </a:rPr>
              <a:t>Datenschutz</a:t>
            </a:r>
            <a:br>
              <a:rPr sz="1300"/>
            </a:br>
            <a:r>
              <a:rPr b="0" lang="en-US" sz="1300" strike="noStrike" u="none">
                <a:solidFill>
                  <a:srgbClr val="465264"/>
                </a:solidFill>
                <a:effectLst/>
                <a:uFillTx/>
                <a:latin typeface="Calibri"/>
              </a:rPr>
              <a:t>Security</a:t>
            </a:r>
            <a:endParaRPr b="0" lang="en-US" sz="1300" strike="noStrike" u="none">
              <a:solidFill>
                <a:srgbClr val="000000"/>
              </a:solidFill>
              <a:effectLst/>
              <a:uFillTx/>
              <a:latin typeface="Arial"/>
            </a:endParaRPr>
          </a:p>
        </p:txBody>
      </p:sp>
      <p:sp>
        <p:nvSpPr>
          <p:cNvPr id="696" name="TextBox 16"/>
          <p:cNvSpPr/>
          <p:nvPr/>
        </p:nvSpPr>
        <p:spPr>
          <a:xfrm>
            <a:off x="822960" y="4343400"/>
            <a:ext cx="10515240" cy="1599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500" strike="noStrike" u="none">
                <a:solidFill>
                  <a:srgbClr val="465264"/>
                </a:solidFill>
                <a:effectLst/>
                <a:uFillTx/>
                <a:latin typeface="Calibri"/>
              </a:rPr>
              <a:t>• Welche Daten brauchen wir? Wer darf was?</a:t>
            </a:r>
            <a:endParaRPr b="0" lang="en-US" sz="1500" strike="noStrike" u="none">
              <a:solidFill>
                <a:srgbClr val="000000"/>
              </a:solidFill>
              <a:effectLst/>
              <a:uFillTx/>
              <a:latin typeface="Arial"/>
            </a:endParaRPr>
          </a:p>
          <a:p>
            <a:pPr defTabSz="457200">
              <a:lnSpc>
                <a:spcPct val="100000"/>
              </a:lnSpc>
              <a:spcAft>
                <a:spcPts val="799"/>
              </a:spcAft>
            </a:pPr>
            <a:r>
              <a:rPr b="0" lang="en-US" sz="1500" strike="noStrike" u="none">
                <a:solidFill>
                  <a:srgbClr val="465264"/>
                </a:solidFill>
                <a:effectLst/>
                <a:uFillTx/>
                <a:latin typeface="Calibri"/>
              </a:rPr>
              <a:t>• Welche Schutzziele? Backup/Restore? Verschlüsselung?</a:t>
            </a:r>
            <a:endParaRPr b="0" lang="en-US" sz="1500" strike="noStrike" u="none">
              <a:solidFill>
                <a:srgbClr val="000000"/>
              </a:solidFill>
              <a:effectLst/>
              <a:uFillTx/>
              <a:latin typeface="Arial"/>
            </a:endParaRPr>
          </a:p>
          <a:p>
            <a:pPr defTabSz="457200">
              <a:lnSpc>
                <a:spcPct val="100000"/>
              </a:lnSpc>
              <a:spcAft>
                <a:spcPts val="799"/>
              </a:spcAft>
            </a:pPr>
            <a:r>
              <a:rPr b="0" lang="en-US" sz="1500" strike="noStrike" u="none">
                <a:solidFill>
                  <a:srgbClr val="465264"/>
                </a:solidFill>
                <a:effectLst/>
                <a:uFillTx/>
                <a:latin typeface="Calibri"/>
              </a:rPr>
              <a:t>• Wer trägt welche Cloud-Verantwortung?</a:t>
            </a:r>
            <a:endParaRPr b="0" lang="en-US" sz="1500" strike="noStrike" u="none">
              <a:solidFill>
                <a:srgbClr val="000000"/>
              </a:solidFill>
              <a:effectLst/>
              <a:uFillTx/>
              <a:latin typeface="Arial"/>
            </a:endParaRPr>
          </a:p>
          <a:p>
            <a:pPr defTabSz="457200">
              <a:lnSpc>
                <a:spcPct val="100000"/>
              </a:lnSpc>
              <a:spcAft>
                <a:spcPts val="799"/>
              </a:spcAft>
            </a:pPr>
            <a:r>
              <a:rPr b="0" lang="en-US" sz="1500" strike="noStrike" u="none">
                <a:solidFill>
                  <a:srgbClr val="465264"/>
                </a:solidFill>
                <a:effectLst/>
                <a:uFillTx/>
                <a:latin typeface="Calibri"/>
              </a:rPr>
              <a:t>• Wo sind Live-Verbindungen sinnvoll?</a:t>
            </a:r>
            <a:endParaRPr b="0" lang="en-US" sz="1500" strike="noStrike" u="none">
              <a:solidFill>
                <a:srgbClr val="000000"/>
              </a:solidFill>
              <a:effectLst/>
              <a:uFillTx/>
              <a:latin typeface="Arial"/>
            </a:endParaRPr>
          </a:p>
          <a:p>
            <a:pPr defTabSz="457200">
              <a:lnSpc>
                <a:spcPct val="100000"/>
              </a:lnSpc>
              <a:spcAft>
                <a:spcPts val="799"/>
              </a:spcAft>
            </a:pPr>
            <a:r>
              <a:rPr b="0" lang="en-US" sz="1500" strike="noStrike" u="none">
                <a:solidFill>
                  <a:srgbClr val="465264"/>
                </a:solidFill>
                <a:effectLst/>
                <a:uFillTx/>
                <a:latin typeface="Calibri"/>
              </a:rPr>
              <a:t>• Wo kann KI helfen – und was muss geprüft werden?</a:t>
            </a:r>
            <a:endParaRPr b="0" lang="en-US" sz="1500" strike="noStrike" u="none">
              <a:solidFill>
                <a:srgbClr val="000000"/>
              </a:solidFill>
              <a:effectLst/>
              <a:uFillTx/>
              <a:latin typeface="Arial"/>
            </a:endParaRPr>
          </a:p>
        </p:txBody>
      </p:sp>
      <p:sp>
        <p:nvSpPr>
          <p:cNvPr id="697" name="TextBox 17"/>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698" name="TextBox 18"/>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46</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99"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SICHERUNG</a:t>
            </a:r>
            <a:endParaRPr b="0" lang="en-US" sz="900" strike="noStrike" u="none">
              <a:solidFill>
                <a:srgbClr val="000000"/>
              </a:solidFill>
              <a:effectLst/>
              <a:uFillTx/>
              <a:latin typeface="Arial"/>
            </a:endParaRPr>
          </a:p>
        </p:txBody>
      </p:sp>
      <p:sp>
        <p:nvSpPr>
          <p:cNvPr id="700"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Eine gute Webanwendung muss mehr als funktionieren</a:t>
            </a:r>
            <a:endParaRPr b="0" lang="en-US" sz="2700" strike="noStrike" u="none">
              <a:solidFill>
                <a:srgbClr val="000000"/>
              </a:solidFill>
              <a:effectLst/>
              <a:uFillTx/>
              <a:latin typeface="Arial"/>
            </a:endParaRPr>
          </a:p>
        </p:txBody>
      </p:sp>
      <p:sp>
        <p:nvSpPr>
          <p:cNvPr id="701"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702" name="TextBox 4"/>
          <p:cNvSpPr/>
          <p:nvPr/>
        </p:nvSpPr>
        <p:spPr>
          <a:xfrm>
            <a:off x="822960" y="1691640"/>
            <a:ext cx="10515240" cy="4388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2000" strike="noStrike" u="none">
                <a:solidFill>
                  <a:srgbClr val="465264"/>
                </a:solidFill>
                <a:effectLst/>
                <a:uFillTx/>
                <a:latin typeface="Calibri"/>
              </a:rPr>
              <a:t>• verständlich aufgebaut sein</a:t>
            </a:r>
            <a:endParaRPr b="0" lang="en-US" sz="2000" strike="noStrike" u="none">
              <a:solidFill>
                <a:srgbClr val="000000"/>
              </a:solidFill>
              <a:effectLst/>
              <a:uFillTx/>
              <a:latin typeface="Arial"/>
            </a:endParaRPr>
          </a:p>
          <a:p>
            <a:pPr defTabSz="457200">
              <a:lnSpc>
                <a:spcPct val="100000"/>
              </a:lnSpc>
              <a:spcAft>
                <a:spcPts val="799"/>
              </a:spcAft>
            </a:pPr>
            <a:r>
              <a:rPr b="0" lang="en-US" sz="2000" strike="noStrike" u="none">
                <a:solidFill>
                  <a:srgbClr val="465264"/>
                </a:solidFill>
                <a:effectLst/>
                <a:uFillTx/>
                <a:latin typeface="Calibri"/>
              </a:rPr>
              <a:t>• zuverlässig funktionieren</a:t>
            </a:r>
            <a:endParaRPr b="0" lang="en-US" sz="2000" strike="noStrike" u="none">
              <a:solidFill>
                <a:srgbClr val="000000"/>
              </a:solidFill>
              <a:effectLst/>
              <a:uFillTx/>
              <a:latin typeface="Arial"/>
            </a:endParaRPr>
          </a:p>
          <a:p>
            <a:pPr defTabSz="457200">
              <a:lnSpc>
                <a:spcPct val="100000"/>
              </a:lnSpc>
              <a:spcAft>
                <a:spcPts val="799"/>
              </a:spcAft>
            </a:pPr>
            <a:r>
              <a:rPr b="0" lang="en-US" sz="2000" strike="noStrike" u="none">
                <a:solidFill>
                  <a:srgbClr val="465264"/>
                </a:solidFill>
                <a:effectLst/>
                <a:uFillTx/>
                <a:latin typeface="Calibri"/>
              </a:rPr>
              <a:t>• angemessen geschützt sein</a:t>
            </a:r>
            <a:endParaRPr b="0" lang="en-US" sz="2000" strike="noStrike" u="none">
              <a:solidFill>
                <a:srgbClr val="000000"/>
              </a:solidFill>
              <a:effectLst/>
              <a:uFillTx/>
              <a:latin typeface="Arial"/>
            </a:endParaRPr>
          </a:p>
          <a:p>
            <a:pPr defTabSz="457200">
              <a:lnSpc>
                <a:spcPct val="100000"/>
              </a:lnSpc>
              <a:spcAft>
                <a:spcPts val="799"/>
              </a:spcAft>
            </a:pPr>
            <a:r>
              <a:rPr b="0" lang="en-US" sz="2000" strike="noStrike" u="none">
                <a:solidFill>
                  <a:srgbClr val="465264"/>
                </a:solidFill>
                <a:effectLst/>
                <a:uFillTx/>
                <a:latin typeface="Calibri"/>
              </a:rPr>
              <a:t>• Datenschutz berücksichtigen</a:t>
            </a:r>
            <a:endParaRPr b="0" lang="en-US" sz="2000" strike="noStrike" u="none">
              <a:solidFill>
                <a:srgbClr val="000000"/>
              </a:solidFill>
              <a:effectLst/>
              <a:uFillTx/>
              <a:latin typeface="Arial"/>
            </a:endParaRPr>
          </a:p>
          <a:p>
            <a:pPr defTabSz="457200">
              <a:lnSpc>
                <a:spcPct val="100000"/>
              </a:lnSpc>
              <a:spcAft>
                <a:spcPts val="799"/>
              </a:spcAft>
            </a:pPr>
            <a:r>
              <a:rPr b="0" lang="en-US" sz="2000" strike="noStrike" u="none">
                <a:solidFill>
                  <a:srgbClr val="465264"/>
                </a:solidFill>
                <a:effectLst/>
                <a:uFillTx/>
                <a:latin typeface="Calibri"/>
              </a:rPr>
              <a:t>• sicher betrieben und aktualisiert werden</a:t>
            </a:r>
            <a:endParaRPr b="0" lang="en-US" sz="2000" strike="noStrike" u="none">
              <a:solidFill>
                <a:srgbClr val="000000"/>
              </a:solidFill>
              <a:effectLst/>
              <a:uFillTx/>
              <a:latin typeface="Arial"/>
            </a:endParaRPr>
          </a:p>
          <a:p>
            <a:pPr defTabSz="457200">
              <a:lnSpc>
                <a:spcPct val="100000"/>
              </a:lnSpc>
              <a:spcAft>
                <a:spcPts val="799"/>
              </a:spcAft>
            </a:pPr>
            <a:r>
              <a:rPr b="0" lang="en-US" sz="2000" strike="noStrike" u="none">
                <a:solidFill>
                  <a:srgbClr val="465264"/>
                </a:solidFill>
                <a:effectLst/>
                <a:uFillTx/>
                <a:latin typeface="Calibri"/>
              </a:rPr>
              <a:t>• verantwortungsvoll weiterentwickelt werden</a:t>
            </a:r>
            <a:endParaRPr b="0" lang="en-US" sz="2000" strike="noStrike" u="none">
              <a:solidFill>
                <a:srgbClr val="000000"/>
              </a:solidFill>
              <a:effectLst/>
              <a:uFillTx/>
              <a:latin typeface="Arial"/>
            </a:endParaRPr>
          </a:p>
        </p:txBody>
      </p:sp>
      <p:sp>
        <p:nvSpPr>
          <p:cNvPr id="703" name="TextBox 5"/>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
        <p:nvSpPr>
          <p:cNvPr id="704" name="TextBox 6"/>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47</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705" name="TextBox 1"/>
          <p:cNvSpPr/>
          <p:nvPr/>
        </p:nvSpPr>
        <p:spPr>
          <a:xfrm>
            <a:off x="594360" y="255960"/>
            <a:ext cx="10972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900" strike="noStrike" u="none">
                <a:solidFill>
                  <a:srgbClr val="0891b2"/>
                </a:solidFill>
                <a:effectLst/>
                <a:uFillTx/>
                <a:latin typeface="Calibri"/>
              </a:rPr>
              <a:t>KOMMUNIKATION</a:t>
            </a:r>
            <a:endParaRPr b="0" lang="en-US" sz="900" strike="noStrike" u="none">
              <a:solidFill>
                <a:srgbClr val="000000"/>
              </a:solidFill>
              <a:effectLst/>
              <a:uFillTx/>
              <a:latin typeface="Arial"/>
            </a:endParaRPr>
          </a:p>
        </p:txBody>
      </p:sp>
      <p:sp>
        <p:nvSpPr>
          <p:cNvPr id="706" name="TextBox 2"/>
          <p:cNvSpPr/>
          <p:nvPr/>
        </p:nvSpPr>
        <p:spPr>
          <a:xfrm>
            <a:off x="594360" y="576000"/>
            <a:ext cx="10972440" cy="68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700" strike="noStrike" u="none">
                <a:solidFill>
                  <a:srgbClr val="16263f"/>
                </a:solidFill>
                <a:effectLst/>
                <a:uFillTx/>
                <a:latin typeface="Calibri"/>
              </a:rPr>
              <a:t>Das Problem: Der Server weiß etwas Neues</a:t>
            </a:r>
            <a:endParaRPr b="0" lang="en-US" sz="2700" strike="noStrike" u="none">
              <a:solidFill>
                <a:srgbClr val="000000"/>
              </a:solidFill>
              <a:effectLst/>
              <a:uFillTx/>
              <a:latin typeface="Arial"/>
            </a:endParaRPr>
          </a:p>
        </p:txBody>
      </p:sp>
      <p:sp>
        <p:nvSpPr>
          <p:cNvPr id="707" name="Rectangle 3"/>
          <p:cNvSpPr/>
          <p:nvPr/>
        </p:nvSpPr>
        <p:spPr>
          <a:xfrm>
            <a:off x="594360" y="1298520"/>
            <a:ext cx="1051200" cy="40680"/>
          </a:xfrm>
          <a:prstGeom prst="rect">
            <a:avLst/>
          </a:prstGeom>
          <a:solidFill>
            <a:srgbClr val="0891b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708" name="TextBox 4"/>
          <p:cNvSpPr/>
          <p:nvPr/>
        </p:nvSpPr>
        <p:spPr>
          <a:xfrm>
            <a:off x="914400" y="1828800"/>
            <a:ext cx="10240920" cy="5940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300" strike="noStrike" u="none">
                <a:solidFill>
                  <a:srgbClr val="16263f"/>
                </a:solidFill>
                <a:effectLst/>
                <a:uFillTx/>
                <a:latin typeface="Calibri"/>
              </a:rPr>
              <a:t>Workshop 12 zieht von Raum 105 nach Raum 204.</a:t>
            </a:r>
            <a:endParaRPr b="0" lang="en-US" sz="2300" strike="noStrike" u="none">
              <a:solidFill>
                <a:srgbClr val="000000"/>
              </a:solidFill>
              <a:effectLst/>
              <a:uFillTx/>
              <a:latin typeface="Arial"/>
            </a:endParaRPr>
          </a:p>
        </p:txBody>
      </p:sp>
      <p:sp>
        <p:nvSpPr>
          <p:cNvPr id="709" name="Rounded Rectangle 5"/>
          <p:cNvSpPr/>
          <p:nvPr/>
        </p:nvSpPr>
        <p:spPr>
          <a:xfrm>
            <a:off x="1280160" y="2971800"/>
            <a:ext cx="3748680" cy="164556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710" name="Rectangle 6"/>
          <p:cNvSpPr/>
          <p:nvPr/>
        </p:nvSpPr>
        <p:spPr>
          <a:xfrm>
            <a:off x="1280160" y="2971800"/>
            <a:ext cx="63720" cy="1645560"/>
          </a:xfrm>
          <a:prstGeom prst="rect">
            <a:avLst/>
          </a:prstGeom>
          <a:solidFill>
            <a:srgbClr val="1e73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711" name="TextBox 7"/>
          <p:cNvSpPr/>
          <p:nvPr/>
        </p:nvSpPr>
        <p:spPr>
          <a:xfrm>
            <a:off x="1481400" y="3108960"/>
            <a:ext cx="338292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Server</a:t>
            </a:r>
            <a:endParaRPr b="0" lang="en-US" sz="1500" strike="noStrike" u="none">
              <a:solidFill>
                <a:srgbClr val="000000"/>
              </a:solidFill>
              <a:effectLst/>
              <a:uFillTx/>
              <a:latin typeface="Arial"/>
            </a:endParaRPr>
          </a:p>
        </p:txBody>
      </p:sp>
      <p:sp>
        <p:nvSpPr>
          <p:cNvPr id="712" name="TextBox 8"/>
          <p:cNvSpPr/>
          <p:nvPr/>
        </p:nvSpPr>
        <p:spPr>
          <a:xfrm>
            <a:off x="1481400" y="3566160"/>
            <a:ext cx="3382920" cy="932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kennt die Änderung:</a:t>
            </a:r>
            <a:br>
              <a:rPr sz="1300"/>
            </a:br>
            <a:r>
              <a:rPr b="0" lang="en-US" sz="1300" strike="noStrike" u="none">
                <a:solidFill>
                  <a:srgbClr val="465264"/>
                </a:solidFill>
                <a:effectLst/>
                <a:uFillTx/>
                <a:latin typeface="Calibri"/>
              </a:rPr>
              <a:t>Raum 204</a:t>
            </a:r>
            <a:endParaRPr b="0" lang="en-US" sz="1300" strike="noStrike" u="none">
              <a:solidFill>
                <a:srgbClr val="000000"/>
              </a:solidFill>
              <a:effectLst/>
              <a:uFillTx/>
              <a:latin typeface="Arial"/>
            </a:endParaRPr>
          </a:p>
        </p:txBody>
      </p:sp>
      <p:sp>
        <p:nvSpPr>
          <p:cNvPr id="713" name="Rounded Rectangle 9"/>
          <p:cNvSpPr/>
          <p:nvPr/>
        </p:nvSpPr>
        <p:spPr>
          <a:xfrm>
            <a:off x="7132320" y="2971800"/>
            <a:ext cx="3748680" cy="1645560"/>
          </a:xfrm>
          <a:prstGeom prst="roundRect">
            <a:avLst>
              <a:gd name="adj" fmla="val 16667"/>
            </a:avLst>
          </a:prstGeom>
          <a:solidFill>
            <a:srgbClr val="ffffff"/>
          </a:solidFill>
          <a:ln>
            <a:solidFill>
              <a:srgbClr val="dce4e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714" name="Rectangle 10"/>
          <p:cNvSpPr/>
          <p:nvPr/>
        </p:nvSpPr>
        <p:spPr>
          <a:xfrm>
            <a:off x="7132320" y="2971800"/>
            <a:ext cx="63720" cy="1645560"/>
          </a:xfrm>
          <a:prstGeom prst="rect">
            <a:avLst/>
          </a:prstGeom>
          <a:solidFill>
            <a:srgbClr val="be641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715" name="TextBox 11"/>
          <p:cNvSpPr/>
          <p:nvPr/>
        </p:nvSpPr>
        <p:spPr>
          <a:xfrm>
            <a:off x="7333560" y="3108960"/>
            <a:ext cx="3382920" cy="38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16263f"/>
                </a:solidFill>
                <a:effectLst/>
                <a:uFillTx/>
                <a:latin typeface="Calibri"/>
              </a:rPr>
              <a:t>Browser</a:t>
            </a:r>
            <a:endParaRPr b="0" lang="en-US" sz="1500" strike="noStrike" u="none">
              <a:solidFill>
                <a:srgbClr val="000000"/>
              </a:solidFill>
              <a:effectLst/>
              <a:uFillTx/>
              <a:latin typeface="Arial"/>
            </a:endParaRPr>
          </a:p>
        </p:txBody>
      </p:sp>
      <p:sp>
        <p:nvSpPr>
          <p:cNvPr id="716" name="TextBox 12"/>
          <p:cNvSpPr/>
          <p:nvPr/>
        </p:nvSpPr>
        <p:spPr>
          <a:xfrm>
            <a:off x="7333560" y="3566160"/>
            <a:ext cx="3382920" cy="932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465264"/>
                </a:solidFill>
                <a:effectLst/>
                <a:uFillTx/>
                <a:latin typeface="Calibri"/>
              </a:rPr>
              <a:t>zeigt noch:</a:t>
            </a:r>
            <a:br>
              <a:rPr sz="1300"/>
            </a:br>
            <a:r>
              <a:rPr b="0" lang="en-US" sz="1300" strike="noStrike" u="none">
                <a:solidFill>
                  <a:srgbClr val="465264"/>
                </a:solidFill>
                <a:effectLst/>
                <a:uFillTx/>
                <a:latin typeface="Calibri"/>
              </a:rPr>
              <a:t>Raum 105</a:t>
            </a:r>
            <a:endParaRPr b="0" lang="en-US" sz="1300" strike="noStrike" u="none">
              <a:solidFill>
                <a:srgbClr val="000000"/>
              </a:solidFill>
              <a:effectLst/>
              <a:uFillTx/>
              <a:latin typeface="Arial"/>
            </a:endParaRPr>
          </a:p>
        </p:txBody>
      </p:sp>
      <p:sp>
        <p:nvSpPr>
          <p:cNvPr id="717" name="TextBox 13"/>
          <p:cNvSpPr/>
          <p:nvPr/>
        </p:nvSpPr>
        <p:spPr>
          <a:xfrm>
            <a:off x="914400" y="5074920"/>
            <a:ext cx="10240920" cy="548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900" strike="noStrike" u="none">
                <a:solidFill>
                  <a:srgbClr val="0891b2"/>
                </a:solidFill>
                <a:effectLst/>
                <a:uFillTx/>
                <a:latin typeface="Calibri"/>
              </a:rPr>
              <a:t>Wie erfährt der Browser von der Änderung?</a:t>
            </a:r>
            <a:endParaRPr b="0" lang="en-US" sz="1900" strike="noStrike" u="none">
              <a:solidFill>
                <a:srgbClr val="000000"/>
              </a:solidFill>
              <a:effectLst/>
              <a:uFillTx/>
              <a:latin typeface="Arial"/>
            </a:endParaRPr>
          </a:p>
        </p:txBody>
      </p:sp>
      <p:sp>
        <p:nvSpPr>
          <p:cNvPr id="718" name="TextBox 14"/>
          <p:cNvSpPr/>
          <p:nvPr/>
        </p:nvSpPr>
        <p:spPr>
          <a:xfrm>
            <a:off x="11201400" y="6446520"/>
            <a:ext cx="411120" cy="20088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1" lang="en-US" sz="800" strike="noStrike" u="none">
                <a:solidFill>
                  <a:srgbClr val="465264"/>
                </a:solidFill>
                <a:effectLst/>
                <a:uFillTx/>
                <a:latin typeface="Calibri"/>
              </a:rPr>
              <a:t>10</a:t>
            </a:r>
            <a:endParaRPr b="0" lang="en-US" sz="800" strike="noStrike" u="none">
              <a:solidFill>
                <a:srgbClr val="000000"/>
              </a:solidFill>
              <a:effectLst/>
              <a:uFillTx/>
              <a:latin typeface="Arial"/>
            </a:endParaRPr>
          </a:p>
        </p:txBody>
      </p:sp>
      <p:sp>
        <p:nvSpPr>
          <p:cNvPr id="719" name="TextBox 15"/>
          <p:cNvSpPr/>
          <p:nvPr/>
        </p:nvSpPr>
        <p:spPr>
          <a:xfrm>
            <a:off x="594360" y="6446520"/>
            <a:ext cx="2285640" cy="2008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800" strike="noStrike" u="none">
                <a:solidFill>
                  <a:srgbClr val="465264"/>
                </a:solidFill>
                <a:effectLst/>
                <a:uFillTx/>
                <a:latin typeface="Calibri"/>
              </a:rPr>
              <a:t>Informatik · Klasse 10</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LibreOffice/25.2.3.2$Linux_X86_64 LibreOffice_project/520$Build-2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Steve Canny</cp:lastModifiedBy>
  <dcterms:modified xsi:type="dcterms:W3CDTF">2013-01-27T09:15:58Z</dcterms:modified>
  <cp:revision>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