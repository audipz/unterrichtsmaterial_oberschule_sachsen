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Lehrplan: https://www.schulportal.sachsen.de/lplandb/lehrplan/514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Mit ungenauen Alltagsschritten starten und präzisieren.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Ergänzung in endlicher Zeit explizit nennen.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Struktogramm als Darstellungsform erläutern.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Abkürzungen vermeiden; Schülerbeispiele sammeln.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Robot-Karol-Beispiele konkret besprechen.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Arbeitsblatt soll Verschachtelung enthalten.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Nicht nur Seitenlänge 1; konkrete Szenarien verwenden.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Quellenfolie. Quellenangaben sind für Lehrkraft/Weiterverwendung sichtbar.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Algorithmen vertiefen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0175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FFFFFF"/>
                </a:solidFill>
              </a:rPr>
              <a:t>Klasse 8 · Darstellen, Prüfen, Begründen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Leitfrage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0789920" cy="1234440"/>
          </a:xfrm>
          <a:prstGeom prst="roundRect">
            <a:avLst/>
          </a:prstGeom>
          <a:solidFill>
            <a:srgbClr val="E5ECF6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2C3C"/>
                </a:solidFill>
              </a:rPr>
              <a:t>Wann ist eine Beschreibung so genau, dass ein Computer sie ausführen kann?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0" y="2743200"/>
            <a:ext cx="3474720" cy="530352"/>
          </a:xfrm>
          <a:prstGeom prst="roundRect">
            <a:avLst/>
          </a:prstGeom>
          <a:solidFill>
            <a:srgbClr val="E5ECF6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2C3C"/>
                </a:solidFill>
              </a:rPr>
              <a:t>Start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3355848"/>
            <a:ext cx="3474720" cy="530352"/>
          </a:xfrm>
          <a:prstGeom prst="roundRect">
            <a:avLst/>
          </a:prstGeom>
          <a:solidFill>
            <a:srgbClr val="E5ECF6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2C3C"/>
                </a:solidFill>
              </a:rPr>
              <a:t>Schritt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3968496"/>
            <a:ext cx="3474720" cy="530352"/>
          </a:xfrm>
          <a:prstGeom prst="roundRect">
            <a:avLst/>
          </a:prstGeom>
          <a:solidFill>
            <a:srgbClr val="E5ECF6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2C3C"/>
                </a:solidFill>
              </a:rPr>
              <a:t>Schritt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4581144"/>
            <a:ext cx="3474720" cy="530352"/>
          </a:xfrm>
          <a:prstGeom prst="roundRect">
            <a:avLst/>
          </a:prstGeom>
          <a:solidFill>
            <a:srgbClr val="E5ECF6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2C3C"/>
                </a:solidFill>
              </a:rPr>
              <a:t>Ende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Algorithmus – Merkmale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eindeutige Folge von Anweisungen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ausführbar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endlich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liefert ein erwartbares Ergebnis (in endlicher Zeit)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2103120" cy="731520"/>
          </a:xfrm>
          <a:prstGeom prst="roundRect">
            <a:avLst/>
          </a:prstGeom>
          <a:solidFill>
            <a:srgbClr val="E5ECF6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02C3C"/>
                </a:solidFill>
              </a:rPr>
              <a:t>eindeutig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78240" y="1371600"/>
            <a:ext cx="2103120" cy="731520"/>
          </a:xfrm>
          <a:prstGeom prst="roundRect">
            <a:avLst/>
          </a:prstGeom>
          <a:solidFill>
            <a:srgbClr val="FFE899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02C3C"/>
                </a:solidFill>
              </a:rPr>
              <a:t>ausführbar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514600"/>
            <a:ext cx="2103120" cy="731520"/>
          </a:xfrm>
          <a:prstGeom prst="roundRect">
            <a:avLst/>
          </a:prstGeom>
          <a:solidFill>
            <a:srgbClr val="DDEEDD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02C3C"/>
                </a:solidFill>
              </a:rPr>
              <a:t>endlich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2514600"/>
            <a:ext cx="2103120" cy="731520"/>
          </a:xfrm>
          <a:prstGeom prst="roundRect">
            <a:avLst/>
          </a:prstGeom>
          <a:solidFill>
            <a:srgbClr val="F8CBAD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02C3C"/>
                </a:solidFill>
              </a:rPr>
              <a:t>Ergebnis
in endlicher Zeit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Abläufe darstellen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nummerierte Schritte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Pseudocode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Struktogramm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Karol-Code als ausführbare Umsetzung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280160"/>
            <a:ext cx="5029200" cy="530352"/>
          </a:xfrm>
          <a:prstGeom prst="roundRect">
            <a:avLst/>
          </a:prstGeom>
          <a:solidFill>
            <a:srgbClr val="E5ECF6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2C3C"/>
                </a:solidFill>
              </a:rPr>
              <a:t>Sequenz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1892807"/>
            <a:ext cx="4389120" cy="530352"/>
          </a:xfrm>
          <a:prstGeom prst="roundRect">
            <a:avLst/>
          </a:prstGeom>
          <a:solidFill>
            <a:srgbClr val="FFE899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2C3C"/>
                </a:solidFill>
              </a:rPr>
              <a:t>Anweisung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2505456"/>
            <a:ext cx="4389120" cy="530352"/>
          </a:xfrm>
          <a:prstGeom prst="roundRect">
            <a:avLst/>
          </a:prstGeom>
          <a:solidFill>
            <a:srgbClr val="FFE899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2C3C"/>
                </a:solidFill>
              </a:rPr>
              <a:t>Anweisung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3118103"/>
            <a:ext cx="5029200" cy="530352"/>
          </a:xfrm>
          <a:prstGeom prst="roundRect">
            <a:avLst/>
          </a:prstGeom>
          <a:solidFill>
            <a:srgbClr val="E5ECF6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2C3C"/>
                </a:solidFill>
              </a:rPr>
              <a:t>Entscheidung?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3730752"/>
            <a:ext cx="4389120" cy="530352"/>
          </a:xfrm>
          <a:prstGeom prst="roundRect">
            <a:avLst/>
          </a:prstGeom>
          <a:solidFill>
            <a:srgbClr val="FFE899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2C3C"/>
                </a:solidFill>
              </a:rPr>
              <a:t>Dann / Sonst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Bedingungen mit Beispielen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Bedingung beantwortet WAHR oder FALSCH.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Wenn Passwort korrekt, dann Zugriff erlauben.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Wenn Wand vor Karol, dann drehen, sonst Schritt.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Bedingungen steuern den Ablauf.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417320"/>
            <a:ext cx="4754880" cy="2926080"/>
          </a:xfrm>
          <a:prstGeom prst="rect">
            <a:avLst/>
          </a:prstGeom>
          <a:solidFill>
            <a:srgbClr val="FCFCFC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>
                <a:solidFill>
                  <a:srgbClr val="1E1E1E"/>
                </a:solidFill>
                <a:latin typeface="Consolas"/>
              </a:rPr>
              <a:t>wenn IstWand dann
    LinksDrehen
sonst
    Schritt
*wenn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Feste und bedingte Wiederholung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Fest: Anzahl vorher bekannt.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Bedingt: Fortsetzung hängt von Bedingung ab.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Fest = Wie oft?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Bedingt = Wie lange?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188720"/>
            <a:ext cx="5120640" cy="4206240"/>
          </a:xfrm>
          <a:prstGeom prst="rect">
            <a:avLst/>
          </a:prstGeom>
          <a:solidFill>
            <a:srgbClr val="FCFCFC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>
                <a:solidFill>
                  <a:srgbClr val="1E1E1E"/>
                </a:solidFill>
                <a:latin typeface="Consolas"/>
              </a:rPr>
              <a:t>FEST:
wiederhole 5 mal
    Schritt
*wiederhole
BEDINGT:
solange NichtIstWand
    Schritt
*solange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Verschachtelung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Kontrollstrukturen können ineinander liegen.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Beispiel: Schleife in Schleife.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Auch Bedingungen in Schleifen sind möglich.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Einrückung zeigt die Struktur.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280160"/>
            <a:ext cx="5029200" cy="530352"/>
          </a:xfrm>
          <a:prstGeom prst="roundRect">
            <a:avLst/>
          </a:prstGeom>
          <a:solidFill>
            <a:srgbClr val="E5ECF6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2C3C"/>
                </a:solidFill>
              </a:rPr>
              <a:t>4-mal: Reihen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1892807"/>
            <a:ext cx="4389120" cy="530352"/>
          </a:xfrm>
          <a:prstGeom prst="roundRect">
            <a:avLst/>
          </a:prstGeom>
          <a:solidFill>
            <a:srgbClr val="FFE899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2C3C"/>
                </a:solidFill>
              </a:rPr>
              <a:t>4-mal: Felder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2505456"/>
            <a:ext cx="3749039" cy="530352"/>
          </a:xfrm>
          <a:prstGeom prst="roundRect">
            <a:avLst/>
          </a:prstGeom>
          <a:solidFill>
            <a:srgbClr val="DDEEDD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2C3C"/>
                </a:solidFill>
              </a:rPr>
              <a:t>Ziegel hinlegen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3118103"/>
            <a:ext cx="3749039" cy="530352"/>
          </a:xfrm>
          <a:prstGeom prst="roundRect">
            <a:avLst/>
          </a:prstGeom>
          <a:solidFill>
            <a:srgbClr val="DDEEDD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2C3C"/>
                </a:solidFill>
              </a:rPr>
              <a:t>Schritt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3730752"/>
            <a:ext cx="4389120" cy="530352"/>
          </a:xfrm>
          <a:prstGeom prst="roundRect">
            <a:avLst/>
          </a:prstGeom>
          <a:solidFill>
            <a:srgbClr val="FFE899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2C3C"/>
                </a:solidFill>
              </a:rPr>
              <a:t>Reihenwechsel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Testfälle formulieren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Ausgangslage beschreiben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erwartetes Ergebnis nennen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tatsächliches Ergebnis beobachten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gezielt ändern und erneut testen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1463040"/>
            <a:ext cx="1920240" cy="685800"/>
          </a:xfrm>
          <a:prstGeom prst="roundRect">
            <a:avLst/>
          </a:prstGeom>
          <a:solidFill>
            <a:srgbClr val="FFE899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02C3C"/>
                </a:solidFill>
              </a:rPr>
              <a:t>Beobachten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0" y="1463040"/>
            <a:ext cx="1920240" cy="685800"/>
          </a:xfrm>
          <a:prstGeom prst="roundRect">
            <a:avLst/>
          </a:prstGeom>
          <a:solidFill>
            <a:srgbClr val="E5ECF6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02C3C"/>
                </a:solidFill>
              </a:rPr>
              <a:t>Eingrenzen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3383280"/>
            <a:ext cx="1920240" cy="685800"/>
          </a:xfrm>
          <a:prstGeom prst="roundRect">
            <a:avLst/>
          </a:prstGeom>
          <a:solidFill>
            <a:srgbClr val="FFE899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02C3C"/>
                </a:solidFill>
              </a:rPr>
              <a:t>Ändern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3383280"/>
            <a:ext cx="1920240" cy="685800"/>
          </a:xfrm>
          <a:prstGeom prst="roundRect">
            <a:avLst/>
          </a:prstGeom>
          <a:solidFill>
            <a:srgbClr val="E5ECF6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02C3C"/>
                </a:solidFill>
              </a:rPr>
              <a:t>Testen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2743200"/>
            <a:ext cx="2011680" cy="594360"/>
          </a:xfrm>
          <a:prstGeom prst="roundRect">
            <a:avLst/>
          </a:prstGeom>
          <a:solidFill>
            <a:srgbClr val="DDEEDD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02C3C"/>
                </a:solidFill>
              </a:rPr>
              <a:t>Debugging-Zyklus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Quellen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Sächsischer Lehrplan Oberschule Informatik, Klassenstufe 8: https://www.schulportal.sachsen.de/lplandb/lehrplan/514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Struktogramme und Beispiele: eigene Darstellung.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Quellenangaben · Grafiken: eigene Darstellung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