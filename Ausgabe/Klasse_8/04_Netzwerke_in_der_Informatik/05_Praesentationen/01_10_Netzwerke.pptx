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Pflichtpräsentation ohne Kryptografie. Lehrplan: https://www.schulportal.sachsen.de/lplandb/lehrplan/514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Grafik nicht über Leitfrage legen.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Abkürzungen ausschreiben, bevor sie benutzt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Begriffe mit Rolle erklären, nicht nur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DNS nicht als Dynamic Name Service erklären.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Jede Abkürzung ausgeschrieben erläutern.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Ping nur mit vorgegebenem Testziel; Fehlschlag ist kein endgültiger Beweis.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Sicherung ohne überlappende Grafik.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Quellenfolie. Quellenangaben sind für Lehrkraft/Weiterverwendung sichtbar.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Netzwerke in der Informatik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0175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>
                <a:solidFill>
                  <a:srgbClr val="FFFFFF"/>
                </a:solidFill>
              </a:rPr>
              <a:t>Klasse 8 · Pflichtpräsentation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05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02C3C"/>
                </a:solidFill>
              </a:rPr>
              <a:t>Leitfrage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34440"/>
            <a:ext cx="10789920" cy="1234440"/>
          </a:xfrm>
          <a:prstGeom prst="roundRect">
            <a:avLst/>
          </a:prstGeom>
          <a:solidFill>
            <a:srgbClr val="E5ECF6"/>
          </a:solidFill>
          <a:ln>
            <a:solidFill>
              <a:srgbClr val="305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2C3C"/>
                </a:solidFill>
              </a:rPr>
              <a:t>Wie gelangen Daten von unserem Gerät zu einem Dienst im Netzwerk oder Internet?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743200"/>
            <a:ext cx="1280160" cy="731520"/>
          </a:xfrm>
          <a:prstGeom prst="roundRect">
            <a:avLst/>
          </a:prstGeom>
          <a:solidFill>
            <a:srgbClr val="E5ECF6"/>
          </a:solidFill>
          <a:ln>
            <a:solidFill>
              <a:srgbClr val="305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2C3C"/>
                </a:solidFill>
              </a:rPr>
              <a:t>Endgerät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2743200"/>
            <a:ext cx="1280160" cy="731520"/>
          </a:xfrm>
          <a:prstGeom prst="roundRect">
            <a:avLst/>
          </a:prstGeom>
          <a:solidFill>
            <a:srgbClr val="FFE899"/>
          </a:solidFill>
          <a:ln>
            <a:solidFill>
              <a:srgbClr val="305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2C3C"/>
                </a:solidFill>
              </a:rPr>
              <a:t>Router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0" y="2743200"/>
            <a:ext cx="1280160" cy="731520"/>
          </a:xfrm>
          <a:prstGeom prst="roundRect">
            <a:avLst/>
          </a:prstGeom>
          <a:solidFill>
            <a:srgbClr val="DDEEDD"/>
          </a:solidFill>
          <a:ln>
            <a:solidFill>
              <a:srgbClr val="305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2C3C"/>
                </a:solidFill>
              </a:rPr>
              <a:t>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510528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E6E6E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05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02C3C"/>
                </a:solidFill>
              </a:rPr>
              <a:t>Netzwerk, LAN, WLAN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Netzwerk verbindet Informatiksysteme.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LAN = Local Area Network.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WLAN = Wireless Local Area Network.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WLAN ist nicht dasselbe wie Internet.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E6E6E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05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02C3C"/>
                </a:solidFill>
              </a:rPr>
              <a:t>Geräte und Rollen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Client nutzt einen Dienst.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Server stellt einen Dienst bereit.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Switch verbindet Geräte im lokalen Kabelnetz.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Access Point ermöglicht WLAN.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Router verbindet Netze.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1371600" cy="731520"/>
          </a:xfrm>
          <a:prstGeom prst="roundRect">
            <a:avLst/>
          </a:prstGeom>
          <a:solidFill>
            <a:srgbClr val="E5ECF6"/>
          </a:solidFill>
          <a:ln>
            <a:solidFill>
              <a:srgbClr val="305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2C3C"/>
                </a:solidFill>
              </a:rPr>
              <a:t>Client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463040"/>
            <a:ext cx="1645920" cy="731520"/>
          </a:xfrm>
          <a:prstGeom prst="roundRect">
            <a:avLst/>
          </a:prstGeom>
          <a:solidFill>
            <a:srgbClr val="FFE899"/>
          </a:solidFill>
          <a:ln>
            <a:solidFill>
              <a:srgbClr val="305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2C3C"/>
                </a:solidFill>
              </a:rPr>
              <a:t>Switch/AP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84080" y="1463040"/>
            <a:ext cx="1371600" cy="731520"/>
          </a:xfrm>
          <a:prstGeom prst="roundRect">
            <a:avLst/>
          </a:prstGeom>
          <a:solidFill>
            <a:srgbClr val="DDEEDD"/>
          </a:solidFill>
          <a:ln>
            <a:solidFill>
              <a:srgbClr val="305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2C3C"/>
                </a:solidFill>
              </a:rPr>
              <a:t>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510528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E6E6E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05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02C3C"/>
                </a:solidFill>
              </a:rPr>
              <a:t>IP-Adresse und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IP = Internet Protocol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IP-Adresse adressiert Geräte im Netzwerk.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DNS = Domain Name System.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DNS ordnet Namen passenden IP-Adressen zu.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1645920"/>
            <a:ext cx="4572000" cy="2377440"/>
          </a:xfrm>
          <a:prstGeom prst="rect">
            <a:avLst/>
          </a:prstGeom>
          <a:solidFill>
            <a:srgbClr val="FCFCFC"/>
          </a:solidFill>
          <a:ln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>
                <a:solidFill>
                  <a:srgbClr val="1E1E1E"/>
                </a:solidFill>
                <a:latin typeface="Consolas"/>
              </a:rPr>
              <a:t>www.example.org
      ↓ DNS
93.184.216.34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E6E6E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05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02C3C"/>
                </a:solidFill>
              </a:rPr>
              <a:t>Protokolle und Dienste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Protokoll = Regeln der Kommunikation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HTTP/HTTPS: Webseiten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SMTP/IMAP: E-Mail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SFTP: Dateiübertragung über geschützte Verbindung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Dienst, Programm und Gerät unterscheiden.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188720"/>
            <a:ext cx="5303520" cy="3840480"/>
          </a:xfrm>
          <a:prstGeom prst="rect">
            <a:avLst/>
          </a:prstGeom>
          <a:solidFill>
            <a:srgbClr val="FCFCFC"/>
          </a:solidFill>
          <a:ln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>
                <a:solidFill>
                  <a:srgbClr val="1E1E1E"/>
                </a:solidFill>
                <a:latin typeface="Consolas"/>
              </a:rPr>
              <a:t>HTTP = Hypertext Transfer Protocol
HTTPS = ... Secure
SMTP = Simple Mail Transfer Protocol
IMAP = Internet Message Access Protocol
SFTP = SSH File Transfer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E6E6E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05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02C3C"/>
                </a:solidFill>
              </a:rPr>
              <a:t>Datenwege untersuchen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Kabel eingesteckt oder WLAN verbunden?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lokales Netz erreichbar?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vorgegebenes Ziel mit ping prüfen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funktioniert eine andere Webseite?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DNS oder Dienst als Fehlerstelle prüfen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1645920"/>
            <a:ext cx="4572000" cy="2377440"/>
          </a:xfrm>
          <a:prstGeom prst="rect">
            <a:avLst/>
          </a:prstGeom>
          <a:solidFill>
            <a:srgbClr val="FCFCFC"/>
          </a:solidFill>
          <a:ln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>
                <a:solidFill>
                  <a:srgbClr val="1E1E1E"/>
                </a:solidFill>
                <a:latin typeface="Consolas"/>
              </a:rPr>
              <a:t>Beispiel:
ping 192.168.1.1
Nur vorgegebene Testziele nutzen.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E6E6E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05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02C3C"/>
                </a:solidFill>
              </a:rPr>
              <a:t>Sicherung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Datenweg Endgerät → Server erklären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Router, Switch, Access Point unterscheiden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IP-Adresse und DNS erklären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Protokoll und Netzwerkdienst unterscheiden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E6E6E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05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02C3C"/>
                </a:solidFill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Sächsischer Lehrplan Oberschule Informatik, Klassenstufe 8: https://www.schulportal.sachsen.de/lplandb/lehrplan/514</a:t>
            </a:r>
          </a:p>
          <a:p>
            <a:pPr>
              <a:spcAft>
                <a:spcPts val="700"/>
              </a:spcAft>
              <a:defRPr sz="1900">
                <a:solidFill>
                  <a:srgbClr val="1E1E1E"/>
                </a:solidFill>
              </a:defRPr>
            </a:pPr>
            <a:r>
              <a:t>Diagnosebeispiele und Grafiken: eigene Darstellung.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E6E6E"/>
                </a:solidFill>
              </a:rPr>
              <a:t>Quellenangaben · Grafiken: eigene Darstellung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