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Titelgrafik vollständig aus PowerPoint-Formen. Keine externe Bildquelle.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Projektphase einführen. Ziel ist nicht nur ein schönes Ergebnis, sondern ein erklärbares Programm.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 Projektstart Kriterien transparent machen. Je nach Lerngruppe an vorhandenen Bewertungsbogen anpassen.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Planung kurz halten, aber verbindlich. Schüler formulieren Eingaben, Verarbeitung, Ausgaben und benötigte Variablen.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Erst Logik, dann Blöcke. Die Skizze muss nicht perfekt aussehen, aber die Struktur muss erkennbar sein.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Testprotokoll ist didaktisch wichtig: Schüler lernen, systematisch zu prüfen, statt nur zu klicken.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gezielt ändern. Eine Änderung nach der anderen ist für Anfänger oft leichter nachvollziehbar.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 müssen ihr Programm mündlich erklären können. Das verhindert reine Nachbau-Programme ohne Verständnis.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 dem Kompetenzcheck ehrlich einschätzen lassen. Danach Wiederholungszeit gezielt einsetzen.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Nur wiederholen, was bereits behandelt wurde. Insbesondere klassische Fehler bei Binärumrechnung kurz ansprechen: Richtung der Reste beachten.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EVAS-Speicherhinweis sichern. Nicht als lineares 'S am Ende' darstellen.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Begriffe an einem unbekannten Skript identifizieren lassen, nicht nur Definitionen abfragen.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Schüler formulieren konkrete Wiederholungsziele, keine allgemeinen Aussagen wie 'alles'.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Auswahl kann auf Karteikarten oder im Hefter notiert werden. Ziel: selbstständige Vorbereitung.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Programmierprozess als wiederkehrendes Vorgehen sichern.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D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Scratch-Projekt &amp; Kompetenzcheck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CDD9E6"/>
                </a:solidFill>
                <a:latin typeface="Aptos"/>
              </a:rPr>
              <a:t>Planen, umsetzen, testen und erklären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2423160"/>
            <a:ext cx="2240280" cy="1645920"/>
          </a:xfrm>
          <a:prstGeom prst="roundRect">
            <a:avLst/>
          </a:prstGeom>
          <a:solidFill>
            <a:srgbClr val="2A3E55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6840" y="2514600"/>
            <a:ext cx="2240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Erklärung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Abläufe verstehen · Programme planen · systematisch testen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Projektfrage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Kannst du ein kleines Programm
selbst planen, umsetzen und testen?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Mindestanforderungen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325880"/>
            <a:ext cx="3383279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435607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Ereignis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1938528"/>
            <a:ext cx="2926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Programm startet oder reagiert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1325880"/>
            <a:ext cx="3383279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8799" y="1435607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Sequenz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1938528"/>
            <a:ext cx="2926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mehrere Schritte in Reihenfolge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8967" y="1325880"/>
            <a:ext cx="3383279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3559" y="1435607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Bedingung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7567" y="1938528"/>
            <a:ext cx="2926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mindestens ein Wenn/Sonst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447" y="3063239"/>
            <a:ext cx="3383279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039" y="317296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Schleife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" y="3675887"/>
            <a:ext cx="2926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eine Wiederholung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4207" y="3063239"/>
            <a:ext cx="3383279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8799" y="317296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94945"/>
                </a:solidFill>
                <a:latin typeface="Aptos"/>
              </a:rPr>
              <a:t>Variable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807" y="3675887"/>
            <a:ext cx="2926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z. B. Punkte oder Zeit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Planung vor dem Programmieren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196596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01167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069AA"/>
                </a:solidFill>
                <a:latin typeface="Aptos"/>
              </a:rPr>
              <a:t>Idee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2606" y="237744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1518" y="196596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4670" y="201167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5559B"/>
                </a:solidFill>
                <a:latin typeface="Aptos"/>
              </a:rPr>
              <a:t>Eingaben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1796" y="237744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0708" y="196596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3860" y="201167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E8A68"/>
                </a:solidFill>
                <a:latin typeface="Aptos"/>
              </a:rPr>
              <a:t>Verarbeitung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0986" y="237744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9898" y="196596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3050" y="201167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B9E37"/>
                </a:solidFill>
                <a:latin typeface="Aptos"/>
              </a:rPr>
              <a:t>Ausgaben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0177" y="237744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29089" y="196596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02241" y="201167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94945"/>
                </a:solidFill>
                <a:latin typeface="Aptos"/>
              </a:rPr>
              <a:t>Variablen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E8A68"/>
                </a:solidFill>
                <a:latin typeface="Aptos"/>
              </a:rPr>
              <a:t>EVAS hilft, das Programm vor dem Bauen zu planen.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Ablauf skizzieren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196596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01167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069AA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2606" y="237744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1518" y="196596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4670" y="201167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75559B"/>
                </a:solidFill>
                <a:latin typeface="Aptos"/>
              </a:rPr>
              <a:t>Hauptablauf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1796" y="237744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0708" y="196596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3860" y="201167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E8A68"/>
                </a:solidFill>
                <a:latin typeface="Aptos"/>
              </a:rPr>
              <a:t>Entscheidungen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0986" y="237744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9898" y="196596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3050" y="201167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EB9E37"/>
                </a:solidFill>
                <a:latin typeface="Aptos"/>
              </a:rPr>
              <a:t>Wiederholungen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0177" y="237744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29089" y="196596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02241" y="2011679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B94945"/>
                </a:solidFill>
                <a:latin typeface="Aptos"/>
              </a:rPr>
              <a:t>Ende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Testprotokoll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2720340" cy="731520"/>
          </a:xfrm>
          <a:prstGeom prst="rect">
            <a:avLst/>
          </a:prstGeom>
          <a:solidFill>
            <a:srgbClr val="F2F6FA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3560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D44"/>
                </a:solidFill>
                <a:latin typeface="Aptos"/>
              </a:rPr>
              <a:t>Testfall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0420" y="1417320"/>
            <a:ext cx="2720340" cy="731520"/>
          </a:xfrm>
          <a:prstGeom prst="rect">
            <a:avLst/>
          </a:prstGeom>
          <a:solidFill>
            <a:srgbClr val="F2F6FA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7851" y="143560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D44"/>
                </a:solidFill>
                <a:latin typeface="Aptos"/>
              </a:rPr>
              <a:t>Erwartung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417320"/>
            <a:ext cx="2720340" cy="731520"/>
          </a:xfrm>
          <a:prstGeom prst="rect">
            <a:avLst/>
          </a:prstGeom>
          <a:solidFill>
            <a:srgbClr val="F2F6FA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8192" y="143560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D44"/>
                </a:solidFill>
                <a:latin typeface="Aptos"/>
              </a:rPr>
              <a:t>Ergebnis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01100" y="1417320"/>
            <a:ext cx="2720340" cy="731520"/>
          </a:xfrm>
          <a:prstGeom prst="rect">
            <a:avLst/>
          </a:prstGeom>
          <a:solidFill>
            <a:srgbClr val="F2F6FA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8532" y="143560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2D44"/>
                </a:solidFill>
                <a:latin typeface="Aptos"/>
              </a:rPr>
              <a:t>Änderung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16712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richtige Antwort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60420" y="214884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7851" y="216712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Punkte +1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14884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216712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01100" y="214884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8532" y="216712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88036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289864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falsche Antwort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60420" y="288036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7851" y="289864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Hinweis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88036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8192" y="289864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01100" y="288036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8532" y="289864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361188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" y="363016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Neustart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60420" y="361188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7851" y="363016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Punkte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361188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08192" y="363016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01100" y="3611880"/>
            <a:ext cx="27203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8532" y="3630168"/>
            <a:ext cx="2665476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C2D44"/>
                </a:solidFill>
                <a:latin typeface="Aptos"/>
              </a:rP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B94945"/>
                </a:solidFill>
                <a:latin typeface="Aptos"/>
              </a:rPr>
              <a:t>Nicht nur ausprobieren – Erwartung und tatsächliches Ergebnis vergleichen.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Debugging-Zyklus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1168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05740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069AA"/>
                </a:solidFill>
                <a:latin typeface="Aptos"/>
              </a:rPr>
              <a:t>testen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2606" y="242316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1518" y="201168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4670" y="205740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75559B"/>
                </a:solidFill>
                <a:latin typeface="Aptos"/>
              </a:rPr>
              <a:t>beobachten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1796" y="242316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0708" y="201168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3860" y="205740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E8A68"/>
                </a:solidFill>
                <a:latin typeface="Aptos"/>
              </a:rPr>
              <a:t>Ursache vermuten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0986" y="242316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9898" y="201168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3050" y="205740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B9E37"/>
                </a:solidFill>
                <a:latin typeface="Aptos"/>
              </a:rPr>
              <a:t>ändern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0177" y="242316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29089" y="201168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02241" y="205740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B94945"/>
                </a:solidFill>
                <a:latin typeface="Aptos"/>
              </a:rPr>
              <a:t>erneut testen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Projekt erklären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325880"/>
            <a:ext cx="3383279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435607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Sequenz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1938528"/>
            <a:ext cx="2926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Wo ist eine feste Reihenfolge?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1325880"/>
            <a:ext cx="3383279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8799" y="1435607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Bedingung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1938528"/>
            <a:ext cx="2926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Wo wird entschieden?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8967" y="1325880"/>
            <a:ext cx="3383279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3559" y="1435607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Schleife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7567" y="1938528"/>
            <a:ext cx="2926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Was wird wiederholt?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447" y="3063239"/>
            <a:ext cx="3383279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039" y="317296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" y="3675887"/>
            <a:ext cx="2926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Welcher Wert wird gemerkt?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4207" y="3063239"/>
            <a:ext cx="3383279" cy="141732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8799" y="317296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B94945"/>
                </a:solidFill>
                <a:latin typeface="Aptos"/>
              </a:rPr>
              <a:t>EVAS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807" y="3675887"/>
            <a:ext cx="2926079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Welche Eingaben und Ausgaben gibt 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Selbsteinschätzung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737360"/>
            <a:ext cx="3383279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84708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kann ich sicher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350008"/>
            <a:ext cx="29260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ich kann es erklären und anwenden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1737360"/>
            <a:ext cx="3383279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8799" y="184708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kann ich mit Hilfe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2350008"/>
            <a:ext cx="29260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ich brauche Beispiel oder Tipp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8967" y="1737360"/>
            <a:ext cx="3383279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3559" y="184708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muss ich wiederholen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7567" y="2350008"/>
            <a:ext cx="29260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ich bin noch unsicher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Binär &amp; digitale Information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zwei Zustände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617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Binärzahl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Stellenwerte mit Zweierpotenzen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3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Text/Bild/Ton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werden digital dargestellt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158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Umrechnung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Potenzen oder Division durch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EVAS &amp; Algorithmen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192024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196596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069AA"/>
                </a:solidFill>
                <a:latin typeface="Aptos"/>
              </a:rPr>
              <a:t>Eingabe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35399" y="233172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4311" y="192024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7463" y="196596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75559B"/>
                </a:solidFill>
                <a:latin typeface="Aptos"/>
              </a:rPr>
              <a:t>Verarbeitung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7383" y="233172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295" y="1920240"/>
            <a:ext cx="3243072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447" y="1965960"/>
            <a:ext cx="3096768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3E8A68"/>
                </a:solidFill>
                <a:latin typeface="Aptos"/>
              </a:rPr>
              <a:t>Ausgabe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332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Ein Algorithmus beschreibt, wie die Verarbeitung abläuft.
Speicher kann vor, während und nach der Verarbeitung beteiligt sein.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Scratch-Strukturen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Ereignis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startet ein Skript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3258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6179" y="1435607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Bedingung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187" y="19385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wahr oder falsch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03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Schleife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wiederholt Schritte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1587" y="3154680"/>
            <a:ext cx="5280660" cy="150876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6179" y="3264408"/>
            <a:ext cx="495147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EB9E37"/>
                </a:solidFill>
                <a:latin typeface="Aptos"/>
              </a:rPr>
              <a:t>Variable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187" y="3767328"/>
            <a:ext cx="4823460" cy="7772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merkt sich einen Wert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Lernlücken markieren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1737360"/>
            <a:ext cx="3383279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039" y="184708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069AA"/>
                </a:solidFill>
                <a:latin typeface="Aptos"/>
              </a:rPr>
              <a:t>Was kann ich erklären?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047" y="2350008"/>
            <a:ext cx="29260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Begriffe in eigenen Worten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4207" y="1737360"/>
            <a:ext cx="3383279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8799" y="184708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75559B"/>
                </a:solidFill>
                <a:latin typeface="Aptos"/>
              </a:rPr>
              <a:t>Was kann ich anwenden?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2350008"/>
            <a:ext cx="29260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Skripte bauen und testen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8967" y="1737360"/>
            <a:ext cx="3383279" cy="1828800"/>
          </a:xfrm>
          <a:prstGeom prst="roundRect">
            <a:avLst/>
          </a:prstGeom>
          <a:solidFill>
            <a:srgbClr val="F2F6FA"/>
          </a:solidFill>
          <a:ln w="1905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3559" y="1847088"/>
            <a:ext cx="30540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E8A68"/>
                </a:solidFill>
                <a:latin typeface="Aptos"/>
              </a:rPr>
              <a:t>Wo mache ich Fehler?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7567" y="2350008"/>
            <a:ext cx="2926079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23282D"/>
                </a:solidFill>
                <a:latin typeface="Aptos"/>
              </a:rPr>
              <a:t>typische Stolperstellen notieren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Drei Themen wählen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03784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738360" cy="2834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1C2D44"/>
                </a:solidFill>
                <a:latin typeface="Aptos"/>
              </a:rPr>
              <a:t>Welche drei Themen wiederholst du
vor der Leistungskontrolle?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860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C2D44"/>
                </a:solidFill>
                <a:latin typeface="Aptos"/>
              </a:rPr>
              <a:t>Abschluss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41248"/>
            <a:ext cx="1051560" cy="50292"/>
          </a:xfrm>
          <a:prstGeom prst="rect">
            <a:avLst/>
          </a:prstGeom>
          <a:solidFill>
            <a:srgbClr val="EB9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94183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5F6973"/>
                </a:solidFill>
                <a:latin typeface="Aptos"/>
              </a:rPr>
              <a:t>Informatik · Klasse 7 · Algorithmen und Programmierung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46520"/>
            <a:ext cx="9601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800" b="0">
                <a:solidFill>
                  <a:srgbClr val="5F6973"/>
                </a:solidFill>
                <a:latin typeface="Aptos"/>
              </a:rPr>
              <a:t>Eigene Grafik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446520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5F6973"/>
                </a:solidFill>
                <a:latin typeface="Aptos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05740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479" y="210312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069AA"/>
                </a:solidFill>
                <a:latin typeface="Aptos"/>
              </a:rPr>
              <a:t>Planen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2606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1518" y="205740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555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74670" y="210312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75559B"/>
                </a:solidFill>
                <a:latin typeface="Aptos"/>
              </a:rPr>
              <a:t>Programmieren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1796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0708" y="205740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E8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3860" y="210312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E8A68"/>
                </a:solidFill>
                <a:latin typeface="Aptos"/>
              </a:rPr>
              <a:t>Testen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0986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19898" y="205740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9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3050" y="210312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EB9E37"/>
                </a:solidFill>
                <a:latin typeface="Aptos"/>
              </a:rPr>
              <a:t>Verbessern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0177" y="2468880"/>
            <a:ext cx="43891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5F6973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29089" y="2057400"/>
            <a:ext cx="1770278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4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02241" y="2103120"/>
            <a:ext cx="1623974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94945"/>
                </a:solidFill>
                <a:latin typeface="Aptos"/>
              </a:rPr>
              <a:t>Erklären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6908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C2D44"/>
                </a:solidFill>
                <a:latin typeface="Aptos"/>
              </a:rPr>
              <a:t>Dieser Zyklus gilt nicht nur in Scratch, sondern für viele Programmieraufgaben.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