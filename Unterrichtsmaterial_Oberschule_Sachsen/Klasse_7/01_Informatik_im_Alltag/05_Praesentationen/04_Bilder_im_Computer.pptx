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Eigene PowerPoint-Grafik, keine externe Bildquelle. Das grobe Pixelraster führt unmittelbar zum Thema.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die Textstunde anknüpfen: Information wird durch Zahlen beschrieben. Überleitung: Auch ein Bild lässt sich in Zahlen zerlegen.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sammeln: Bildpunkte, Positionen, Farben, Zahlen. Noch nicht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 = Picture Element. Beim starken Vergrößern eines Rasterbildes werden einzelne Bildpunkte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 Fehlvorstellung: Ein Pixel ist nicht grundsätzlich ein Bit. Nur bei einer einfachen Schwarz-Weiß-Darstellung können zwei Zustände mit 1 Bit codiert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Verbindung zur Binärstunde: 1 Bit hat zwei mögliche Zustände. Hier werden sie als Weiß und Schwarz interpretiert. Bei Farbe reicht 1 Bit pro Pixel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sofort lösen. Typischer Fehler: 1920 + 1080. Breite × Höhe bedeutet Multiplikation.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1920×1080 = 2.073.600 Pixel. Höhere Pixelzahl bedeutet nicht in jeder Situation automatisch bessere Bildqualität.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RGB ist ein additives Farbmodell. Die Werte beschreiben Intensitäten der drei Lichtanteile.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Wichtiger Binärbezug: 8 Bit ergeben 256 Kombinationen. Da bei 0 begonnen wird, sind die Zahlenwerte 0 bis 255. 255 bedeutet nicht 255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Schwarz ergänzen: (0,0,0). Gelb kann als (255,255,0) gezeigt werden. Additive Farbmischung: Rot + Grün ergibt Gelb.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Vereinfachte RGB-Darstellung ohne Alpha-Kanal. 8 Bit je Kanal → 24 Bit = 3 Byte je 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Hilfestellung: Pixel → Bit → Byte. Unkomprimierter, vereinfachter Speicherbedarf.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Schrittweise erklären: 10.000 Pixel; ×24 = 240.000 Bit; ÷8 = 30.000 Byte. Alternative Kontrolle über 3 Byte pro 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Mathematischer Transfer. Klassischer Fehler: 'doppelte Breite und Höhe = doppelte Pixelzahl'. Tatsächlich vervierfacht sich die Pixelzahl.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JPEG-/PNG-Technik vertiefen. Die Rechnung beschreibt Rohdaten. Reale Bilddateien können durch Kompression deutlich kleiner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Rasterdateien speichern ein festes Pixelraster; Vektordateien primär geometrische Formen. Fachlich wichtig: Auch Vektorgrafiken werden auf einem Bildschirm in Pixel gerendert.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Fehlvorstellungen gezielt ansprechen. Zusätzlich: Vektorgrafiken werden auf Bildschirmen ebenfalls gerendert; die Datei beschreibt aber primär Geometrie.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Lösung: 320×200 = 64.000 Pixel. ×24 = 1.536.000 Bit. ÷8 = 192.000 Byte. Alternativ 64.000×3 Byte = 192.000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Prüfungsrelevant laut Lehrerband: Pixel, Auflösung, RGB, 8 Bit = 256 Werte, 24 Bit pro RGB-Pixel, einfacher Speicherbedarf und Raster/Vektor.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zur nächsten Präsentation 'Musik im Computer': Ein kontinuierliches Signal wird regelmäßig gemessen; Messwerte werden als Zahlen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Bilder im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6187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Pixel · Auflösung · RGB · Speicherbedarf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5740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99032" y="205740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92224" y="205740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85416" y="205740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78608" y="205740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205740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205740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58183" y="205740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51376" y="205740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45059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99032" y="245059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2224" y="245059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85416" y="245059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78608" y="245059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71800" y="245059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64992" y="245059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58183" y="245059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51376" y="245059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2843784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99032" y="2843784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92224" y="2843784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85416" y="2843784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78608" y="2843784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2843784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64992" y="2843784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58183" y="2843784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51376" y="2843784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3236976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99032" y="3236976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92224" y="3236976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85416" y="3236976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78608" y="3236976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71800" y="3236976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64992" y="3236976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58183" y="3236976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51376" y="3236976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" y="3630168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99032" y="3630168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92224" y="3630168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185416" y="3630168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578608" y="3630168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71800" y="3630168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64992" y="3630168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58183" y="3630168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51376" y="3630168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840" y="402336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399032" y="402336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792224" y="402336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185416" y="4023360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578608" y="402336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971800" y="402336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364992" y="4023360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758183" y="402336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151376" y="4023360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5840" y="441655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99032" y="441655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792224" y="4416552"/>
            <a:ext cx="329184" cy="329184"/>
          </a:xfrm>
          <a:prstGeom prst="roundRect">
            <a:avLst/>
          </a:prstGeom>
          <a:solidFill>
            <a:srgbClr val="2A3E55"/>
          </a:solidFill>
          <a:ln>
            <a:solidFill>
              <a:srgbClr val="2A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185416" y="441655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578608" y="441655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971800" y="4416552"/>
            <a:ext cx="329184" cy="329184"/>
          </a:xfrm>
          <a:prstGeom prst="roundRect">
            <a:avLst/>
          </a:prstGeom>
          <a:solidFill>
            <a:srgbClr val="69BED7"/>
          </a:solidFill>
          <a:ln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364992" y="441655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758183" y="441655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151376" y="4416552"/>
            <a:ext cx="329184" cy="329184"/>
          </a:xfrm>
          <a:prstGeom prst="roundRect">
            <a:avLst/>
          </a:prstGeom>
          <a:solidFill>
            <a:srgbClr val="EB9E37"/>
          </a:solidFill>
          <a:ln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77840" y="224028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Ein Bild aus Zahlen?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3063240"/>
            <a:ext cx="47548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CDD9E6"/>
                </a:solidFill>
                <a:latin typeface="Aptos"/>
              </a:rPr>
              <a:t>Jeder Bildpunkt besitzt
eine Position und eine Farbe.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Rückblick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Wie hat der Computer Buchstaben gespeichert?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834640"/>
            <a:ext cx="24688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Zeichen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546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834640"/>
            <a:ext cx="24688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83464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Zahl /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31546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834640"/>
            <a:ext cx="24688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C2D44"/>
                </a:solidFill>
                <a:latin typeface="Aptos"/>
              </a:rPr>
              <a:t>Wie kann ein Computer ein Bild speichern,
wenn er nur Zahlen und Bits kennt?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Ganz nah heranzoomen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457200" cy="457200"/>
          </a:xfrm>
          <a:prstGeom prst="roundRect">
            <a:avLst/>
          </a:prstGeom>
          <a:solidFill>
            <a:srgbClr val="325AAA"/>
          </a:solidFill>
          <a:ln>
            <a:solidFill>
              <a:srgbClr val="32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4752" y="1463040"/>
            <a:ext cx="457200" cy="457200"/>
          </a:xfrm>
          <a:prstGeom prst="roundRect">
            <a:avLst/>
          </a:prstGeom>
          <a:solidFill>
            <a:srgbClr val="445AAA"/>
          </a:solidFill>
          <a:ln>
            <a:solidFill>
              <a:srgbClr val="44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75104" y="1463040"/>
            <a:ext cx="457200" cy="457200"/>
          </a:xfrm>
          <a:prstGeom prst="roundRect">
            <a:avLst/>
          </a:prstGeom>
          <a:solidFill>
            <a:srgbClr val="565AAA"/>
          </a:solidFill>
          <a:ln>
            <a:solidFill>
              <a:srgbClr val="56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5456" y="1463040"/>
            <a:ext cx="457200" cy="457200"/>
          </a:xfrm>
          <a:prstGeom prst="roundRect">
            <a:avLst/>
          </a:prstGeom>
          <a:solidFill>
            <a:srgbClr val="685AAA"/>
          </a:solidFill>
          <a:ln>
            <a:solidFill>
              <a:srgbClr val="68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35808" y="1463040"/>
            <a:ext cx="457200" cy="457200"/>
          </a:xfrm>
          <a:prstGeom prst="roundRect">
            <a:avLst/>
          </a:prstGeom>
          <a:solidFill>
            <a:srgbClr val="7A5AAA"/>
          </a:solidFill>
          <a:ln>
            <a:solidFill>
              <a:srgbClr val="7A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463040"/>
            <a:ext cx="457200" cy="457200"/>
          </a:xfrm>
          <a:prstGeom prst="roundRect">
            <a:avLst/>
          </a:prstGeom>
          <a:solidFill>
            <a:srgbClr val="8C5AAA"/>
          </a:solidFill>
          <a:ln>
            <a:solidFill>
              <a:srgbClr val="8C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96511" y="1463040"/>
            <a:ext cx="457200" cy="457200"/>
          </a:xfrm>
          <a:prstGeom prst="roundRect">
            <a:avLst/>
          </a:prstGeom>
          <a:solidFill>
            <a:srgbClr val="9E5AAA"/>
          </a:solidFill>
          <a:ln>
            <a:solidFill>
              <a:srgbClr val="9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1463040"/>
            <a:ext cx="457200" cy="457200"/>
          </a:xfrm>
          <a:prstGeom prst="roundRect">
            <a:avLst/>
          </a:prstGeom>
          <a:solidFill>
            <a:srgbClr val="B05AAA"/>
          </a:solidFill>
          <a:ln>
            <a:solidFill>
              <a:srgbClr val="B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1993392"/>
            <a:ext cx="457200" cy="457200"/>
          </a:xfrm>
          <a:prstGeom prst="roundRect">
            <a:avLst/>
          </a:prstGeom>
          <a:solidFill>
            <a:srgbClr val="326CA2"/>
          </a:solidFill>
          <a:ln>
            <a:solidFill>
              <a:srgbClr val="32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44752" y="1993392"/>
            <a:ext cx="457200" cy="457200"/>
          </a:xfrm>
          <a:prstGeom prst="roundRect">
            <a:avLst/>
          </a:prstGeom>
          <a:solidFill>
            <a:srgbClr val="446CA2"/>
          </a:solidFill>
          <a:ln>
            <a:solidFill>
              <a:srgbClr val="44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75104" y="1993392"/>
            <a:ext cx="457200" cy="457200"/>
          </a:xfrm>
          <a:prstGeom prst="roundRect">
            <a:avLst/>
          </a:prstGeom>
          <a:solidFill>
            <a:srgbClr val="566CA2"/>
          </a:solidFill>
          <a:ln>
            <a:solidFill>
              <a:srgbClr val="56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05456" y="1993392"/>
            <a:ext cx="457200" cy="457200"/>
          </a:xfrm>
          <a:prstGeom prst="roundRect">
            <a:avLst/>
          </a:prstGeom>
          <a:solidFill>
            <a:srgbClr val="686CA2"/>
          </a:solidFill>
          <a:ln>
            <a:solidFill>
              <a:srgbClr val="68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35808" y="1993392"/>
            <a:ext cx="457200" cy="457200"/>
          </a:xfrm>
          <a:prstGeom prst="roundRect">
            <a:avLst/>
          </a:prstGeom>
          <a:solidFill>
            <a:srgbClr val="7A6CA2"/>
          </a:solidFill>
          <a:ln>
            <a:solidFill>
              <a:srgbClr val="7A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6160" y="1993392"/>
            <a:ext cx="457200" cy="457200"/>
          </a:xfrm>
          <a:prstGeom prst="roundRect">
            <a:avLst/>
          </a:prstGeom>
          <a:solidFill>
            <a:srgbClr val="8C6CA2"/>
          </a:solidFill>
          <a:ln>
            <a:solidFill>
              <a:srgbClr val="8C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96511" y="1993392"/>
            <a:ext cx="457200" cy="457200"/>
          </a:xfrm>
          <a:prstGeom prst="roundRect">
            <a:avLst/>
          </a:prstGeom>
          <a:solidFill>
            <a:srgbClr val="9E6CA2"/>
          </a:solidFill>
          <a:ln>
            <a:solidFill>
              <a:srgbClr val="9E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26864" y="1993392"/>
            <a:ext cx="457200" cy="457200"/>
          </a:xfrm>
          <a:prstGeom prst="roundRect">
            <a:avLst/>
          </a:prstGeom>
          <a:solidFill>
            <a:srgbClr val="B06CA2"/>
          </a:solidFill>
          <a:ln>
            <a:solidFill>
              <a:srgbClr val="B06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2523744"/>
            <a:ext cx="457200" cy="457200"/>
          </a:xfrm>
          <a:prstGeom prst="roundRect">
            <a:avLst/>
          </a:prstGeom>
          <a:solidFill>
            <a:srgbClr val="327E9A"/>
          </a:solidFill>
          <a:ln>
            <a:solidFill>
              <a:srgbClr val="32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44752" y="2523744"/>
            <a:ext cx="457200" cy="457200"/>
          </a:xfrm>
          <a:prstGeom prst="roundRect">
            <a:avLst/>
          </a:prstGeom>
          <a:solidFill>
            <a:srgbClr val="447E9A"/>
          </a:solidFill>
          <a:ln>
            <a:solidFill>
              <a:srgbClr val="44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75104" y="2523744"/>
            <a:ext cx="457200" cy="457200"/>
          </a:xfrm>
          <a:prstGeom prst="roundRect">
            <a:avLst/>
          </a:prstGeom>
          <a:solidFill>
            <a:srgbClr val="567E9A"/>
          </a:solidFill>
          <a:ln>
            <a:solidFill>
              <a:srgbClr val="56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05456" y="2523744"/>
            <a:ext cx="457200" cy="457200"/>
          </a:xfrm>
          <a:prstGeom prst="roundRect">
            <a:avLst/>
          </a:prstGeom>
          <a:solidFill>
            <a:srgbClr val="687E9A"/>
          </a:solidFill>
          <a:ln>
            <a:solidFill>
              <a:srgbClr val="68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35808" y="2523744"/>
            <a:ext cx="457200" cy="457200"/>
          </a:xfrm>
          <a:prstGeom prst="roundRect">
            <a:avLst/>
          </a:prstGeom>
          <a:solidFill>
            <a:srgbClr val="7A7E9A"/>
          </a:solidFill>
          <a:ln>
            <a:solidFill>
              <a:srgbClr val="7A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66160" y="2523744"/>
            <a:ext cx="457200" cy="457200"/>
          </a:xfrm>
          <a:prstGeom prst="roundRect">
            <a:avLst/>
          </a:prstGeom>
          <a:solidFill>
            <a:srgbClr val="8C7E9A"/>
          </a:solidFill>
          <a:ln>
            <a:solidFill>
              <a:srgbClr val="8C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96511" y="2523744"/>
            <a:ext cx="457200" cy="457200"/>
          </a:xfrm>
          <a:prstGeom prst="roundRect">
            <a:avLst/>
          </a:prstGeom>
          <a:solidFill>
            <a:srgbClr val="9E7E9A"/>
          </a:solidFill>
          <a:ln>
            <a:solidFill>
              <a:srgbClr val="9E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26864" y="2523744"/>
            <a:ext cx="457200" cy="457200"/>
          </a:xfrm>
          <a:prstGeom prst="roundRect">
            <a:avLst/>
          </a:prstGeom>
          <a:solidFill>
            <a:srgbClr val="B07E9A"/>
          </a:solidFill>
          <a:ln>
            <a:solidFill>
              <a:srgbClr val="B0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054096"/>
            <a:ext cx="457200" cy="457200"/>
          </a:xfrm>
          <a:prstGeom prst="roundRect">
            <a:avLst/>
          </a:prstGeom>
          <a:solidFill>
            <a:srgbClr val="329092"/>
          </a:solidFill>
          <a:ln>
            <a:solidFill>
              <a:srgbClr val="32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44752" y="3054096"/>
            <a:ext cx="457200" cy="457200"/>
          </a:xfrm>
          <a:prstGeom prst="roundRect">
            <a:avLst/>
          </a:prstGeom>
          <a:solidFill>
            <a:srgbClr val="449092"/>
          </a:solidFill>
          <a:ln>
            <a:solidFill>
              <a:srgbClr val="44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75104" y="3054096"/>
            <a:ext cx="457200" cy="457200"/>
          </a:xfrm>
          <a:prstGeom prst="roundRect">
            <a:avLst/>
          </a:prstGeom>
          <a:solidFill>
            <a:srgbClr val="569092"/>
          </a:solidFill>
          <a:ln>
            <a:solidFill>
              <a:srgbClr val="56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05456" y="3054096"/>
            <a:ext cx="457200" cy="457200"/>
          </a:xfrm>
          <a:prstGeom prst="roundRect">
            <a:avLst/>
          </a:prstGeom>
          <a:solidFill>
            <a:srgbClr val="689092"/>
          </a:solidFill>
          <a:ln>
            <a:solidFill>
              <a:srgbClr val="68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35808" y="3054096"/>
            <a:ext cx="457200" cy="457200"/>
          </a:xfrm>
          <a:prstGeom prst="roundRect">
            <a:avLst/>
          </a:prstGeom>
          <a:solidFill>
            <a:srgbClr val="7A9092"/>
          </a:solidFill>
          <a:ln>
            <a:solidFill>
              <a:srgbClr val="7A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66160" y="3054096"/>
            <a:ext cx="457200" cy="457200"/>
          </a:xfrm>
          <a:prstGeom prst="roundRect">
            <a:avLst/>
          </a:prstGeom>
          <a:solidFill>
            <a:srgbClr val="8C9092"/>
          </a:solidFill>
          <a:ln>
            <a:solidFill>
              <a:srgbClr val="8C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96511" y="3054096"/>
            <a:ext cx="457200" cy="457200"/>
          </a:xfrm>
          <a:prstGeom prst="roundRect">
            <a:avLst/>
          </a:prstGeom>
          <a:solidFill>
            <a:srgbClr val="9E9092"/>
          </a:solidFill>
          <a:ln>
            <a:solidFill>
              <a:srgbClr val="9E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26864" y="3054096"/>
            <a:ext cx="457200" cy="457200"/>
          </a:xfrm>
          <a:prstGeom prst="roundRect">
            <a:avLst/>
          </a:prstGeom>
          <a:solidFill>
            <a:srgbClr val="B09092"/>
          </a:solidFill>
          <a:ln>
            <a:solidFill>
              <a:srgbClr val="B09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3584448"/>
            <a:ext cx="457200" cy="457200"/>
          </a:xfrm>
          <a:prstGeom prst="roundRect">
            <a:avLst/>
          </a:prstGeom>
          <a:solidFill>
            <a:srgbClr val="32A28A"/>
          </a:solidFill>
          <a:ln>
            <a:solidFill>
              <a:srgbClr val="32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444752" y="3584448"/>
            <a:ext cx="457200" cy="457200"/>
          </a:xfrm>
          <a:prstGeom prst="roundRect">
            <a:avLst/>
          </a:prstGeom>
          <a:solidFill>
            <a:srgbClr val="44A28A"/>
          </a:solidFill>
          <a:ln>
            <a:solidFill>
              <a:srgbClr val="44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75104" y="3584448"/>
            <a:ext cx="457200" cy="457200"/>
          </a:xfrm>
          <a:prstGeom prst="roundRect">
            <a:avLst/>
          </a:prstGeom>
          <a:solidFill>
            <a:srgbClr val="56A28A"/>
          </a:solidFill>
          <a:ln>
            <a:solidFill>
              <a:srgbClr val="56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05456" y="3584448"/>
            <a:ext cx="457200" cy="457200"/>
          </a:xfrm>
          <a:prstGeom prst="roundRect">
            <a:avLst/>
          </a:prstGeom>
          <a:solidFill>
            <a:srgbClr val="68A28A"/>
          </a:solidFill>
          <a:ln>
            <a:solidFill>
              <a:srgbClr val="68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35808" y="3584448"/>
            <a:ext cx="457200" cy="457200"/>
          </a:xfrm>
          <a:prstGeom prst="roundRect">
            <a:avLst/>
          </a:prstGeom>
          <a:solidFill>
            <a:srgbClr val="7AA28A"/>
          </a:solidFill>
          <a:ln>
            <a:solidFill>
              <a:srgbClr val="7A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66160" y="3584448"/>
            <a:ext cx="457200" cy="457200"/>
          </a:xfrm>
          <a:prstGeom prst="roundRect">
            <a:avLst/>
          </a:prstGeom>
          <a:solidFill>
            <a:srgbClr val="8CA28A"/>
          </a:solidFill>
          <a:ln>
            <a:solidFill>
              <a:srgbClr val="8C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96511" y="3584448"/>
            <a:ext cx="457200" cy="457200"/>
          </a:xfrm>
          <a:prstGeom prst="roundRect">
            <a:avLst/>
          </a:prstGeom>
          <a:solidFill>
            <a:srgbClr val="9EA28A"/>
          </a:solidFill>
          <a:ln>
            <a:solidFill>
              <a:srgbClr val="9E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26864" y="3584448"/>
            <a:ext cx="457200" cy="457200"/>
          </a:xfrm>
          <a:prstGeom prst="roundRect">
            <a:avLst/>
          </a:prstGeom>
          <a:solidFill>
            <a:srgbClr val="B0A28A"/>
          </a:solidFill>
          <a:ln>
            <a:solidFill>
              <a:srgbClr val="B0A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4400" y="4114800"/>
            <a:ext cx="457200" cy="457200"/>
          </a:xfrm>
          <a:prstGeom prst="roundRect">
            <a:avLst/>
          </a:prstGeom>
          <a:solidFill>
            <a:srgbClr val="32B482"/>
          </a:solidFill>
          <a:ln>
            <a:solidFill>
              <a:srgbClr val="32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444752" y="4114800"/>
            <a:ext cx="457200" cy="457200"/>
          </a:xfrm>
          <a:prstGeom prst="roundRect">
            <a:avLst/>
          </a:prstGeom>
          <a:solidFill>
            <a:srgbClr val="44B482"/>
          </a:solidFill>
          <a:ln>
            <a:solidFill>
              <a:srgbClr val="44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975104" y="4114800"/>
            <a:ext cx="457200" cy="457200"/>
          </a:xfrm>
          <a:prstGeom prst="roundRect">
            <a:avLst/>
          </a:prstGeom>
          <a:solidFill>
            <a:srgbClr val="56B482"/>
          </a:solidFill>
          <a:ln>
            <a:solidFill>
              <a:srgbClr val="56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505456" y="4114800"/>
            <a:ext cx="457200" cy="457200"/>
          </a:xfrm>
          <a:prstGeom prst="roundRect">
            <a:avLst/>
          </a:prstGeom>
          <a:solidFill>
            <a:srgbClr val="68B482"/>
          </a:solidFill>
          <a:ln>
            <a:solidFill>
              <a:srgbClr val="6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035808" y="4114800"/>
            <a:ext cx="457200" cy="457200"/>
          </a:xfrm>
          <a:prstGeom prst="roundRect">
            <a:avLst/>
          </a:prstGeom>
          <a:solidFill>
            <a:srgbClr val="7AB482"/>
          </a:solidFill>
          <a:ln>
            <a:solidFill>
              <a:srgbClr val="7A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66160" y="4114800"/>
            <a:ext cx="457200" cy="457200"/>
          </a:xfrm>
          <a:prstGeom prst="roundRect">
            <a:avLst/>
          </a:prstGeom>
          <a:solidFill>
            <a:srgbClr val="8CB482"/>
          </a:solidFill>
          <a:ln>
            <a:solidFill>
              <a:srgbClr val="8C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96511" y="4114800"/>
            <a:ext cx="457200" cy="457200"/>
          </a:xfrm>
          <a:prstGeom prst="roundRect">
            <a:avLst/>
          </a:prstGeom>
          <a:solidFill>
            <a:srgbClr val="9EB482"/>
          </a:solidFill>
          <a:ln>
            <a:solidFill>
              <a:srgbClr val="9E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626864" y="4114800"/>
            <a:ext cx="457200" cy="457200"/>
          </a:xfrm>
          <a:prstGeom prst="roundRect">
            <a:avLst/>
          </a:prstGeom>
          <a:solidFill>
            <a:srgbClr val="B0B482"/>
          </a:solidFill>
          <a:ln>
            <a:solidFill>
              <a:srgbClr val="B0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7432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75120" y="1600200"/>
            <a:ext cx="914400" cy="914400"/>
          </a:xfrm>
          <a:prstGeom prst="roundRect">
            <a:avLst/>
          </a:prstGeom>
          <a:solidFill>
            <a:srgbClr val="466E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26679" y="1600200"/>
            <a:ext cx="914400" cy="914400"/>
          </a:xfrm>
          <a:prstGeom prst="roundRect">
            <a:avLst/>
          </a:prstGeom>
          <a:solidFill>
            <a:srgbClr val="696E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778240" y="1600200"/>
            <a:ext cx="914400" cy="914400"/>
          </a:xfrm>
          <a:prstGeom prst="roundRect">
            <a:avLst/>
          </a:prstGeom>
          <a:solidFill>
            <a:srgbClr val="8C6E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75120" y="2651760"/>
            <a:ext cx="914400" cy="914400"/>
          </a:xfrm>
          <a:prstGeom prst="roundRect">
            <a:avLst/>
          </a:prstGeom>
          <a:solidFill>
            <a:srgbClr val="468A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26679" y="2651760"/>
            <a:ext cx="914400" cy="914400"/>
          </a:xfrm>
          <a:prstGeom prst="roundRect">
            <a:avLst/>
          </a:prstGeom>
          <a:solidFill>
            <a:srgbClr val="698A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778240" y="2651760"/>
            <a:ext cx="914400" cy="914400"/>
          </a:xfrm>
          <a:prstGeom prst="roundRect">
            <a:avLst/>
          </a:prstGeom>
          <a:solidFill>
            <a:srgbClr val="8C8A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75120" y="3703320"/>
            <a:ext cx="914400" cy="914400"/>
          </a:xfrm>
          <a:prstGeom prst="roundRect">
            <a:avLst/>
          </a:prstGeom>
          <a:solidFill>
            <a:srgbClr val="46A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726679" y="3703320"/>
            <a:ext cx="914400" cy="914400"/>
          </a:xfrm>
          <a:prstGeom prst="roundRect">
            <a:avLst/>
          </a:prstGeom>
          <a:solidFill>
            <a:srgbClr val="69A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778240" y="3703320"/>
            <a:ext cx="914400" cy="914400"/>
          </a:xfrm>
          <a:prstGeom prst="roundRect">
            <a:avLst/>
          </a:prstGeom>
          <a:solidFill>
            <a:srgbClr val="8CA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89204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einzelne Pixel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Pixel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Rasterbild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besteht aus vielen Pixeln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244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Pixel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hat eine 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Farbwert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beschreibt seine Farbe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028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Pixel ≠ immer 1 Bit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 Bild aus 0 und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Vereinbarung: 0 = weiß · 1 = schwarz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41732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1732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41732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41732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1732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41732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141732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14884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148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214884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148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214884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148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14884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148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214884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2148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288036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88036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288036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1760" y="288036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288036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288036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288036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288036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288036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20" y="361188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36118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361188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36118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61188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36118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361188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36118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361188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361188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8720" y="434340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434340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434340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20240" y="434340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51760" y="4343400"/>
            <a:ext cx="621792" cy="621792"/>
          </a:xfrm>
          <a:prstGeom prst="roundRect">
            <a:avLst/>
          </a:prstGeom>
          <a:solidFill>
            <a:srgbClr val="23282D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51760" y="434340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280" y="434340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434340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0" y="4343400"/>
            <a:ext cx="62179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434340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1828800"/>
            <a:ext cx="48463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1 Bit pro Pixel reicht hier,
weil es genau zwei Zustände gibt.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Auflösung – erst selbst überlegen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1C2D44"/>
                </a:solidFill>
                <a:latin typeface="Aptos"/>
              </a:rPr>
              <a:t>1920 × 1080 Pixel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23160"/>
            <a:ext cx="85039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850392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F6973"/>
                </a:solidFill>
                <a:latin typeface="Aptos"/>
              </a:rPr>
              <a:t>Breite × Höhe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3282D"/>
                </a:solidFill>
                <a:latin typeface="Aptos"/>
              </a:rPr>
              <a:t>Wie viele Pixel sind das insgesamt?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Auflösung berechnen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E8A68"/>
                </a:solidFill>
                <a:latin typeface="Aptos"/>
              </a:rPr>
              <a:t>1920 × 1080 = 2 073 600 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>
                <a:solidFill>
                  <a:srgbClr val="23282D"/>
                </a:solidFill>
                <a:latin typeface="Aptos"/>
              </a:rPr>
              <a:t>Für jede der 1080 Zeilen gibt es 1920 Pixel.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Auflösung = Pixelanzahl in Breite × Höhe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RGB – drei Zahlen für eine Farbe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3017520" cy="2011680"/>
          </a:xfrm>
          <a:prstGeom prst="roundRect">
            <a:avLst/>
          </a:prstGeom>
          <a:solidFill>
            <a:srgbClr val="E14646"/>
          </a:solidFill>
          <a:ln>
            <a:solidFill>
              <a:srgbClr val="E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R
Rot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554480"/>
            <a:ext cx="3017520" cy="2011680"/>
          </a:xfrm>
          <a:prstGeom prst="roundRect">
            <a:avLst/>
          </a:prstGeom>
          <a:solidFill>
            <a:srgbClr val="41AA5F"/>
          </a:solidFill>
          <a:ln>
            <a:solidFill>
              <a:srgbClr val="41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54480"/>
            <a:ext cx="30175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G
Grün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554480"/>
            <a:ext cx="3017520" cy="2011680"/>
          </a:xfrm>
          <a:prstGeom prst="roundRect">
            <a:avLst/>
          </a:prstGeom>
          <a:solidFill>
            <a:srgbClr val="4169D7"/>
          </a:solidFill>
          <a:ln>
            <a:solidFill>
              <a:srgbClr val="416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54480"/>
            <a:ext cx="30175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B
Blau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Ein Farbpixel kann durch Rot-, Grün- und Blauanteil beschrieben werden.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Warum 0 bis 255?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Rückgriff auf die Potenzmatrix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1417320"/>
            <a:ext cx="118872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141732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87000" y="2194560"/>
            <a:ext cx="1188720" cy="68580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2194560"/>
            <a:ext cx="1188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2461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11111111₂ = 255₁₀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069AA"/>
                </a:solidFill>
                <a:latin typeface="Aptos"/>
              </a:rPr>
              <a:t>8 Bit → 2⁸ = 256 Kombinationen → Werte 0 bis 255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RGB-Beispiele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(255,0,0)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Rot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244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(0,255,0)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Grün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(0,0,255)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Blau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028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(255,255,255)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Weiß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 RGB-Pixel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508760"/>
            <a:ext cx="2926080" cy="2011680"/>
          </a:xfrm>
          <a:prstGeom prst="roundRect">
            <a:avLst/>
          </a:prstGeom>
          <a:solidFill>
            <a:srgbClr val="E14646"/>
          </a:solidFill>
          <a:ln>
            <a:solidFill>
              <a:srgbClr val="E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2316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8 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08760"/>
            <a:ext cx="2926080" cy="2011680"/>
          </a:xfrm>
          <a:prstGeom prst="roundRect">
            <a:avLst/>
          </a:prstGeom>
          <a:solidFill>
            <a:srgbClr val="41AA5F"/>
          </a:solidFill>
          <a:ln>
            <a:solidFill>
              <a:srgbClr val="41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916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Grün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2316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8 Bit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508760"/>
            <a:ext cx="2926080" cy="2011680"/>
          </a:xfrm>
          <a:prstGeom prst="roundRect">
            <a:avLst/>
          </a:prstGeom>
          <a:solidFill>
            <a:srgbClr val="4169D7"/>
          </a:solidFill>
          <a:ln>
            <a:solidFill>
              <a:srgbClr val="416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916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Blau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8 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8 + 8 + 8 = 24 Bit pro Pixel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24 Bit = 3 Byte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Speicherbedarf – 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100 × 100 Pixel · 24 Bit pro Pixel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3291840" cy="1280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91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1. Pixelzahl?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291840" cy="1280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291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2. Bit insgesamt?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468880"/>
            <a:ext cx="3291840" cy="1280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468880"/>
            <a:ext cx="3291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3. Byte insgesamt?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Rechnet zuerst selbst.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Speicherbedarf – Lösung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325880"/>
            <a:ext cx="1920240" cy="822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Pixel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25880"/>
            <a:ext cx="7498079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32588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100 × 100 = 10 000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06039"/>
            <a:ext cx="1920240" cy="822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39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Bit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606039"/>
            <a:ext cx="7498079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606039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10 000 × 24 = 240 000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86200"/>
            <a:ext cx="1920240" cy="822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Byte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886200"/>
            <a:ext cx="7498079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886200"/>
            <a:ext cx="74980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240 000 ÷ 8 = 30 000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Kontrolle: 24 Bit = 3 Byte → 10 000 × 3 = 30 000 Byte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Doppelte Breite und Höhe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004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100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10 000 Pixel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2004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200 ×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40 000 Pixel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2004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400 × 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160 000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B94945"/>
                </a:solidFill>
                <a:latin typeface="Aptos"/>
              </a:rPr>
              <a:t>Breite ×2 UND Höhe ×2 → Pixelzahl ×4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Warum ist ein JPEG oft kleiner?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4297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069AA"/>
                </a:solidFill>
                <a:latin typeface="Aptos"/>
              </a:rPr>
              <a:t>Rohdaten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Pixelzahl ×
Bit pro Pixel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4688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297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Dateiformat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kann Daten
komprimieren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5F6973"/>
                </a:solidFill>
                <a:latin typeface="Aptos"/>
              </a:rPr>
              <a:t>verlustfrei oder verlustbehaftet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Raster oder Vektor?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Rastergrafik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377440"/>
            <a:ext cx="438912" cy="438912"/>
          </a:xfrm>
          <a:prstGeom prst="roundRect">
            <a:avLst/>
          </a:prstGeom>
          <a:solidFill>
            <a:srgbClr val="46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2377440"/>
            <a:ext cx="438912" cy="438912"/>
          </a:xfrm>
          <a:prstGeom prst="roundRect">
            <a:avLst/>
          </a:prstGeom>
          <a:solidFill>
            <a:srgbClr val="5A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377440"/>
            <a:ext cx="438912" cy="438912"/>
          </a:xfrm>
          <a:prstGeom prst="roundRect">
            <a:avLst/>
          </a:prstGeom>
          <a:solidFill>
            <a:srgbClr val="6E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377440"/>
            <a:ext cx="438912" cy="438912"/>
          </a:xfrm>
          <a:prstGeom prst="roundRect">
            <a:avLst/>
          </a:prstGeom>
          <a:solidFill>
            <a:srgbClr val="82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438912" cy="438912"/>
          </a:xfrm>
          <a:prstGeom prst="roundRect">
            <a:avLst/>
          </a:prstGeom>
          <a:solidFill>
            <a:srgbClr val="96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377440"/>
            <a:ext cx="438912" cy="438912"/>
          </a:xfrm>
          <a:prstGeom prst="roundRect">
            <a:avLst/>
          </a:prstGeom>
          <a:solidFill>
            <a:srgbClr val="AA6E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2880360"/>
            <a:ext cx="438912" cy="438912"/>
          </a:xfrm>
          <a:prstGeom prst="roundRect">
            <a:avLst/>
          </a:prstGeom>
          <a:solidFill>
            <a:srgbClr val="46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2880360"/>
            <a:ext cx="438912" cy="438912"/>
          </a:xfrm>
          <a:prstGeom prst="roundRect">
            <a:avLst/>
          </a:prstGeom>
          <a:solidFill>
            <a:srgbClr val="5A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31720" y="2880360"/>
            <a:ext cx="438912" cy="438912"/>
          </a:xfrm>
          <a:prstGeom prst="roundRect">
            <a:avLst/>
          </a:prstGeom>
          <a:solidFill>
            <a:srgbClr val="6E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4640" y="2880360"/>
            <a:ext cx="438912" cy="438912"/>
          </a:xfrm>
          <a:prstGeom prst="roundRect">
            <a:avLst/>
          </a:prstGeom>
          <a:solidFill>
            <a:srgbClr val="82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7560" y="2880360"/>
            <a:ext cx="438912" cy="438912"/>
          </a:xfrm>
          <a:prstGeom prst="roundRect">
            <a:avLst/>
          </a:prstGeom>
          <a:solidFill>
            <a:srgbClr val="96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0" y="2880360"/>
            <a:ext cx="438912" cy="438912"/>
          </a:xfrm>
          <a:prstGeom prst="roundRect">
            <a:avLst/>
          </a:prstGeom>
          <a:solidFill>
            <a:srgbClr val="AA82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25880" y="3383280"/>
            <a:ext cx="438912" cy="438912"/>
          </a:xfrm>
          <a:prstGeom prst="roundRect">
            <a:avLst/>
          </a:prstGeom>
          <a:solidFill>
            <a:srgbClr val="46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3383280"/>
            <a:ext cx="438912" cy="438912"/>
          </a:xfrm>
          <a:prstGeom prst="roundRect">
            <a:avLst/>
          </a:prstGeom>
          <a:solidFill>
            <a:srgbClr val="5A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31720" y="3383280"/>
            <a:ext cx="438912" cy="438912"/>
          </a:xfrm>
          <a:prstGeom prst="roundRect">
            <a:avLst/>
          </a:prstGeom>
          <a:solidFill>
            <a:srgbClr val="6E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34640" y="3383280"/>
            <a:ext cx="438912" cy="438912"/>
          </a:xfrm>
          <a:prstGeom prst="roundRect">
            <a:avLst/>
          </a:prstGeom>
          <a:solidFill>
            <a:srgbClr val="82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37560" y="3383280"/>
            <a:ext cx="438912" cy="438912"/>
          </a:xfrm>
          <a:prstGeom prst="roundRect">
            <a:avLst/>
          </a:prstGeom>
          <a:solidFill>
            <a:srgbClr val="96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3383280"/>
            <a:ext cx="438912" cy="438912"/>
          </a:xfrm>
          <a:prstGeom prst="roundRect">
            <a:avLst/>
          </a:prstGeom>
          <a:solidFill>
            <a:srgbClr val="AA96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25880" y="3886200"/>
            <a:ext cx="438912" cy="438912"/>
          </a:xfrm>
          <a:prstGeom prst="roundRect">
            <a:avLst/>
          </a:prstGeom>
          <a:solidFill>
            <a:srgbClr val="46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28800" y="3886200"/>
            <a:ext cx="438912" cy="438912"/>
          </a:xfrm>
          <a:prstGeom prst="roundRect">
            <a:avLst/>
          </a:prstGeom>
          <a:solidFill>
            <a:srgbClr val="5A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31720" y="3886200"/>
            <a:ext cx="438912" cy="438912"/>
          </a:xfrm>
          <a:prstGeom prst="roundRect">
            <a:avLst/>
          </a:prstGeom>
          <a:solidFill>
            <a:srgbClr val="6E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34640" y="3886200"/>
            <a:ext cx="438912" cy="438912"/>
          </a:xfrm>
          <a:prstGeom prst="roundRect">
            <a:avLst/>
          </a:prstGeom>
          <a:solidFill>
            <a:srgbClr val="82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37560" y="3886200"/>
            <a:ext cx="438912" cy="438912"/>
          </a:xfrm>
          <a:prstGeom prst="roundRect">
            <a:avLst/>
          </a:prstGeom>
          <a:solidFill>
            <a:srgbClr val="96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0" y="3886200"/>
            <a:ext cx="438912" cy="438912"/>
          </a:xfrm>
          <a:prstGeom prst="roundRect">
            <a:avLst/>
          </a:prstGeom>
          <a:solidFill>
            <a:srgbClr val="AAAA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526280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F6973"/>
                </a:solidFill>
                <a:latin typeface="Aptos"/>
              </a:rPr>
              <a:t>speichert Pixelwerte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417320"/>
            <a:ext cx="507492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645920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Vektorgrafik</a:t>
            </a:r>
          </a:p>
        </p:txBody>
      </p:sp>
      <p:sp>
        <p:nvSpPr>
          <p:cNvPr id="36" name="Oval 35"/>
          <p:cNvSpPr/>
          <p:nvPr/>
        </p:nvSpPr>
        <p:spPr>
          <a:xfrm>
            <a:off x="7040880" y="2423160"/>
            <a:ext cx="1188720" cy="1188720"/>
          </a:xfrm>
          <a:prstGeom prst="ellipse">
            <a:avLst/>
          </a:prstGeom>
          <a:solidFill>
            <a:srgbClr val="EB9E37"/>
          </a:solidFill>
          <a:ln>
            <a:solidFill>
              <a:srgbClr val="1C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595360" y="2331720"/>
            <a:ext cx="1463040" cy="1371600"/>
          </a:xfrm>
          <a:prstGeom prst="triangle">
            <a:avLst/>
          </a:prstGeom>
          <a:solidFill>
            <a:srgbClr val="3069AA"/>
          </a:solidFill>
          <a:ln>
            <a:solidFill>
              <a:srgbClr val="1C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5262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F6973"/>
                </a:solidFill>
                <a:latin typeface="Aptos"/>
              </a:rPr>
              <a:t>beschreibt Formen und Linien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1920 × 1080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multiplizieren, nicht addieren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244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255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Wert, nicht Bitanzahl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Pixel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nicht immer 1 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46304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0283" y="1627632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Dateigröße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03120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Rohdaten ≠ komprimierte Datei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320 × 200 Pixel · 24 Bit pro Pixel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Wie viele Pixel?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Wie viele Bit?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331720"/>
            <a:ext cx="3291840" cy="13258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Wie viele Byte?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Lösung steht nur in den Lehrerhinweisen.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69264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Ein Rasterbild besteht aus Pixeln.
RGB beschreibt Farben mit drei Zahlenwerten.
8 Bit je Kanal ergeben 24 Bit pro RGB-Pixel.
Pixelzahl und Farbtiefe bestimmen den unkomprimierten Datenbedarf.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C2D44"/>
                </a:solidFill>
                <a:latin typeface="Aptos"/>
              </a:rPr>
              <a:t>Ein Bild können wir in Zahlen zerlegen.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3069AA"/>
                </a:solidFill>
                <a:latin typeface="Aptos"/>
              </a:rPr>
              <a:t>Aber Musik besteht aus Schallwellen.
Wie bekommt ein Computer einen Ton in Nullen und Einsen?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