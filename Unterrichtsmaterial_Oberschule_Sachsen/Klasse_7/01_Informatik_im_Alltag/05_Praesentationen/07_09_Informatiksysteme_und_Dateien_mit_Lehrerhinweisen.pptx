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Titel zunächst stehen lassen und Vorwissen aktivieren. Fragen Sie: „Welche Begriffe kennt ihr bereits?“ Die Präsentation ist als visualisierende Unterrichtsbegleitung gedacht; die Folien nicht vorlesen. Hinweis zur Differenzierung: schwächere Lernende erhalten konkrete Alltagsbeispiele, stärkere begründen Zusammenhänge. Lehrplanbezug/Orientierung: https://schule.sachsen.de/lehrplaene-und-arbeitsmaterialien-6025.html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Didaktischer Einstieg (ca. 3–5 Min.): Die Leitfrage offen stellen. Zwei bis drei Alltagsgeräte nennen lassen. Erwartung: Schülerinnen und Schüler nennen zunächst sichtbare Hardware; anschließend gezielt nach Programmen, Daten, Speicher und Netzwerk fragen. Tafel/Board: Begriffe ungeordnet sammeln und am Ende der Sequenz erneut ordnen. Diagnosefrage: „Kann ein Smartphone ohne Software sinnvoll arbeiten?“ Mögliche Fehlvorstellung: Informatiksystem = nur Computergehäuse. Diese nicht sofort korrigieren, sondern durch Gegenbeispiele irritieren. Lehrplanorientierung: Informatik beginnt an der sächsischen Oberschule ab Klasse 7; Strukturen und Prinzipien informatischer Systeme stehen im Zentrum. Quelle: https://schule.sachsen.de/aufbau-und-angebote-4094.html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Erarbeitung: EVAS aus vorherigem Unterricht aktivieren und Speicher als Erweiterung ergänzen. Lassen Sie die Lernenden bei einem Fahrkartenautomaten konkrete Eingaben, Verarbeitungsschritte und Ausgaben benennen. Anschließend fragen: „Woher kennt der Automat Preise und Haltestellen?“ → Speicher/Daten. Differenzierung: Stärkere Lernende ergänzen Netzwerk/Benutzer als Kontext. Sicherungssatz: Ein Informatiksystem verarbeitet Eingaben nach Regeln, erzeugt Ausgaben und nutzt dabei gespeicherte Daten. Grafik ist eine eigene schematische Darstellung; keine maßstäbliche technische Architektur.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Hardware nicht als reine Vokabelliste behandeln. Zu jedem Bauteil eine Funktion erfragen: Prozessor verarbeitet Befehle, RAM hält aktuell benötigte Daten flüchtig, SSD speichert dauerhaft. Praxisimpuls: Geräteinformationen eines Schul-PCs öffnen und zwei Angaben interpretieren lassen. Wichtig: 'größere Zahl = immer besser' vermeiden; Anforderungen hängen vom Einsatzzweck ab. Mini-Check: „Welche Komponente verliert typischerweise ihren Inhalt beim Ausschalten?“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Mit einem Schichtenmodell arbeiten. Betriebssystem vermittelt zwischen Hardware und Anwendungen; die Darstellung ist bewusst vereinfacht. Beispiele aus der Schule nutzen: Windows/Linux/Android als Betriebssysteme, Browser/Textverarbeitung/Grafikprogramm als Anwendungen. Typischer Fehler: 'Google' wird als Betriebssystem genannt. Nachfragen: Suchdienst, Browser oder Betriebssystem? Begrifflich sauber trennen.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Praxisphase: Die vier Schritte als Checkliste einsetzen. Schülerinnen und Schüler sollen bei Problemen nicht sofort 'es geht nicht' melden, sondern den letzten erfolgreichen Schritt nennen. Modellieren Sie einmal laut denkend: Fehlermeldung lesen → Ursache eingrenzen → nur eine Änderung durchführen → erneut testen. Datenschutz: Zugangsdaten niemals vor der Klasse zeigen oder weitergeben.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Zwei Achsen explizit trennen: Preis und Rechte. Kostenlose Software kann proprietär sein; Open-Source-Software kann kostenpflichtige Dienstleistungen enthalten. Keine juristische Detailprüfung verlangen. Lernziel ist die Einsicht, dass 'kostenlos' nicht 'beliebig nutzbar' bedeutet. Transferfrage: „Darf ich jede kostenlose Grafik in einer Präsentation veröffentlichen?“ → Lizenz/Quelle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Methode: Drei Begriffe als Kategorien anbieten und Alltagsbeispiele zuordnen lassen. Ein Beispiel kann mehrere Kategorien erfüllen. Geeignete Fälle: Online-Fahrplan, automatische Rechtschreibprüfung, Cloudspeicher, Smartwatch. Vertiefung: Nutzen und mögliche Risiken jeweils in einem Satz benennen lassen. Ziel ist keine Technikfolgenanalyse im Detail, sondern begriffliche Orientierung.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Erst die Unterscheidung flüchtig/nichtflüchtig sichern, dann Speicherorte vergleichen. RAM ist kein Ort für dauerhafte Ablage. Cloud als Dienst erklären: Daten liegen auf entfernten Systemen und werden über ein Netzwerk erreicht. Nicht behaupten, 'Cloud' sei automatisch sicherer. Praxisfrage: „Wo würdet ihr eine Hausaufgabe speichern, die ihr morgen in der Schule braucht?“ Mehrere begründete Lösungen zulassen.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Partnerarbeit: Zwei Speicheroptionen für einen konkreten Zweck vergleichen, z. B. USB-Stick vs. Schulcloud. Nicht nur Kapazität betrachten. Die Grafik zeigt Auswahlkriterien, keine Messwerte. Stärkere Lernende sollen Zielkonflikte benennen: mobil vs. Verlustgefahr, bequem vs. Zugriffsrechte. Sicherung: Eine gute Speicherentscheidung ist zweckbezogen.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Hier keine unnötige Umrechnungstiefe. Wichtig sind Bit/Byte-Unterscheidung und Größenordnungen. Lassen Sie acht Lernende je eine 0/1-Karte halten → gemeinsam ein Byte. Anschließend reale Dateigrößen aus dem Schulkontext vergleichen. Hinweis: Präfixe und binäre/dezimale Unterschiede nur thematisieren, wenn sie für die Lerngruppe sinnvoll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Praxis: Vier Beispiel-Dateien zeigen und passende Anwendungen zuordnen lassen. Danach Dateiendungen sichtbar machen. Sicherheitsaspekt: Eine umbenannte Dateiendung ändert den tatsächlichen Inhalt nicht zuverlässig. Keine unbekannten Dateien aus unsicheren Quellen öffnen. Begrifflich unterscheiden: Dateiname, Endung, Dateityp, Anwendung.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Mit einer realistischen Schulstruktur arbeiten. Lernende sollen eine chaotische Ablage verbessern und einen Pfad mündlich lesen. Namensregeln vereinbaren: aussagekräftig, kurz, Datum nur wenn sinnvoll, Versionen eindeutig. Differenzierung: stärkere Lernende vergleichen absolute/relative Pfade nur, wenn dies im verwendeten System sichtbar und didaktisch sinnvoll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Unbedingt praktisch demonstrieren: Eine Testdatei kopieren und verschieben; danach an beiden Orten nachsehen. Typische Fehlvorstellung: Drag-and-drop verhalte sich immer gleich. Verhalten kann vom System und Zielmedium abhängen; deshalb Ergebnis kontrollieren. Übung: Lernende formulieren vor jeder Operation: Ausgangsort, Zielort, erwartetes Ergebnis.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Fehlerdiagnose als Methode vermitteln, nicht als Sammlung fertiger Lösungen. Lassen Sie die Klasse aus einer Fehlermeldung relevante Wörter markieren. Regel: Meldung lesen, Problem eingrenzen, einfachen Test durchführen, Ergebnis dokumentieren. Wichtig: Keine Schutzmechanismen umgehen und keine fremden Konten verwenden. Bei Berechtigungsproblemen zuständige Person informieren.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Lehrerhinweis: Mit einem einfachen Verlustszenario starten: Gerät defekt, Datei versehentlich gelöscht. Was hilft? Eine Sicherung ist nur nützlich, wenn sie vorhanden, aktuell und wiederherstellbar ist. Für Klasse 7 genügt das Grundprinzip; komplexe Backupstrategien nicht vertiefen. Fachquelle zur Datensicherung: BSI, Umsetzungshinweise CON.3 Datensicherungskonzept: https://www.bsi.bund.de/SharedDocs/Downloads/DE/BSI/Grundschutz/Umsetzungshinweise/Umsetzungshinweise_2022/Umsetzungshinweis_zum_Baustein_CON_3_Datensicherungskonzept.pdf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 (5 Min.): Lernende erklären den Merksatz mit einem selbst gewählten Gerät. Mindestanforderung: Hardware + Software + Daten/Speicher korrekt zuordnen. Erweiterung: Netzwerk, Rechte und Fehlerdiagnose einbeziehen. Exit-Ticket: 1) Nenne zwei Hardwarebestandteile. 2) Erkläre Kopieren vs. Verschieben. 3) Nenne ein Kriterium für die Wahl eines Speicherorts. Didaktische Orientierung: Sächsische Oberschule betont handlungs- und alltagsorientiertes Lernen; aktuelle Lehrpläne werden über die Lehrplandatenbank bereitgestellt. https://schule.sachsen.de/lehrplaene-und-arbeitsmaterialien-6025.html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Informatiksysteme, Speicher und Dateien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Klasse 7 · Stunden 07–09 · Informatik im Alltag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F374E"/>
                </a:solidFill>
              </a:rPr>
              <a:t>Was muss zusammenarbeiten, damit ein Informatiksystem im Alltag nutzbar 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Informatiksystem im Blockbild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Eingabe → Verarbeitung → Ausgabe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Speicher ergänzt das EVAS-Modell.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Beispiele: Smartphone, Fahrkartenautomat, Schulcomputer.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4173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Eingabe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2400" y="2121408"/>
            <a:ext cx="411480" cy="32004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14173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Verarbeitung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418320" y="2121408"/>
            <a:ext cx="411480" cy="32004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0" y="1828800"/>
            <a:ext cx="141732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Ausgabe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337560"/>
            <a:ext cx="182880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Speicher</a:t>
            </a:r>
          </a:p>
        </p:txBody>
      </p:sp>
      <p:sp>
        <p:nvSpPr>
          <p:cNvPr id="11" name="Up-Down Arrow 10"/>
          <p:cNvSpPr/>
          <p:nvPr/>
        </p:nvSpPr>
        <p:spPr>
          <a:xfrm>
            <a:off x="8641080" y="2697480"/>
            <a:ext cx="502920" cy="594360"/>
          </a:xfrm>
          <a:prstGeom prst="up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Körperliche Bestandteile eines Informatiksystems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Prozessor, Arbeitsspeicher, SSD, Bildschirm, Tastatur, Sensoren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Technische Angaben immer auf die konkrete Aufgabe beziehen.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716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Prozessor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3716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7432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SSD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7432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Bildschirm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1148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Sensoren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Betriebssystem, Anwendungssoftware und Werkzeuge unterscheiden.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Software steuert, verarbeitet und stellt Funktionen bereit.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Hardware und Software wirken zusammen.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417320"/>
            <a:ext cx="4297680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Anwendungssoftware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514600"/>
            <a:ext cx="4297680" cy="77724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Betriebssystem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611880"/>
            <a:ext cx="4297680" cy="7772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Hardware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29600" y="4480560"/>
            <a:ext cx="822960" cy="5029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Systembereitschaft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Gerät starten und anmelden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Netzwerkverbindung prüfen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Anwendung oder Online-Plattform öffnen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Fehlermeldungen zuerst lesen – dann gezielt handeln.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280160"/>
            <a:ext cx="393192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✓  Starten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48840"/>
            <a:ext cx="393192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✓  Anmelden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3017520"/>
            <a:ext cx="393192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✓  Netzwerk prüfen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3886200"/>
            <a:ext cx="3931920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✓  Anwendung öffnen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Lizenzformen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Kostenpflichtig/kostenlos beschreibt den Preis.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Proprietär/Open Source beschreibt Nutzungs- und Änderungsrechte.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Nutzungsrechte bestimmen, was erlaubt 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Preis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Rechte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237744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kostenlos / bezahlt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2834640"/>
            <a:ext cx="2377440" cy="73152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374E"/>
                </a:solidFill>
              </a:rPr>
              <a:t>proprietär / offen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Digitalisierung, Automatisierung, Vernetzung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Digitalisierung: Informationen digital erfassen/verarbeiten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Automatisierung: Abläufe werden selbstständig ausgeführt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Vernetzung: Geräte/Dienste tauschen Daten aus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Beispiele aus dem Alltag zuordnen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34440"/>
            <a:ext cx="4297680" cy="8229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Digitalisierung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68880"/>
            <a:ext cx="429768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Automatisierung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03320"/>
            <a:ext cx="429768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Vernetzung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Speicherarten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Flüchtig / nichtflüchtig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Lokal / Wechselspeicher / Netzwerk / Cloud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Speicherort nach Zweck auswählen.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RAM
flüchtig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SSD
lokal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USB
mobil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926080"/>
            <a:ext cx="20116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Cloud
vernetzt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Speichereigenschaften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Kapazität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Zugriffszeit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Zuverlässigkeit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Mobilität, Kosten und Zugriffsrechte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188720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Kapazität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84787" y="1988820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Tempo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84787" y="3589020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Zuverlässigkeit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4389120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Mobilität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7212" y="3589020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Kosten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7212" y="1988819"/>
            <a:ext cx="1188720" cy="5486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374E"/>
                </a:solidFill>
              </a:rPr>
              <a:t>Rechte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Bit, Byte und Größenordnungen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Bit: zwei Zustände – 0 oder 1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1 Byte = 8 Bit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Text &lt; Foto &lt; Video (typische Größenordnung)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Speicherbedarf grob einschätzen.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920240"/>
            <a:ext cx="438912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20240"/>
            <a:ext cx="438912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920240"/>
            <a:ext cx="438912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438912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920240"/>
            <a:ext cx="438912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920240"/>
            <a:ext cx="438912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920240"/>
            <a:ext cx="438912" cy="5943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1920240"/>
            <a:ext cx="438912" cy="5943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154680"/>
            <a:ext cx="1828800" cy="68580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374E"/>
                </a:solidFill>
              </a:rPr>
              <a:t>8 Bit = 1 Byte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Dateien und Dateitypen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Datei = zusammengehörige gespeicherte Daten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Dateityp hilft bei der Zuordnung zu Anwendungen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Dateiendung ist ein Hinweis, kein vollständiger Beweis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Beispiele: .txt, .jpg, .png, .pdf, .pptx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4E"/>
                </a:solidFill>
              </a:rPr>
              <a:t>.txt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371600"/>
            <a:ext cx="1828800" cy="8229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4E"/>
                </a:solidFill>
              </a:rPr>
              <a:t>.jpg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182880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4E"/>
                </a:solidFill>
              </a:rPr>
              <a:t>.pdf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743200"/>
            <a:ext cx="1828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F374E"/>
                </a:solidFill>
              </a:rPr>
              <a:t>.pptx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Ordner und Pfade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Ordner strukturieren Dateien.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Sinnvolle Namen erleichtern das Wiederfinden.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Ein Pfad beschreibt den Weg zu einer Datei.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Beispiel: Klasse_7 / Informatik / Aufgaben / Aufgabe_01.pdf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2011680"/>
            <a:ext cx="123444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Klasse_7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24928" y="2212848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123444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Informatik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842248" y="2212848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06840" y="2011680"/>
            <a:ext cx="123444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Aufgaben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259568" y="2212848"/>
            <a:ext cx="320040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24160" y="2011680"/>
            <a:ext cx="1828800" cy="73152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F374E"/>
                </a:solidFill>
              </a:rPr>
              <a:t>Aufgabe_01.pdf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Dateioperationen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Erstellen, Kopieren, Verschieben, Umbenennen, Löschen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Kopieren: Original bleibt erhalten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Verschieben: Datei wechselt den Ort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Operation vor dem Ausführen gedanklich vorhersagen.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1828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Original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417320"/>
            <a:ext cx="1828800" cy="82296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Kopie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275320" y="1645920"/>
            <a:ext cx="640080" cy="32004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3337560"/>
            <a:ext cx="1828800" cy="82296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Ort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337560"/>
            <a:ext cx="1828800" cy="82296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Ort 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75320" y="3566160"/>
            <a:ext cx="640080" cy="32004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Fehlermeldungen und Praxisfall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Anmeldung fehlgeschlagen → Zugang/Netzwerk prüfen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Datei nicht gefunden → Pfad/Name/Speicherort prüfen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Keine Berechtigung → Zugriffsrechte beachten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Prüfschritte systematisch abarbeiten.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325880"/>
            <a:ext cx="3749039" cy="77724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Login?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560320"/>
            <a:ext cx="3749039" cy="77724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Datei?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794760"/>
            <a:ext cx="3749039" cy="77724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F374E"/>
                </a:solidFill>
              </a:rPr>
              <a:t>Rechte?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Sicherung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623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Arbeitsdatei und Sicherungskopie trennen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Sicherung regelmäßig und überprüfbar durchführen</a:t>
            </a:r>
          </a:p>
          <a:p>
            <a:pPr>
              <a:spcAft>
                <a:spcPts val="1000"/>
              </a:spcAft>
              <a:defRPr sz="2100">
                <a:solidFill>
                  <a:srgbClr val="232323"/>
                </a:solidFill>
              </a:defRPr>
            </a:pPr>
            <a:r>
              <a:t>Zugriffsrechte auch für Sicherungen beachten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182880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Arbeitsdatei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321040" y="2103120"/>
            <a:ext cx="731520" cy="36576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1828800" cy="914400"/>
          </a:xfrm>
          <a:prstGeom prst="roundRect">
            <a:avLst/>
          </a:prstGeom>
          <a:solidFill>
            <a:srgbClr val="FFE69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374E"/>
                </a:solidFill>
              </a:rPr>
              <a:t>Sicherung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 · Fachquelle: BSI CON.3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F374E"/>
                </a:solidFill>
              </a:rPr>
              <a:t>Sicherung der Sequenz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07040" cy="20116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700" b="1">
                <a:solidFill>
                  <a:srgbClr val="1F374E"/>
                </a:solidFill>
              </a:rPr>
              <a:t>Informatiksysteme bestehen aus Hardware, Software, Daten, Speicher und Nutzung. Vernetzung, Rechte und Ordnung entscheiden mit, ob sie zuverlässig funktionieren.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6969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