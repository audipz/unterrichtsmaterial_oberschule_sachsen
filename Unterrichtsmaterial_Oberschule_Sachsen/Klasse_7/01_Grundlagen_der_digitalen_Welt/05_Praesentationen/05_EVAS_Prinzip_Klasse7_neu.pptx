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vollständig aus PowerPoint-Formen. Wichtig: Speicherung nicht als zwingend linearen vierten Schritt darstellen. Das ist eine zentrale Vorgabe des Lehrerbands.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Rückblick laut Lehrerband ca. 3 Minuten. Erwartung: Informationen können als Text, Bild und Ton digital dargestellt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Leitfrage aus dem Lehrerband. Schülerantworten sammeln, noch nicht in EVAS-Kategorien korrigieren.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laut Lehrerband. Nicht nur Geräte benennen lassen. Eingabe: Zahlen 5 und 8 sowie Operation +. Verarbeitung: Addition. Ausgabe: Ergebnis 13. Die Frage 'Was geschieht in der Mitte?' führt zur Verarbeitung.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 gemeinsam entwickeln: Eingabe → Verarbeitung → Ausgabe. Der Fokus liegt auf Informationen und Vorgängen, nicht nur auf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Typische Fehlvorstellung aus dem Lehrerband: 'Tastatur ist Eingabe' reicht für eine Analyse nicht. Präzisieren: Welche Information gelangt über die Tastatur in das System? Beispiel Taschenrechner: Ziffern und Rechenoperation.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Lehrerband ausdrücklich aufgreifen: Verarbeitung kann rechnen, vergleichen, suchen, sortieren, steuern oder decodieren bedeuten. Bei Schülerbeispielen nach einem Verb fragen: 'Was tut das System mit den Eingabedaten?'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Ausgabe kann Information für Menschen sein, aber auch eine Wirkung wie das Ansteuern eines Motors oder Signals. Bei der Analyse möglichst konkret formulieren.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Zentrale fachliche Aussage des Lehrerbands: Speicherung nicht als lineares 'S' nach EVA darstellen. Daten können vor der Verarbeitung geladen, währenddessen zwischengespeichert und danach gespeichert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Anschauliches Beispiel zur Speicherrolle. Nicht behaupten, jede konkrete Kamera-App müsse intern exakt so implementiert sein; es ist ein vereinfachtes Modell zur Rolle von Speicher.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Gemeinsames Beispiel aus der Präsentationsplanung. Eingabe kann mehrere Informationen umfassen: Sensordaten und Bedienhandlung. Verarbeitung bewusst vereinfacht formulieren. Ausgabe ist die Darstellung des Fotos; Speicherung kann als Datei erfolgen.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Schülerarbeit. Mögliche Lösung: Eingabe Karte/Kartendaten, PIN, Betrag; Verarbeitung PIN/Berechtigung prüfen, Kontostand/Betrag prüfen; Ausgabe Geld, Anzeige/Beleg; Speicher Kontodaten, Transaktionsdaten. Sicherheitsdetails nicht vertiefen. Lösungen nicht auf der Folie vorwegnehmen.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Musterlösung erst nach der Schülerphase zeigen. Bei Verarbeitung nicht bei 'Computer rechnet' stehen bleiben. Prüfen, vergleichen und steuern sind hier treffender.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Differenzierung/Erweiterung aus dem Lehrerband: Systeme können mehrere Eingaben und Ausgaben besitzen. EVAS ist kein Schema, bei dem immer genau ein Gerät pro Kategorie vorkommt.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Partneraufgabe aus der Präsentationsplanung. Basis: Gerät mit klaren Ein-/Ausgaben. Erweiterung: mehrere Eingaben, Zwischenspeicher, unterschiedliche Ausgaben.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EVAS als Denkmodell einordnen, nicht als vollständige technische Innenansicht jedes Computers. Das schützt vor einer zu schematischen Vorstellung.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Fehlvorstellungen aus dem Lehrerband und der Erweiterung gezielt sichern. Bei jeder Analyse nach Informationen und Vorgängen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Lernziel sichern: E, V, A und Speicher unterscheiden und auf konkrete Systeme anwenden. Speicherung ausdrücklich nicht als zwingend vierten linearen Schritt formulieren.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Aufgabe ist laut Material als bewertete Leistung vorgesehen. Kriterien und Bewertungsbogen vor Beginn transparent aushändigen. Arbeitsform und Abgabetermin legt die Lehrkraft fest. Quellen müssen gekennzeichnet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Direkt aus dem Präsentationsauftrag abgeleitet: verständlich erklären, Bilder/Skizzen nutzen, nicht nur ablesen, Fragen beantworten können und Quellen kennzeichnen.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Ausblick aus Lehrerband und Präsentationsplanung. Übergang zum Algorithmus: Die Verarbeitung muss durch eine eindeutige Handlungsvorschrift festgelegt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Das EVAS-Prinzip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Wie Computer Informationen verarbeiten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423160"/>
            <a:ext cx="2194560" cy="1828800"/>
          </a:xfrm>
          <a:prstGeom prst="roundRect">
            <a:avLst/>
          </a:prstGeom>
          <a:solidFill>
            <a:srgbClr val="2A3E55"/>
          </a:solidFill>
          <a:ln w="317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514600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375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CDD9E6"/>
                </a:solidFill>
                <a:latin typeface="Aptos"/>
              </a:rPr>
              <a:t>Eingabe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97180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CDD9E6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423160"/>
            <a:ext cx="2194560" cy="1828800"/>
          </a:xfrm>
          <a:prstGeom prst="roundRect">
            <a:avLst/>
          </a:prstGeom>
          <a:solidFill>
            <a:srgbClr val="2A3E55"/>
          </a:solidFill>
          <a:ln w="317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3375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CDD9E6"/>
                </a:solidFill>
                <a:latin typeface="Aptos"/>
              </a:rPr>
              <a:t>Verarbeitung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97180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CDD9E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423160"/>
            <a:ext cx="2194560" cy="1828800"/>
          </a:xfrm>
          <a:prstGeom prst="roundRect">
            <a:avLst/>
          </a:prstGeom>
          <a:solidFill>
            <a:srgbClr val="2A3E55"/>
          </a:solidFill>
          <a:ln w="317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514600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3375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CDD9E6"/>
                </a:solidFill>
                <a:latin typeface="Aptos"/>
              </a:rPr>
              <a:t>Ausgabe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2423160"/>
            <a:ext cx="1280160" cy="1828800"/>
          </a:xfrm>
          <a:prstGeom prst="roundRect">
            <a:avLst/>
          </a:prstGeom>
          <a:solidFill>
            <a:srgbClr val="2A3E55"/>
          </a:solidFill>
          <a:ln w="317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251460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337560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DD9E6"/>
                </a:solidFill>
                <a:latin typeface="Aptos"/>
              </a:rPr>
              <a:t>Speicher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DD9E6"/>
                </a:solidFill>
                <a:latin typeface="Aptos"/>
              </a:rPr>
              <a:t>Speicher kann an mehreren Stellen beteiligt sein – nicht nur am Ende.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Rückblick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Was haben wir bisher digital dargestellt?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306324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Zeichencodes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560320"/>
            <a:ext cx="306324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Bild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Pixelwerte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560320"/>
            <a:ext cx="306324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Musik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8328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Messwerte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69AA"/>
                </a:solidFill>
                <a:latin typeface="Aptos"/>
              </a:rPr>
              <a:t>Heute: Was geschieht mit diesen Informationen?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C2D44"/>
                </a:solidFill>
                <a:latin typeface="Aptos"/>
              </a:rPr>
              <a:t>Was passiert mit Informationen,
wenn wir einen Computer benutzen?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Taschenrechner: Was passiert in der Mitte?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2743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743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3069AA"/>
                </a:solidFill>
                <a:latin typeface="Aptos"/>
              </a:rPr>
              <a:t>5 + 8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011680"/>
            <a:ext cx="2743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2743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75559B"/>
                </a:solidFill>
                <a:latin typeface="Aptos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011680"/>
            <a:ext cx="2743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2743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3E8A68"/>
                </a:solidFill>
                <a:latin typeface="Aptos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6060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6060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Welche Information wird eingegeben? Was muss das Gerät tun? Was gibt es aus?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EVA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Drei Grundschritte der Informationsverarbeitung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69AA"/>
                </a:solidFill>
                <a:latin typeface="Aptos"/>
              </a:rPr>
              <a:t>Eingabe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219456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5559B"/>
                </a:solidFill>
                <a:latin typeface="Aptos"/>
              </a:rPr>
              <a:t>Verarbeitung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1" y="219456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82880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8A68"/>
                </a:solidFill>
                <a:latin typeface="Aptos"/>
              </a:rPr>
              <a:t>Ausgabe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2971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23282D"/>
                </a:solidFill>
                <a:latin typeface="Aptos"/>
              </a:rPr>
              <a:t>Information kommt hinein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886200"/>
            <a:ext cx="2971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23282D"/>
                </a:solidFill>
                <a:latin typeface="Aptos"/>
              </a:rPr>
              <a:t>Information wird bearbeitet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86200"/>
            <a:ext cx="2971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23282D"/>
                </a:solidFill>
                <a:latin typeface="Aptos"/>
              </a:rPr>
              <a:t>Ergebnis wird bereitgestellt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Eingabe: Was kommt hinein?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46888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069AA"/>
                </a:solidFill>
                <a:latin typeface="Aptos"/>
              </a:rPr>
              <a:t>Tastatur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Text / Tasten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508760"/>
            <a:ext cx="246888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7373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069AA"/>
                </a:solidFill>
                <a:latin typeface="Aptos"/>
              </a:rPr>
              <a:t>Mikrofon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56032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Schallsignal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246888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7373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069AA"/>
                </a:solidFill>
                <a:latin typeface="Aptos"/>
              </a:rPr>
              <a:t>Kamera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56032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Bilddaten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508760"/>
            <a:ext cx="246888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17373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069AA"/>
                </a:solidFill>
                <a:latin typeface="Aptos"/>
              </a:rPr>
              <a:t>Sensor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56032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Messwert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94945"/>
                </a:solidFill>
                <a:latin typeface="Aptos"/>
              </a:rPr>
              <a:t>Nicht nur fragen: „Welches Gerät?“
Sondern: „Welche Information wird eingegeben?“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Verarbeitung: Was geschieht mit der Information?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9184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2918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75559B"/>
                </a:solidFill>
                <a:latin typeface="Aptos"/>
              </a:rPr>
              <a:t>rechnen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1417320"/>
            <a:ext cx="329184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417320"/>
            <a:ext cx="32918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75559B"/>
                </a:solidFill>
                <a:latin typeface="Aptos"/>
              </a:rPr>
              <a:t>vergleichen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1417320"/>
            <a:ext cx="329184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417320"/>
            <a:ext cx="32918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75559B"/>
                </a:solidFill>
                <a:latin typeface="Aptos"/>
              </a:rPr>
              <a:t>suchen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37560"/>
            <a:ext cx="329184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32918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75559B"/>
                </a:solidFill>
                <a:latin typeface="Aptos"/>
              </a:rPr>
              <a:t>sortieren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79" y="3337560"/>
            <a:ext cx="329184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3337560"/>
            <a:ext cx="32918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75559B"/>
                </a:solidFill>
                <a:latin typeface="Aptos"/>
              </a:rPr>
              <a:t>decodieren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19" y="3337560"/>
            <a:ext cx="329184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3337560"/>
            <a:ext cx="32918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75559B"/>
                </a:solidFill>
                <a:latin typeface="Aptos"/>
              </a:rPr>
              <a:t>steuern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B94945"/>
                </a:solidFill>
                <a:latin typeface="Aptos"/>
              </a:rPr>
              <a:t>Verarbeitung bedeutet viel mehr als nur Rechnen.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Ausgabe: Was kommt heraus?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46888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Bildschirm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Bild /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508760"/>
            <a:ext cx="246888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7373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Lautsprecher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56032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246888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7373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Drucker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56032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Ausdruck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508760"/>
            <a:ext cx="246888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17373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Motor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56032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Bewegung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Auch hier gilt: Gerät UND ausgegebene Information oder Wirkung benennen.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Und wo gehört der Speicher hin?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69AA"/>
                </a:solidFill>
                <a:latin typeface="Aptos"/>
              </a:rPr>
              <a:t>Eingabe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178308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1732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5559B"/>
                </a:solidFill>
                <a:latin typeface="Aptos"/>
              </a:rPr>
              <a:t>Verarbeitung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4071" y="178308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1732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41732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8A68"/>
                </a:solidFill>
                <a:latin typeface="Aptos"/>
              </a:rPr>
              <a:t>Ausgabe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3429000"/>
            <a:ext cx="3703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429000"/>
            <a:ext cx="37033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EB9E37"/>
                </a:solidFill>
                <a:latin typeface="Aptos"/>
              </a:rPr>
              <a:t>Speicher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98348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F6973"/>
                </a:solidFill>
                <a:latin typeface="Aptos"/>
              </a:rPr>
              <a:t>vorher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98348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F6973"/>
                </a:solidFill>
                <a:latin typeface="Aptos"/>
              </a:rPr>
              <a:t>während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983480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F6973"/>
                </a:solidFill>
                <a:latin typeface="Aptos"/>
              </a:rPr>
              <a:t>nachher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94945"/>
                </a:solidFill>
                <a:latin typeface="Aptos"/>
              </a:rPr>
              <a:t>Speicherung ist kein zwingend letzter Schritt.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Beispiel Speicher: Foto-App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B9E37"/>
                </a:solidFill>
                <a:latin typeface="Aptos"/>
              </a:rPr>
              <a:t>vorher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Kameraeinstellungen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3291840" cy="2194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B9E37"/>
                </a:solidFill>
                <a:latin typeface="Aptos"/>
              </a:rPr>
              <a:t>während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Bilddaten im Arbeitsspeicher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45920"/>
            <a:ext cx="3291840" cy="2194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B9E37"/>
                </a:solidFill>
                <a:latin typeface="Aptos"/>
              </a:rPr>
              <a:t>nachher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14600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Foto als Datei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Speicher unterstützt die Verarbeitung an verschiedenen Stellen.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Smartphone-Kamera nach EVAS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Gemeinsam analysieren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69AA"/>
                </a:solidFill>
                <a:latin typeface="Aptos"/>
              </a:rPr>
              <a:t>Eingabe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178308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1732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5559B"/>
                </a:solidFill>
                <a:latin typeface="Aptos"/>
              </a:rPr>
              <a:t>Verarbeitung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1" y="178308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1732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41732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8A68"/>
                </a:solidFill>
                <a:latin typeface="Aptos"/>
              </a:rPr>
              <a:t>Ausgabe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Licht / Auslöser
→ Sensordaten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92608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Bilddaten verarbeiten
z. B. Farben berechnen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Foto auf dem
Bildschirm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572000"/>
            <a:ext cx="2971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4572000"/>
            <a:ext cx="2971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Speicher: Foto-Datei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Geldautomat – jetzt ihr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Ordnet das System nach EVAS.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256032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25603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69AA"/>
                </a:solidFill>
                <a:latin typeface="Aptos"/>
              </a:rPr>
              <a:t>Eingabe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423160"/>
            <a:ext cx="256032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423160"/>
            <a:ext cx="25603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5559B"/>
                </a:solidFill>
                <a:latin typeface="Aptos"/>
              </a:rPr>
              <a:t>Verarbeitung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23160"/>
            <a:ext cx="256032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423160"/>
            <a:ext cx="25603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8A68"/>
                </a:solidFill>
                <a:latin typeface="Aptos"/>
              </a:rPr>
              <a:t>Ausgabe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423160"/>
            <a:ext cx="256032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423160"/>
            <a:ext cx="25603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9E37"/>
                </a:solidFill>
                <a:latin typeface="Aptos"/>
              </a:rPr>
              <a:t>Speicher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94945"/>
                </a:solidFill>
                <a:latin typeface="Aptos"/>
              </a:rPr>
              <a:t>Nennt nicht nur Geräte – beschreibt die Informationen und Vorgänge.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Mögliche Analyse: Geldautomat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651760" cy="3337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Eingabe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Kartendaten
PIN
gewünschter Betrag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417320"/>
            <a:ext cx="2651760" cy="3337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6459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5559B"/>
                </a:solidFill>
                <a:latin typeface="Aptos"/>
              </a:rPr>
              <a:t>Verarbeitung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42316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Berechtigung prüfen
Betrag prüfen
Transaktion ausführen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417320"/>
            <a:ext cx="2651760" cy="3337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6459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Ausgabe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42316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Anzeige
Bargeld
optional Beleg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1417320"/>
            <a:ext cx="2651760" cy="3337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16459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B9E37"/>
                </a:solidFill>
                <a:latin typeface="Aptos"/>
              </a:rPr>
              <a:t>Speicher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736" y="242316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Konto-/Transaktionsdaten
vor und nach Verarbeitung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Andere sinnvolle Formulierungen sind möglich, wenn sie begründet werden.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Ein Gerät kann mehrere Ein- und Ausgaben 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4747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2148840"/>
            <a:ext cx="347472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75559B"/>
                </a:solidFill>
                <a:latin typeface="Aptos"/>
              </a:rPr>
              <a:t>Navigations-App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371600"/>
            <a:ext cx="256032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GPS-Position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4592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256032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Zieladresse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38912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371600"/>
            <a:ext cx="256032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37160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Karte /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64592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114800"/>
            <a:ext cx="256032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411480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Sprachausgabe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38912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Eigenes Gerät untersuchen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Partneraufgabe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Wählt ein digitales Gerät oder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256032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3069AA"/>
                </a:solidFill>
                <a:latin typeface="Aptos"/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C2D44"/>
                </a:solidFill>
                <a:latin typeface="Aptos"/>
              </a:rPr>
              <a:t>Welche Informationen kommen hinein?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240280"/>
            <a:ext cx="256032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75559B"/>
                </a:solidFill>
                <a:latin typeface="Aptos"/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6324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C2D44"/>
                </a:solidFill>
                <a:latin typeface="Aptos"/>
              </a:rPr>
              <a:t>Was geschieht damit?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240280"/>
            <a:ext cx="256032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3E8A68"/>
                </a:solidFill>
                <a:latin typeface="Aptos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4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C2D44"/>
                </a:solidFill>
                <a:latin typeface="Aptos"/>
              </a:rPr>
              <a:t>Was kommt heraus?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240280"/>
            <a:ext cx="256032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42316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EB9E37"/>
                </a:solidFill>
                <a:latin typeface="Aptos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06324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C2D44"/>
                </a:solidFill>
                <a:latin typeface="Aptos"/>
              </a:rPr>
              <a:t>Wann und was wird gespeichert?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94945"/>
                </a:solidFill>
                <a:latin typeface="Aptos"/>
              </a:rPr>
              <a:t>Begründet eure Zuordnung.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EVAS ist ein Modell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Ein Modell hilft uns, komplexe Systeme verständlich zu beschreiben.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69AA"/>
                </a:solidFill>
                <a:latin typeface="Aptos"/>
              </a:rPr>
              <a:t>Eingabe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274320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37744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37744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75559B"/>
                </a:solidFill>
                <a:latin typeface="Aptos"/>
              </a:rPr>
              <a:t>Verarbeitung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1" y="274320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377440"/>
            <a:ext cx="2971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377440"/>
            <a:ext cx="2971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8A68"/>
                </a:solidFill>
                <a:latin typeface="Aptos"/>
              </a:rPr>
              <a:t>Ausgabe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3282D"/>
                </a:solidFill>
                <a:latin typeface="Aptos"/>
              </a:rPr>
              <a:t>In echten Systemen können viele Verarbeitungsschritte,
Speicherzugriffe und Ein-/Ausgaben gleichzeitig vorkommen.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Typische Fehler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578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63039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B94945"/>
                </a:solidFill>
                <a:latin typeface="Aptos"/>
              </a:rPr>
              <a:t>„Tastatur = Eingabe“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00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3282D"/>
                </a:solidFill>
                <a:latin typeface="Aptos"/>
              </a:rPr>
              <a:t>Welche Information wird eingegeben?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578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39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B94945"/>
                </a:solidFill>
                <a:latin typeface="Aptos"/>
              </a:rPr>
              <a:t>„Verarbeitung = Rechnen“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800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3282D"/>
                </a:solidFill>
                <a:latin typeface="Aptos"/>
              </a:rPr>
              <a:t>Auch suchen, sortieren, prüfen, steuern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2578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703320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B94945"/>
                </a:solidFill>
                <a:latin typeface="Aptos"/>
              </a:rPr>
              <a:t>„Speicher kommt zuletzt“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4800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3282D"/>
                </a:solidFill>
                <a:latin typeface="Aptos"/>
              </a:rPr>
              <a:t>Speicher kann vorher, während und danach wirken.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66160"/>
            <a:ext cx="52578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703320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B94945"/>
                </a:solidFill>
                <a:latin typeface="Aptos"/>
              </a:rPr>
              <a:t>„Eine Ausgabe reicht“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800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3282D"/>
                </a:solidFill>
                <a:latin typeface="Aptos"/>
              </a:rPr>
              <a:t>Systeme können mehrere Ausgaben besitzen.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1033272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Eingabe: Informationen gelangen in ein System.
Verarbeitung: Informationen werden bearbeitet.
Ausgabe: Ergebnisse oder Wirkungen werden bereitgestellt.
Speicher: Daten können vor, während und nach der Verarbeitung gespeichert werden.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Bewertete Präsentation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Jetzt wendet ihr das Prinzip selbst 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Erstellt eine Präsentation oder ein Erklärvideo zum EVAS-Prinzip.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48840"/>
            <a:ext cx="3383280" cy="12344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58568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EVAS erklären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15768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mit eigenen Worten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383280" cy="12344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258568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Speicher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15768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Rolle und Zeitpunkt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148840"/>
            <a:ext cx="3383280" cy="12344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258568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Computerbeispiel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15768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konkret analysieren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49039"/>
            <a:ext cx="3383280" cy="12344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58768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außerhalb Computer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15968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ein Beispiel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749039"/>
            <a:ext cx="3383280" cy="12344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858768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eigenes Beispiel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315968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selbst entwickeln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749039"/>
            <a:ext cx="3383280" cy="12344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858768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Fazit + Quellen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315968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verständlich abschließen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Was macht eine gute EVAS-Präsentation aus?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468880" cy="2148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verständlich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auch Jüngere können folgen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600200"/>
            <a:ext cx="2468880" cy="2148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8288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konkret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51460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Informationen und Vorgänge benennen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468880" cy="2148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8288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visualisiert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Skizzen / Diagramme sinnvoll nutzen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600200"/>
            <a:ext cx="2468880" cy="2148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18288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eigenständig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51460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C2D44"/>
                </a:solidFill>
                <a:latin typeface="Aptos"/>
              </a:rPr>
              <a:t>nicht nur Folientext vorlesen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B94945"/>
                </a:solidFill>
                <a:latin typeface="Aptos"/>
              </a:rPr>
              <a:t>Ihr müsst Fragen zu eurer Präsentation beantworten können.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C2D44"/>
                </a:solidFill>
                <a:latin typeface="Aptos"/>
              </a:rPr>
              <a:t>Alle Geräte verarbeiten Informationen.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3069AA"/>
                </a:solidFill>
                <a:latin typeface="Aptos"/>
              </a:rPr>
              <a:t>Aber woher weiß ein Computer,
welche Verarbeitung ausgeführt werden soll?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