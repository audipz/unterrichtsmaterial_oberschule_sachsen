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08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Titelgrafik ist fachlich auf das Thema bezogen und vollständig mit PowerPoint-Formen erstellt.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Erwartung: Mehrere Stellen können kombiniert werden. Beispiele: Licht an/aus, Schalter, wahr/falsch. Noch nicht direkt das Binärsystem vollständig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Bit als kleinste hier betrachtete Informationseinheit einführen. Wichtig: 0 und 1 sind zunächst Symbole für zwei unterscheidbare Zustände.</a:t>
            </a:r>
          </a:p>
          <a:p>
            <a:r>
              <a:t>Grafik: eigene Darstellung mit PowerPoint-Formen.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Mit Karten oder Fingern Kombinationen bilden. Muster Verdopplung herausarbeiten. Formel 2^n kann als Erweiterung genannt werden.</a:t>
            </a:r>
          </a:p>
          <a:p>
            <a:r>
              <a:t>Grafik: eigene Darstellung mit PowerPoint-Formen.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Vermutungen sammeln. Nicht sofort auflösen. Der Unterschied entsteht durch das verwendete Zahlensystem.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Zuerst nur die Zweierpotenzen sichern. Von 2^0 = 1 ausgehend jeweils verdoppeln. Für die folgenden Umrechnungen bleibt die Reihenfolge 128, 64, 32, 16, 8, 4, 2, 1 gleich. Typischer Fehler: 2^0 ist nicht 0, sondern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Umrechnung Dezimal → Binär mit der Entscheidungsmatrix:</a:t>
            </a:r>
          </a:p>
          <a:p>
            <a:r>
              <a:t>1. Potenzen/Stellenwerte von links nach rechts betrachten.</a:t>
            </a:r>
          </a:p>
          <a:p>
            <a:r>
              <a:t>2. Prüfen: Passt der Stellenwert in die noch übrige Zahl?</a:t>
            </a:r>
          </a:p>
          <a:p>
            <a:r>
              <a:t>3. Ja: 1 in die Zelle schreiben und den Stellenwert abziehen. Nein: 0 schreiben.</a:t>
            </a:r>
          </a:p>
          <a:p>
            <a:r>
              <a:t>4. Bis 2^0 fortsetzen. Die entstandene Folge aus 0 und 1 ist die Binärzahl.</a:t>
            </a:r>
          </a:p>
          <a:p>
            <a:r>
              <a:t>Beispiel 13: 8 passt → Rest 5; 4 passt → Rest 1; 2 passt nicht; 1 passt → Rest 0. Damit 13 = 1101₂ (bei 8 Bit: 00001101₂).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Matrix zunächst ohne farbliche Lösung zeigen und von den Schülerinnen und Schülern füllen lassen. Lösung: 22 = 16 + 4 + 2, also 00010110₂. Die Kontrolle erfolgt durch Rückumrechnung: alle Stellenwerte mit einer 1 addieren.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Umrechnung Binär → Dezimal mit derselben Entscheidungsmatrix:</a:t>
            </a:r>
          </a:p>
          <a:p>
            <a:r>
              <a:t>1. Die Bits passend unter die Potenzen/Stellenwerte schreiben; ganz rechts steht 2^0 = 1.</a:t>
            </a:r>
          </a:p>
          <a:p>
            <a:r>
              <a:t>2. Alle Spalten mit Bit 1 markieren.</a:t>
            </a:r>
          </a:p>
          <a:p>
            <a:r>
              <a:t>3. Die zugehörigen Stellenwerte addieren. Spalten mit 0 werden nicht addiert.</a:t>
            </a:r>
          </a:p>
          <a:p>
            <a:r>
              <a:t>Beispiel 10110₂: 16 + 4 + 2 = 22₁₀.</a:t>
            </a:r>
          </a:p>
          <a:p>
            <a:r>
              <a:t>Damit lernen die Schülerinnen und Schüler für beide Richtungen dieselbe Darstellung.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Reste werden von unten nach oben gelesen: 1101. Häufiger Fehler ist Lesen in Rechenrichtung; direkt durch Rückrechnung kontrollieren.</a:t>
            </a:r>
          </a:p>
          <a:p>
            <a:r>
              <a:t>Grafik: eigene Darstellung.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Ziel: Den klassischen Fehler verhindern, die Reste in Rechenrichtung zu lesen.</a:t>
            </a:r>
          </a:p>
          <a:p>
            <a:endParaRPr/>
          </a:p>
          <a:p>
            <a:r>
              <a:t>Vorgehen:</a:t>
            </a:r>
          </a:p>
          <a:p>
            <a:r>
              <a:t>1. Immer durch 2 teilen und den Rest notieren.</a:t>
            </a:r>
          </a:p>
          <a:p>
            <a:r>
              <a:t>2. Weiter mit dem ganzzahligen Quotienten, bis der Quotient 0 ist.</a:t>
            </a:r>
          </a:p>
          <a:p>
            <a:r>
              <a:t>3. Wichtig: Die erste Division liefert das niederwertigste Bit (2^0). Deshalb steht dieser Rest in der fertigen Binärzahl ganz rechts.</a:t>
            </a:r>
          </a:p>
          <a:p>
            <a:r>
              <a:t>4. Die Reste müssen folglich von UNTEN NACH OBEN gelesen werden.</a:t>
            </a:r>
          </a:p>
          <a:p>
            <a:endParaRPr/>
          </a:p>
          <a:p>
            <a:r>
              <a:t>Typischer Fehler:</a:t>
            </a:r>
          </a:p>
          <a:p>
            <a:r>
              <a:t>Die Lernenden lesen 1,0,1,1 von oben nach unten und erhalten 1011₂. Das ist falsch: 1011₂ = 11₁₀.</a:t>
            </a:r>
          </a:p>
          <a:p>
            <a:endParaRPr/>
          </a:p>
          <a:p>
            <a:r>
              <a:t>Probe mit der bekannten Potenzmatrix:</a:t>
            </a:r>
          </a:p>
          <a:p>
            <a:r>
              <a:t>1101₂ = 8 + 4 + 0 + 1 = 13₁₀.</a:t>
            </a:r>
          </a:p>
          <a:p>
            <a:r>
              <a:t>So wird das Divisionsverfahren mit dem Hauptverfahren verknüpft.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Dezimaladdition mit Übertrag erinnern. Binär gibt es nur 0 und 1; daher entsteht bei 1+1 ein Übertrag.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Schreibweise 10 bedeutet binär zwei. Bei 1+1 wird 0 geschrieben und 1 übertragen.</a:t>
            </a:r>
          </a:p>
          <a:p>
            <a:r>
              <a:t>Grafik: eigene Darstellung mit PowerPoint-Formen.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Rechnung möglichst zusätzlich an der Tafel spaltenweise durchführen. Bei 1+1+1 entsteht 11₂: 1 schreiben, 1 übertragen.</a:t>
            </a:r>
          </a:p>
          <a:p>
            <a:r>
              <a:t>Grafik: eigene Darstellung.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Erwartung: 11111111₂ = 255. Begründung über 128+64+32+16+8+4+2+1 oder 2^8-1.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Diese Fehler gezielt ansprechen. Lernende jeweils ein Gegenbeispiel erklären lassen.</a:t>
            </a:r>
          </a:p>
          <a:p>
            <a:r>
              <a:t>Grafik: eigene Darstellung mit PowerPoint-Formen.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Merksatz gemeinsam formulieren oder vorlesen lassen. Danach mit der Ausblickfrage zur nächsten Einheit überleiten.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Vor der schriftlichen Rechnung die fünf Fälle sichern.</a:t>
            </a:r>
          </a:p>
          <a:p>
            <a:endParaRPr/>
          </a:p>
          <a:p>
            <a:r>
              <a:t>Wichtig ist die Herleitung, nicht bloß Auswendiglernen:</a:t>
            </a:r>
          </a:p>
          <a:p>
            <a:r>
              <a:t>1 + 1 = 2₁₀. Mit der Potenzdarstellung ist 2 = 10₂. Also 0 schreiben und 1 übertragen.</a:t>
            </a:r>
          </a:p>
          <a:p>
            <a:r>
              <a:t>1 + 1 + 1 = 3₁₀. Über die Potenzen 2 + 1 ergibt sich 11₂. Also 1 schreiben und 1 übertragen.</a:t>
            </a:r>
          </a:p>
          <a:p>
            <a:endParaRPr/>
          </a:p>
          <a:p>
            <a:r>
              <a:t>Alternativ kann die bekannte Division durch 2 verwendet werden:</a:t>
            </a:r>
          </a:p>
          <a:p>
            <a:r>
              <a:t>3 : 2 = 1 Rest 1; 1 : 2 = 0 Rest 1; Reste von unten nach oben → 11₂.</a:t>
            </a:r>
          </a:p>
          <a:p>
            <a:endParaRPr/>
          </a:p>
          <a:p>
            <a:r>
              <a:t>Merksatz für Lehrkräfte:</a:t>
            </a:r>
          </a:p>
          <a:p>
            <a:r>
              <a:t>Spaltensumme bilden → falls nötig in Binär umrechnen → rechtes Bit hinschreiben → die links stehenden Bits bilden den Übertrag.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Rechnung langsam von rechts nach links moderieren.</a:t>
            </a:r>
          </a:p>
          <a:p>
            <a:endParaRPr/>
          </a:p>
          <a:p>
            <a:r>
              <a:t>Spalte 1: 1 + 0 = 1. Ergebnisbit 1.</a:t>
            </a:r>
          </a:p>
          <a:p>
            <a:r>
              <a:t>Spalte 2: 1 + 1 = 2₁₀ = 10₂. Die 0 gehört in die aktuelle Stelle; die 1 wird in die nächste Stelle übertragen.</a:t>
            </a:r>
          </a:p>
          <a:p>
            <a:r>
              <a:t>Spalte 3: 0 + 1 + Übertrag 1 = 2₁₀ = 10₂. Wieder 0 schreiben und 1 übertragen.</a:t>
            </a:r>
          </a:p>
          <a:p>
            <a:r>
              <a:t>Spalte 4: 1 + 0 + Übertrag 1 = 2₁₀ = 10₂. Wieder 0 schreiben und 1 übertragen.</a:t>
            </a:r>
          </a:p>
          <a:p>
            <a:r>
              <a:t>Am linken Rand bleibt der Übertrag 1 übrig; dieser wird als neue Stelle geschrieben.</a:t>
            </a:r>
          </a:p>
          <a:p>
            <a:endParaRPr/>
          </a:p>
          <a:p>
            <a:r>
              <a:t>Typische Fehler:</a:t>
            </a:r>
          </a:p>
          <a:p>
            <a:r>
              <a:t>- Übertrag vergessen.</a:t>
            </a:r>
          </a:p>
          <a:p>
            <a:r>
              <a:t>- '2' in eine Binärstelle schreiben.</a:t>
            </a:r>
          </a:p>
          <a:p>
            <a:r>
              <a:t>- Übertrag zwar notieren, aber in der nächsten Spalte nicht mitaddieren.</a:t>
            </a:r>
          </a:p>
          <a:p>
            <a:r>
              <a:t>- letzten Übertrag links vergessen.</a:t>
            </a:r>
          </a:p>
          <a:p>
            <a:endParaRPr/>
          </a:p>
          <a:p>
            <a:r>
              <a:t>Probe:</a:t>
            </a:r>
          </a:p>
          <a:p>
            <a:r>
              <a:t>1011₂ = 8+2+1 = 11.</a:t>
            </a:r>
          </a:p>
          <a:p>
            <a:r>
              <a:t>0110₂ = 4+2 = 6.</a:t>
            </a:r>
          </a:p>
          <a:p>
            <a:r>
              <a:t>11+6=17.</a:t>
            </a:r>
          </a:p>
          <a:p>
            <a:r>
              <a:t>10001₂ = 16+1 =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 mehreren Summanden ist 1+1+1 ein besonders wichtiger Fall.</a:t>
            </a:r>
          </a:p>
          <a:p>
            <a:endParaRPr/>
          </a:p>
          <a:p>
            <a:r>
              <a:t>Rechte Spalte:</a:t>
            </a:r>
          </a:p>
          <a:p>
            <a:r>
              <a:t>1+1+1 = 3₁₀.</a:t>
            </a:r>
          </a:p>
          <a:p>
            <a:r>
              <a:t>Umrechnung mit Potenzen: 3 = 2 + 1 = 11₂.</a:t>
            </a:r>
          </a:p>
          <a:p>
            <a:r>
              <a:t>Daher wird das rechte Bit 1 in die aktuelle Ergebnisspalte geschrieben; die linke 1 wird übertragen.</a:t>
            </a:r>
          </a:p>
          <a:p>
            <a:endParaRPr/>
          </a:p>
          <a:p>
            <a:r>
              <a:t>Nächste Spalte des Beispiels:</a:t>
            </a:r>
          </a:p>
          <a:p>
            <a:r>
              <a:t>0+1+1 + Übertrag 1 = 3₁₀ = 11₂ → wieder 1 schreiben und 1 übertragen.</a:t>
            </a:r>
          </a:p>
          <a:p>
            <a:r>
              <a:t>Nächste Spalte:</a:t>
            </a:r>
          </a:p>
          <a:p>
            <a:r>
              <a:t>1+0+1 + Übertrag 1 = 3₁₀ = 11₂ → 1 schreiben und 1 übertragen.</a:t>
            </a:r>
          </a:p>
          <a:p>
            <a:r>
              <a:t>Der letzte Übertrag ergibt die führende 1.</a:t>
            </a:r>
          </a:p>
          <a:p>
            <a:r>
              <a:t>Ergebnis: 1111₂ = 15₁₀.</a:t>
            </a:r>
          </a:p>
          <a:p>
            <a:endParaRPr/>
          </a:p>
          <a:p>
            <a:r>
              <a:t>Allgemeine Regel:</a:t>
            </a:r>
          </a:p>
          <a:p>
            <a:r>
              <a:t>Wenn eine Spaltensumme nicht unmittelbar bekannt ist, zuerst die Dezimalsumme bilden. Dann mit einem bereits bekannten Umrechnungsverfahren in Binär umrechnen:</a:t>
            </a:r>
          </a:p>
          <a:p>
            <a:r>
              <a:t>A) Potenzmatrix: passende Zweierpotenzen markieren.</a:t>
            </a:r>
          </a:p>
          <a:p>
            <a:r>
              <a:t>B) Division durch 2: Reste notieren und unbedingt von unten nach oben lesen.</a:t>
            </a:r>
          </a:p>
          <a:p>
            <a:r>
              <a:t>Das rechte Bit der Binärdarstellung wird in der aktuellen Spalte geschrieben. Alle weiter links stehenden Bits bilden den Übertrag für die folgenden Stellen.</a:t>
            </a:r>
          </a:p>
          <a:p>
            <a:endParaRPr/>
          </a:p>
          <a:p>
            <a:r>
              <a:t>Hinweis: Bei sehr vielen Summanden kann der Übertrag selbst mehrstellig sein. Genau deshalb ist die allgemeine Umrechnungsregel hilfreicher als das Auswendiglernen einzelner Fälle.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Arbeitsphase. Lösungen nicht sofort zeigen.</a:t>
            </a:r>
          </a:p>
          <a:p>
            <a:endParaRPr/>
          </a:p>
          <a:p>
            <a:r>
              <a:t>a) 1010₂ + 0111₂ = 10001₂ (10 + 7 = 17).</a:t>
            </a:r>
          </a:p>
          <a:p>
            <a:r>
              <a:t>b) 101₂ + 110₂ + 011₂ = 1110₂ (5 + 6 + 3 = 14).</a:t>
            </a:r>
          </a:p>
          <a:p>
            <a:endParaRPr/>
          </a:p>
          <a:p>
            <a:r>
              <a:t>Die Lernenden sollen Überträge sichtbar oberhalb der Rechnung notieren.</a:t>
            </a:r>
          </a:p>
          <a:p>
            <a:endParaRPr/>
          </a:p>
          <a:p>
            <a:r>
              <a:t>Bei b) gezielt nachfragen:</a:t>
            </a:r>
          </a:p>
          <a:p>
            <a:r>
              <a:t>'Was ist 1+1+1?'</a:t>
            </a:r>
          </a:p>
          <a:p>
            <a:r>
              <a:t>Antwort: 3₁₀.</a:t>
            </a:r>
          </a:p>
          <a:p>
            <a:r>
              <a:t>'Wie schreiben wir 3 binär?'</a:t>
            </a:r>
          </a:p>
          <a:p>
            <a:r>
              <a:t>Potenzmatrix: 2+1 → 11₂.</a:t>
            </a:r>
          </a:p>
          <a:p>
            <a:r>
              <a:t>Oder Division: 3:2=1 Rest1; 1:2=0 Rest1; von unten nach oben → 11₂.</a:t>
            </a:r>
          </a:p>
          <a:p>
            <a:r>
              <a:t>Damit wird 1 geschrieben und 1 übertragen.</a:t>
            </a:r>
          </a:p>
          <a:p>
            <a:endParaRPr/>
          </a:p>
          <a:p>
            <a:r>
              <a:t>Nach jeder Aufgabe Dezimalprobe durchführen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Diese Folie als abschließendes Vorgehensschema sichern.</a:t>
            </a:r>
          </a:p>
          <a:p>
            <a:endParaRPr/>
          </a:p>
          <a:p>
            <a:r>
              <a:t>Der entscheidende Zusammenhang der gesamten Einheit:</a:t>
            </a:r>
          </a:p>
          <a:p>
            <a:r>
              <a:t>Die Binäraddition benötigt keine isolierten Sonderregeln. Sobald eine Spaltensumme größer als 1 ist, wird diese Zahl mit den bereits gelernten Verfahren als Binärzahl dargestellt.</a:t>
            </a:r>
          </a:p>
          <a:p>
            <a:endParaRPr/>
          </a:p>
          <a:p>
            <a:r>
              <a:t>Potenzverfahren:</a:t>
            </a:r>
          </a:p>
          <a:p>
            <a:r>
              <a:t>Zahl in Zweierpotenzen zerlegen.</a:t>
            </a:r>
          </a:p>
          <a:p>
            <a:endParaRPr/>
          </a:p>
          <a:p>
            <a:r>
              <a:t>Divisionsverfahren:</a:t>
            </a:r>
          </a:p>
          <a:p>
            <a:r>
              <a:t>wiederholt durch 2 teilen; Reste von UNTEN NACH OBEN lesen.</a:t>
            </a:r>
          </a:p>
          <a:p>
            <a:endParaRPr/>
          </a:p>
          <a:p>
            <a:r>
              <a:t>Danach:</a:t>
            </a:r>
          </a:p>
          <a:p>
            <a:r>
              <a:t>rechtes Bit = Ergebnis der aktuellen Spalte;</a:t>
            </a:r>
          </a:p>
          <a:p>
            <a:r>
              <a:t>alle weiter links stehenden Bits = Übertrag.</a:t>
            </a:r>
          </a:p>
          <a:p>
            <a:endParaRPr/>
          </a:p>
          <a:p>
            <a:r>
              <a:t>So können auch Additionen mit mehreren Summanden systematisch gelöst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0 und 1 – Binärzahlen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Wie Computer Zahlen mit zwei Zuständen darstellen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2788920"/>
            <a:ext cx="914400" cy="91440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69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278892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BD8"/>
                </a:solidFill>
                <a:latin typeface="Aptos"/>
              </a:rPr>
              <a:t>Unterrichtspräsentation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Warum reichen zwei Zustände aus, um viele verschiedene Informationen darzustellen?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Ein Bit – zwei Zustände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2716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5244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6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aus · nein · falsch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136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an · ja · wahr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Mehrere Bits – mehr Möglichkeiten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3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1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2 Möglichkeiten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244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2 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4 Möglichkeiten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136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3 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8 Möglichkeiten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55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0283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4 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16 Möglichkeiten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Könnten 13 und 1101 dieselbe Zahl bedeuten?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Die Potenzen von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Diese Werte bilden unsere Entscheidungsspalten.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0" y="1828800"/>
            <a:ext cx="1234440" cy="914400"/>
          </a:xfrm>
          <a:prstGeom prst="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0" y="1828800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2^0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221992"/>
            <a:ext cx="1234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069AA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33756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128   64   32   16   8   4   2   1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5196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3282D"/>
                </a:solidFill>
                <a:latin typeface="Aptos"/>
              </a:rPr>
              <a:t>Merke: Von rechts nach links verdoppelt sich der Stellenwert.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Dezimal → Binär: Entscheidungsmatrix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Beispiel: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30552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097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F6973"/>
                </a:solidFill>
                <a:latin typeface="Aptos"/>
              </a:rPr>
              <a:t>Dezimal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2^7
= 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2^6
= 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39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2^5
= 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39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2^4
=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59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3559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2^3
= 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59" y="2130552"/>
            <a:ext cx="1051560" cy="713232"/>
          </a:xfrm>
          <a:prstGeom prst="rect">
            <a:avLst/>
          </a:prstGeom>
          <a:solidFill>
            <a:srgbClr val="E7F4EC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2^2
=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130552"/>
            <a:ext cx="1051560" cy="713232"/>
          </a:xfrm>
          <a:prstGeom prst="rect">
            <a:avLst/>
          </a:prstGeom>
          <a:solidFill>
            <a:srgbClr val="E7F4EC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2^1
=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2^0
=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2130552"/>
            <a:ext cx="1051560" cy="713232"/>
          </a:xfrm>
          <a:prstGeom prst="rect">
            <a:avLst/>
          </a:prstGeom>
          <a:solidFill>
            <a:srgbClr val="E7F4EC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7824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15468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Frage von links nach rechts: Passt der Stellenwert noch in den Rest?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3886200"/>
            <a:ext cx="2514600" cy="1097280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" y="3913632"/>
            <a:ext cx="23682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8 passt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4297680"/>
            <a:ext cx="2368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13 − 8 = 5 →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3886200"/>
            <a:ext cx="2514600" cy="1097280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39312" y="3913632"/>
            <a:ext cx="23682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4 passt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2" y="4297680"/>
            <a:ext cx="2368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5 − 4 = 1 →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79" y="3886200"/>
            <a:ext cx="2514600" cy="1097280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28231" y="3913632"/>
            <a:ext cx="23682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2 passt nicht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1" y="4297680"/>
            <a:ext cx="2368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→ 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3999" y="3886200"/>
            <a:ext cx="2514600" cy="1097280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17151" y="3913632"/>
            <a:ext cx="236829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1 passt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1" y="4297680"/>
            <a:ext cx="2368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1 − 1 = 0 →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5303520"/>
            <a:ext cx="6309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13₁₀ = 00001101₂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Jetzt ihr: Dezimal → Binär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Tragt für 22 die Entscheidungen ein.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21991"/>
            <a:ext cx="914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1097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F6973"/>
                </a:solidFill>
                <a:latin typeface="Aptos"/>
              </a:rPr>
              <a:t>Dezimal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2^7
= 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2^6
= 64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39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2^5
= 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39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39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2^4
=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59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23559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2^3
= 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23559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3559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2^2
=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2^1
=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6679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150876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150876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2^0
=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2221991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778240" y="2221991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337560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C2D44"/>
                </a:solidFill>
                <a:latin typeface="Aptos"/>
              </a:rPr>
              <a:t>Welche Spalten bekommen eine 1? Welche eine 0?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3282D"/>
                </a:solidFill>
                <a:latin typeface="Aptos"/>
              </a:rPr>
              <a:t>Kontrolle: Addiert am Ende alle Stellenwerte, unter denen eine 1 steht.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Binär → Dezimal: dieselbe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Beispiel: 10110₂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417320"/>
            <a:ext cx="1097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F6973"/>
                </a:solidFill>
                <a:latin typeface="Aptos"/>
              </a:rPr>
              <a:t>Binär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2^7
= 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2^6
= 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39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2^5
= 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39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39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2^4
= 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130552"/>
            <a:ext cx="1051560" cy="713232"/>
          </a:xfrm>
          <a:prstGeom prst="rect">
            <a:avLst/>
          </a:prstGeom>
          <a:solidFill>
            <a:srgbClr val="E7F4EC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59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23559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2^3
= 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59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59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2^2
= 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130552"/>
            <a:ext cx="1051560" cy="713232"/>
          </a:xfrm>
          <a:prstGeom prst="rect">
            <a:avLst/>
          </a:prstGeom>
          <a:solidFill>
            <a:srgbClr val="E7F4EC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6679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2^1
=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2130552"/>
            <a:ext cx="1051560" cy="713232"/>
          </a:xfrm>
          <a:prstGeom prst="rect">
            <a:avLst/>
          </a:prstGeom>
          <a:solidFill>
            <a:srgbClr val="E7F4EC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79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1417320"/>
            <a:ext cx="1051560" cy="713232"/>
          </a:xfrm>
          <a:prstGeom prst="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78240" y="1417320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2D44"/>
                </a:solidFill>
                <a:latin typeface="Aptos"/>
              </a:rPr>
              <a:t>2^0
=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2130552"/>
            <a:ext cx="105156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78240" y="2130552"/>
            <a:ext cx="1051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5F6973"/>
                </a:solidFill>
                <a:latin typeface="Aptos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06324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C2D44"/>
                </a:solidFill>
                <a:latin typeface="Aptos"/>
              </a:rPr>
              <a:t>Nur die Stellenwerte mit einer 1 werden addiert: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84048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3069AA"/>
                </a:solidFill>
                <a:latin typeface="Aptos"/>
              </a:rPr>
              <a:t>16 + 4 + 2 =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7091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10110₂ = 22₁₀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Zweites Verfahren: Division durch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16735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08175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13 : 2 → Rest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31335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22775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6 : 2 → Rest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5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3 : 2 → Rest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0536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51976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1 : 2 → Rest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5" y="27432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3016" y="27432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7432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Division durch 2: Die Leserichtung ist umgekehrt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Die Reste entstehen von oben nach unten – gelesen werden sie von unten nach oben.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417320"/>
            <a:ext cx="3749039" cy="56692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C2D44"/>
                </a:solidFill>
                <a:latin typeface="Aptos"/>
              </a:rPr>
              <a:t>13 : 2 =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417320"/>
            <a:ext cx="1828800" cy="566928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417320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Rest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94560"/>
            <a:ext cx="3749039" cy="56692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219456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C2D44"/>
                </a:solidFill>
                <a:latin typeface="Aptos"/>
              </a:rPr>
              <a:t>6 : 2 =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194560"/>
            <a:ext cx="1828800" cy="566928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52160" y="2194560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Rest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971800"/>
            <a:ext cx="3749039" cy="56692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2971800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C2D44"/>
                </a:solidFill>
                <a:latin typeface="Aptos"/>
              </a:rPr>
              <a:t>3 : 2 =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971800"/>
            <a:ext cx="1828800" cy="566928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2971800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Rest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749039"/>
            <a:ext cx="3749039" cy="566928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65960" y="3749039"/>
            <a:ext cx="3474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C2D44"/>
                </a:solidFill>
                <a:latin typeface="Aptos"/>
              </a:rPr>
              <a:t>1 : 2 =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749039"/>
            <a:ext cx="1828800" cy="566928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0" y="3749039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Rest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417320"/>
            <a:ext cx="2468880" cy="2880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B94945"/>
                </a:solidFill>
                <a:latin typeface="Aptos"/>
              </a:rPr>
              <a:t>↑
LESERICHTUNG
↑
unten beginnen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80060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Reste von unten nach oben: 1 1 0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48640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069AA"/>
                </a:solidFill>
                <a:latin typeface="Aptos"/>
              </a:rPr>
              <a:t>13₁₀ = 1101₂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Wie addiert man 0 und 1, wenn das Ergebnis größer als 1 wird?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Vier Regeln der Binäraddition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3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0 + 0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244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0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136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1 + 0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55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0283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1 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10 → 0, Übertrag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Beispiel: 1011₂ + 0110₂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16735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08175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rechts beginnen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31335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22775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Überträge beachten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5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10001₂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0536" y="242316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51976" y="2423160"/>
            <a:ext cx="1828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2D44"/>
                </a:solidFill>
                <a:latin typeface="Aptos"/>
              </a:rPr>
              <a:t>Kontrolle: 11 + 6 =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5" y="27432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3016" y="27432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7432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Frage an euch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Welche größte Zahl kann man mit 8 Bit darstellen?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Typische Fehler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3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Stellenwerte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immer von rechts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271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5244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2⁰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987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ist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1364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Division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Reste unten → oben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555" y="1508760"/>
            <a:ext cx="2514600" cy="17830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0283" y="1673351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Addition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5" y="2148839"/>
            <a:ext cx="2240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Übertrag nicht vergessen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C2D44"/>
                </a:solidFill>
                <a:latin typeface="Aptos"/>
              </a:rPr>
              <a:t>Sicherung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875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6446520"/>
            <a:ext cx="777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960120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C2D44"/>
                </a:solidFill>
                <a:latin typeface="Aptos"/>
              </a:rPr>
              <a:t>Binärzahlen sind ein Stellenwertsystem zur Basis 2. Jede Stelle hat einen Zweierpotenz-Wert. Binärzahlen können umgerechnet und wie andere Zahlen addiert werden.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5F6973"/>
                </a:solidFill>
                <a:latin typeface="Aptos"/>
              </a:rPr>
              <a:t>Nächste Frage: Wie wird aus einer Zahl ein Buchstabe?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Schriftliche Binäraddition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Gleiche Idee wie bei der Dezimaladdition – aber jede Spalte ist binär.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011680" cy="1143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0 + 0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1508760"/>
            <a:ext cx="2011680" cy="1143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664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0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0312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=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1224" y="1508760"/>
            <a:ext cx="2011680" cy="1143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12664" y="1664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1 + 0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210312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1508760"/>
            <a:ext cx="2011680" cy="1143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0375" y="1664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1 + 1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5" y="210312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= 10₂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6648" y="1508760"/>
            <a:ext cx="2011680" cy="11430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48088" y="1664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2D44"/>
                </a:solidFill>
                <a:latin typeface="Aptos"/>
              </a:rPr>
              <a:t>1 + 1 + 1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8088" y="210312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= 11₂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Bei 10₂: 0 schreiben, 1 übertragen.   Bei 11₂: 1 schreiben, 1 übertragen.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9875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069AA"/>
                </a:solidFill>
                <a:latin typeface="Aptos"/>
              </a:rPr>
              <a:t>Wenn eine Spaltensumme unklar ist: Dezimalsumme → Potenzmatrix oder ÷2 → binär.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Beispiel: 1011₂ + 0110₂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Wir rechnen von rechts nach links – Spalte für Spalte.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038" y="2770409"/>
            <a:ext cx="329184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dirty="0" err="1">
                <a:solidFill>
                  <a:srgbClr val="B94945"/>
                </a:solidFill>
                <a:latin typeface="Aptos"/>
              </a:rPr>
              <a:t>Überträge</a:t>
            </a:r>
            <a:r>
              <a:rPr sz="1900" b="1" dirty="0">
                <a:solidFill>
                  <a:srgbClr val="B94945"/>
                </a:solidFill>
                <a:latin typeface="Aptos"/>
              </a:rPr>
              <a:t>:   1</a:t>
            </a:r>
            <a:r>
              <a:rPr lang="de-DE" sz="1900" b="1" dirty="0">
                <a:solidFill>
                  <a:srgbClr val="B94945"/>
                </a:solidFill>
                <a:latin typeface="Aptos"/>
              </a:rPr>
              <a:t> </a:t>
            </a:r>
            <a:r>
              <a:rPr sz="1900" b="1" dirty="0">
                <a:solidFill>
                  <a:srgbClr val="B94945"/>
                </a:solidFill>
                <a:latin typeface="Aptos"/>
              </a:rPr>
              <a:t> </a:t>
            </a:r>
            <a:r>
              <a:rPr lang="de-DE" sz="1900" b="1" dirty="0">
                <a:solidFill>
                  <a:srgbClr val="B94945"/>
                </a:solidFill>
                <a:latin typeface="Aptos"/>
              </a:rPr>
              <a:t> </a:t>
            </a:r>
            <a:r>
              <a:rPr sz="1900" b="1" dirty="0">
                <a:solidFill>
                  <a:srgbClr val="B94945"/>
                </a:solidFill>
                <a:latin typeface="Aptos"/>
              </a:rPr>
              <a:t> 1 </a:t>
            </a:r>
            <a:r>
              <a:rPr lang="de-DE" sz="1900" b="1" dirty="0">
                <a:solidFill>
                  <a:srgbClr val="B94945"/>
                </a:solidFill>
                <a:latin typeface="Aptos"/>
              </a:rPr>
              <a:t>  </a:t>
            </a:r>
            <a:r>
              <a:rPr sz="1900" b="1" dirty="0">
                <a:solidFill>
                  <a:srgbClr val="B94945"/>
                </a:solidFill>
                <a:latin typeface="Aptos"/>
              </a:rPr>
              <a:t>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19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             1  0  1  1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3291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C2D44"/>
                </a:solidFill>
                <a:latin typeface="Aptos"/>
              </a:rPr>
              <a:t>          +  0  1  1 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92960"/>
            <a:ext cx="329184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5F6973"/>
                </a:solidFill>
                <a:latin typeface="Aptos"/>
              </a:rPr>
              <a:t>────────────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21560"/>
            <a:ext cx="3291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dirty="0">
                <a:solidFill>
                  <a:srgbClr val="3E8A68"/>
                </a:solidFill>
                <a:latin typeface="Aptos"/>
              </a:rPr>
              <a:t>          1  0  0  0  1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325880"/>
            <a:ext cx="6035040" cy="685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1325880"/>
            <a:ext cx="1143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069AA"/>
                </a:solidFill>
                <a:latin typeface="Aptos"/>
              </a:rPr>
              <a:t>1. rechts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325880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282D"/>
                </a:solidFill>
                <a:latin typeface="Aptos"/>
              </a:rPr>
              <a:t>1 + 0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325880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E8A68"/>
                </a:solidFill>
                <a:latin typeface="Aptos"/>
              </a:rPr>
              <a:t>1 schreiben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167128"/>
            <a:ext cx="6035040" cy="685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167128"/>
            <a:ext cx="1143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069AA"/>
                </a:solidFill>
                <a:latin typeface="Aptos"/>
              </a:rPr>
              <a:t>2. Spalte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67128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282D"/>
                </a:solidFill>
                <a:latin typeface="Aptos"/>
              </a:rPr>
              <a:t>1 + 1 = 10₂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67128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E8A68"/>
                </a:solidFill>
                <a:latin typeface="Aptos"/>
              </a:rPr>
              <a:t>0 schreiben, 1 übertragen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008376"/>
            <a:ext cx="6035040" cy="685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008376"/>
            <a:ext cx="1143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069AA"/>
                </a:solidFill>
                <a:latin typeface="Aptos"/>
              </a:rPr>
              <a:t>3. Spalte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008376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282D"/>
                </a:solidFill>
                <a:latin typeface="Aptos"/>
              </a:rPr>
              <a:t>0 + 1 + 1 = 10₂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08376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E8A68"/>
                </a:solidFill>
                <a:latin typeface="Aptos"/>
              </a:rPr>
              <a:t>0 schreiben, 1 übertragen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849624"/>
            <a:ext cx="6035040" cy="685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0" y="3849624"/>
            <a:ext cx="1143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069AA"/>
                </a:solidFill>
                <a:latin typeface="Aptos"/>
              </a:rPr>
              <a:t>4. Spalte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849624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282D"/>
                </a:solidFill>
                <a:latin typeface="Aptos"/>
              </a:rPr>
              <a:t>1 + 0 + 1 = 10₂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49624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E8A68"/>
                </a:solidFill>
                <a:latin typeface="Aptos"/>
              </a:rPr>
              <a:t>0 schreiben, 1 übertragen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4690872"/>
            <a:ext cx="6035040" cy="685800"/>
          </a:xfrm>
          <a:prstGeom prst="roundRect">
            <a:avLst/>
          </a:prstGeom>
          <a:solidFill>
            <a:srgbClr val="F2F6FA"/>
          </a:solidFill>
          <a:ln w="1524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4690872"/>
            <a:ext cx="1143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3069AA"/>
                </a:solidFill>
                <a:latin typeface="Aptos"/>
              </a:rPr>
              <a:t>5. vorne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690872"/>
            <a:ext cx="2423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3282D"/>
                </a:solidFill>
                <a:latin typeface="Aptos"/>
              </a:rPr>
              <a:t>letzter Übertrag =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690872"/>
            <a:ext cx="2194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E8A68"/>
                </a:solidFill>
                <a:latin typeface="Aptos"/>
              </a:rPr>
              <a:t>1 hinschreiben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F6973"/>
                </a:solidFill>
                <a:latin typeface="Aptos"/>
              </a:rPr>
              <a:t>Probe: 11 + 6 = 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77840"/>
            <a:ext cx="3566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10001₂ = 17₁₀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Mehrere Binärzahlen addieren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Jetzt können in einer Spalte mehr als zwei Einsen zusammenkommen.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Beispiel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      1 0 1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      0 1 1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840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C2D44"/>
                </a:solidFill>
                <a:latin typeface="Aptos"/>
              </a:rPr>
              <a:t>   +  1 1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840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5F6973"/>
                </a:solidFill>
                <a:latin typeface="Aptos"/>
              </a:rPr>
              <a:t>──────────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3E8A68"/>
                </a:solidFill>
                <a:latin typeface="Aptos"/>
              </a:rPr>
              <a:t>    1 1 1 1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417320"/>
            <a:ext cx="5943600" cy="1097280"/>
          </a:xfrm>
          <a:prstGeom prst="roundRect">
            <a:avLst/>
          </a:prstGeom>
          <a:solidFill>
            <a:srgbClr val="E7F4EC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572768"/>
            <a:ext cx="5577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Rechte Spalte: 1 + 1 + 1 = 3₁₀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65960"/>
            <a:ext cx="5577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3₁₀ = 11₂ → 1 schreiben, 1 übertragen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834640"/>
            <a:ext cx="594360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2999232"/>
            <a:ext cx="5577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069AA"/>
                </a:solidFill>
                <a:latin typeface="Aptos"/>
              </a:rPr>
              <a:t>Falls die Spaltensumme größer wird: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429000"/>
            <a:ext cx="5577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23282D"/>
                </a:solidFill>
                <a:latin typeface="Aptos"/>
              </a:rPr>
              <a:t>Dezimalsumme bilden → in Binär umrechnen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434840"/>
            <a:ext cx="5943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C2D44"/>
                </a:solidFill>
                <a:latin typeface="Aptos"/>
              </a:rPr>
              <a:t>Potenzmatrix ODER Division durch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F6973"/>
                </a:solidFill>
                <a:latin typeface="Aptos"/>
              </a:rPr>
              <a:t>Probe:
5 + 3 + 7 = 15
1111₂ =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Übung: schriftlich addieren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F6973"/>
                </a:solidFill>
                <a:latin typeface="Aptos"/>
              </a:rPr>
              <a:t>Notiert die Überträge sichtbar über der Rechnung.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C2D44"/>
                </a:solidFill>
                <a:latin typeface="Aptos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65960"/>
            <a:ext cx="301752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23282D"/>
                </a:solidFill>
                <a:latin typeface="Aptos"/>
              </a:rPr>
              <a:t>   1 0 1 0
+  0 1 1 1
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C2D44"/>
                </a:solidFill>
                <a:latin typeface="Aptos"/>
              </a:rPr>
              <a:t>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19"/>
            <a:ext cx="329184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23282D"/>
                </a:solidFill>
                <a:latin typeface="Aptos"/>
              </a:rPr>
              <a:t>   1 0 1
   1 1 0
+  0 1 1
────────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Bei Unsicherheit: Spaltensumme → Potenzmatrix oder ÷2 → Binärzahl → Übertrag.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Merkschema für jede Binäraddition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601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5F6973"/>
                </a:solidFill>
                <a:latin typeface="Aptos"/>
              </a:rPr>
              <a:t>Informatik · Klasse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234440"/>
            <a:ext cx="594360" cy="530352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594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34440"/>
            <a:ext cx="9052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D"/>
                </a:solidFill>
                <a:latin typeface="Aptos"/>
              </a:rPr>
              <a:t>Spalte von rechts nach links addieren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984248"/>
            <a:ext cx="594360" cy="530352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84248"/>
            <a:ext cx="594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84248"/>
            <a:ext cx="9052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D"/>
                </a:solidFill>
                <a:latin typeface="Aptos"/>
              </a:rPr>
              <a:t>Spaltensumme bestimmen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734056"/>
            <a:ext cx="594360" cy="530352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734056"/>
            <a:ext cx="594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34056"/>
            <a:ext cx="9052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D"/>
                </a:solidFill>
                <a:latin typeface="Aptos"/>
              </a:rPr>
              <a:t>Falls nötig: mit Potenzen oder ÷2 binär darstellen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483864"/>
            <a:ext cx="594360" cy="530352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483864"/>
            <a:ext cx="594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83864"/>
            <a:ext cx="9052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D"/>
                </a:solidFill>
                <a:latin typeface="Aptos"/>
              </a:rPr>
              <a:t>rechtes Bit schreiben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33672"/>
            <a:ext cx="594360" cy="530352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233672"/>
            <a:ext cx="594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233672"/>
            <a:ext cx="9052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D"/>
                </a:solidFill>
                <a:latin typeface="Aptos"/>
              </a:rPr>
              <a:t>übrige Bits als Übertrag weitergeben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983479"/>
            <a:ext cx="594360" cy="530352"/>
          </a:xfrm>
          <a:prstGeom prst="roundRect">
            <a:avLst/>
          </a:prstGeom>
          <a:solidFill>
            <a:srgbClr val="E7F4EC"/>
          </a:solidFill>
          <a:ln w="1524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83479"/>
            <a:ext cx="594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E8A68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983479"/>
            <a:ext cx="9052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3282D"/>
                </a:solidFill>
                <a:latin typeface="Aptos"/>
              </a:rPr>
              <a:t>am Ende mit Dezimalwerten prüfen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2514</Words>
  <Application>Microsoft Macintosh PowerPoint</Application>
  <PresentationFormat>Breitbild</PresentationFormat>
  <Paragraphs>429</Paragraphs>
  <Slides>22</Slides>
  <Notes>22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Holger Graube</cp:lastModifiedBy>
  <cp:revision>2</cp:revision>
  <dcterms:created xsi:type="dcterms:W3CDTF">2013-01-27T09:14:16Z</dcterms:created>
  <dcterms:modified xsi:type="dcterms:W3CDTF">2026-08-14T12:09:46Z</dcterms:modified>
  <cp:category/>
</cp:coreProperties>
</file>