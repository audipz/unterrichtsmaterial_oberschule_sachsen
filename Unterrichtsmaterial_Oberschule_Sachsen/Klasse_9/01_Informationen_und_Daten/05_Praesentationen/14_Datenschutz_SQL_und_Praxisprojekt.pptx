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Leitidee: Datenschutz, SQL und Praxisprojekt. Einstieg offen halten und Schülerbeispiele sammeln.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Antworten zunächst sammeln, noch nicht bewerten.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SQLite hat dynamische Typisierung; Constraints fachlich sauber, aber altersgerecht erklären.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Vor schreibenden Befehlen mit Kopien der Übungsdatenbank arbeiten. SELECT zuerst, dann INSERT/UPDATE/DELETE.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Antworten zunächst sammeln, noch nicht bewerten.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2B4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658368"/>
            <a:ext cx="5029200" cy="41148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sz="1600" b="1">
                <a:solidFill>
                  <a:srgbClr val="A5CDE6"/>
                </a:solidFill>
                <a:latin typeface="Aptos"/>
              </a:rPr>
              <a:t>INFORMATIK · KLASSE 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828800"/>
            <a:ext cx="10515600" cy="137160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Aptos"/>
              </a:rPr>
              <a:t>Datenschutz, SQL und Praxisprojekt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3657600"/>
            <a:ext cx="6400800" cy="50292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sz="2000" b="0">
                <a:solidFill>
                  <a:srgbClr val="D2E1EB"/>
                </a:solidFill>
                <a:latin typeface="Aptos"/>
              </a:rPr>
              <a:t>Informationen und Daten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92B41"/>
          </a:solidFill>
          <a:ln>
            <a:solidFill>
              <a:srgbClr val="192B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55448"/>
            <a:ext cx="10789920" cy="438912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Aptos"/>
              </a:rPr>
              <a:t>Schülerfestival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508760"/>
            <a:ext cx="10561320" cy="2971800"/>
          </a:xfrm>
          <a:prstGeom prst="roundRect">
            <a:avLst/>
          </a:prstGeom>
          <a:solidFill>
            <a:srgbClr val="FFFFFF"/>
          </a:solidFill>
          <a:ln>
            <a:solidFill>
              <a:srgbClr val="2669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1965960"/>
            <a:ext cx="9921240" cy="150876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  <a:r>
              <a:rPr sz="3000" b="1">
                <a:solidFill>
                  <a:srgbClr val="192B41"/>
                </a:solidFill>
                <a:latin typeface="Aptos"/>
              </a:rPr>
              <a:t>Welche Daten brauchen wir wirklich, um ein Schülerfestival zu planen?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4892040"/>
            <a:ext cx="9235440" cy="54864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  <a:r>
              <a:rPr sz="1800" b="0">
                <a:solidFill>
                  <a:srgbClr val="5F6973"/>
                </a:solidFill>
                <a:latin typeface="Aptos"/>
              </a:rPr>
              <a:t>Streicht gedanklich alles, was für den Zweck unnötig ist.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92B41"/>
          </a:solidFill>
          <a:ln>
            <a:solidFill>
              <a:srgbClr val="192B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55448"/>
            <a:ext cx="10789920" cy="438912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Aptos"/>
              </a:rPr>
              <a:t>Datenschutz praktisch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325880"/>
            <a:ext cx="521208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2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50392" y="1472184"/>
            <a:ext cx="4882896" cy="384048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sz="2000" b="1">
                <a:solidFill>
                  <a:srgbClr val="26699B"/>
                </a:solidFill>
                <a:latin typeface="Aptos"/>
              </a:rPr>
              <a:t>Datenminimierung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0392" y="1892807"/>
            <a:ext cx="4882896" cy="114300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sz="1500" b="0">
                <a:solidFill>
                  <a:srgbClr val="1E242A"/>
                </a:solidFill>
                <a:latin typeface="Aptos"/>
              </a:rPr>
              <a:t>nur notwendige personenbezogene Daten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325880"/>
            <a:ext cx="521208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2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73952" y="1472184"/>
            <a:ext cx="4882896" cy="384048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sz="2000" b="1">
                <a:solidFill>
                  <a:srgbClr val="26699B"/>
                </a:solidFill>
                <a:latin typeface="Aptos"/>
              </a:rPr>
              <a:t>Zweckbindung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73952" y="1892807"/>
            <a:ext cx="4882896" cy="114300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sz="1500" b="0">
                <a:solidFill>
                  <a:srgbClr val="1E242A"/>
                </a:solidFill>
                <a:latin typeface="Aptos"/>
              </a:rPr>
              <a:t>Daten für den vorgesehenen Zweck verwenden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3474720"/>
            <a:ext cx="521208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2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0392" y="3621024"/>
            <a:ext cx="4882896" cy="384048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sz="2000" b="1">
                <a:solidFill>
                  <a:srgbClr val="26699B"/>
                </a:solidFill>
                <a:latin typeface="Aptos"/>
              </a:rPr>
              <a:t>Zugriffsrechte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" y="4041648"/>
            <a:ext cx="4882896" cy="114300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sz="1500" b="0">
                <a:solidFill>
                  <a:srgbClr val="1E242A"/>
                </a:solidFill>
                <a:latin typeface="Aptos"/>
              </a:rPr>
              <a:t>nicht jeder darf alles sehen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3474720"/>
            <a:ext cx="521208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2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73952" y="3621024"/>
            <a:ext cx="4882896" cy="384048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sz="2000" b="1">
                <a:solidFill>
                  <a:srgbClr val="26699B"/>
                </a:solidFill>
                <a:latin typeface="Aptos"/>
              </a:rPr>
              <a:t>Fiktive Übungsdaten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73952" y="4041648"/>
            <a:ext cx="4882896" cy="114300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sz="1500" b="0">
                <a:solidFill>
                  <a:srgbClr val="1E242A"/>
                </a:solidFill>
                <a:latin typeface="Aptos"/>
              </a:rPr>
              <a:t>für SQL-Aufgaben keine echten Schülerdaten verwenden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92B41"/>
          </a:solidFill>
          <a:ln>
            <a:solidFill>
              <a:srgbClr val="192B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55448"/>
            <a:ext cx="10789920" cy="438912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Aptos"/>
              </a:rPr>
              <a:t>Tabelle anlegen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280160"/>
            <a:ext cx="6492240" cy="4343400"/>
          </a:xfrm>
          <a:prstGeom prst="roundRect">
            <a:avLst/>
          </a:prstGeom>
          <a:solidFill>
            <a:srgbClr val="222830"/>
          </a:solidFill>
          <a:ln>
            <a:solidFill>
              <a:srgbClr val="2228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00200"/>
            <a:ext cx="5943600" cy="365760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  <a:latin typeface="Consolas"/>
              </a:rPr>
              <a:t>CREATE TABLE AG (</a:t>
            </a:r>
            <a:br/>
            <a:r>
              <a:t>  AGID INTEGER PRIMARY KEY,</a:t>
            </a:r>
            <a:br/>
            <a:r>
              <a:t>  Name TEXT NOT NULL</a:t>
            </a:r>
            <a:br/>
            <a:r>
              <a:t>);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52360" y="1280160"/>
            <a:ext cx="4069080" cy="4343400"/>
          </a:xfrm>
          <a:prstGeom prst="roundRect">
            <a:avLst/>
          </a:prstGeom>
          <a:solidFill>
            <a:srgbClr val="FFFFFF"/>
          </a:solidFill>
          <a:ln>
            <a:solidFill>
              <a:srgbClr val="D2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26679" y="1554480"/>
            <a:ext cx="3474720" cy="45720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sz="2200" b="1">
                <a:solidFill>
                  <a:srgbClr val="26699B"/>
                </a:solidFill>
                <a:latin typeface="Aptos"/>
              </a:rPr>
              <a:t>Was passiert?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26679" y="2148840"/>
            <a:ext cx="3429000" cy="306324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sz="1800" b="0">
                <a:solidFill>
                  <a:srgbClr val="1E242A"/>
                </a:solidFill>
                <a:latin typeface="Aptos"/>
              </a:rPr>
              <a:t>CREATE TABLE legt die Struktur an. PRIMARY KEY erzwingt Eindeutigkeit des Schlüssels; NOT NULL verhindert fehlende Werte in Name.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92B41"/>
          </a:solidFill>
          <a:ln>
            <a:solidFill>
              <a:srgbClr val="192B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55448"/>
            <a:ext cx="10789920" cy="438912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Aptos"/>
              </a:rPr>
              <a:t>CRUD: Create + Read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280160"/>
            <a:ext cx="6492240" cy="4343400"/>
          </a:xfrm>
          <a:prstGeom prst="roundRect">
            <a:avLst/>
          </a:prstGeom>
          <a:solidFill>
            <a:srgbClr val="222830"/>
          </a:solidFill>
          <a:ln>
            <a:solidFill>
              <a:srgbClr val="2228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00200"/>
            <a:ext cx="5943600" cy="365760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  <a:latin typeface="Consolas"/>
              </a:rPr>
              <a:t>INSERT INTO AG (AGID, Name)</a:t>
            </a:r>
            <a:br/>
            <a:r>
              <a:t>VALUES (1, 'Robotik');</a:t>
            </a:r>
            <a:br/>
            <a:br/>
            <a:r>
              <a:t>SELECT * FROM AG;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52360" y="1280160"/>
            <a:ext cx="4069080" cy="4343400"/>
          </a:xfrm>
          <a:prstGeom prst="roundRect">
            <a:avLst/>
          </a:prstGeom>
          <a:solidFill>
            <a:srgbClr val="FFFFFF"/>
          </a:solidFill>
          <a:ln>
            <a:solidFill>
              <a:srgbClr val="D2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26679" y="1554480"/>
            <a:ext cx="3474720" cy="45720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sz="2200" b="1">
                <a:solidFill>
                  <a:srgbClr val="26699B"/>
                </a:solidFill>
                <a:latin typeface="Aptos"/>
              </a:rPr>
              <a:t>Was passiert?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26679" y="2148840"/>
            <a:ext cx="3429000" cy="306324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sz="1800" b="0">
                <a:solidFill>
                  <a:srgbClr val="1E242A"/>
                </a:solidFill>
                <a:latin typeface="Aptos"/>
              </a:rPr>
              <a:t>INSERT verändert den Datenbestand. SELECT liest Daten, ohne sie zu verändern.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92B41"/>
          </a:solidFill>
          <a:ln>
            <a:solidFill>
              <a:srgbClr val="192B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55448"/>
            <a:ext cx="10789920" cy="438912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Aptos"/>
              </a:rPr>
              <a:t>CRUD: Update + Delete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280160"/>
            <a:ext cx="6492240" cy="4343400"/>
          </a:xfrm>
          <a:prstGeom prst="roundRect">
            <a:avLst/>
          </a:prstGeom>
          <a:solidFill>
            <a:srgbClr val="222830"/>
          </a:solidFill>
          <a:ln>
            <a:solidFill>
              <a:srgbClr val="2228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00200"/>
            <a:ext cx="5943600" cy="365760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  <a:latin typeface="Consolas"/>
              </a:rPr>
              <a:t>UPDATE AG</a:t>
            </a:r>
            <a:br/>
            <a:r>
              <a:t>SET Name = 'Robotik &amp; Technik'</a:t>
            </a:r>
            <a:br/>
            <a:r>
              <a:t>WHERE AGID = 1;</a:t>
            </a:r>
            <a:br/>
            <a:br/>
            <a:r>
              <a:t>DELETE FROM AG</a:t>
            </a:r>
            <a:br/>
            <a:r>
              <a:t>WHERE AGID = 1;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52360" y="1280160"/>
            <a:ext cx="4069080" cy="4343400"/>
          </a:xfrm>
          <a:prstGeom prst="roundRect">
            <a:avLst/>
          </a:prstGeom>
          <a:solidFill>
            <a:srgbClr val="FFFFFF"/>
          </a:solidFill>
          <a:ln>
            <a:solidFill>
              <a:srgbClr val="D2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26679" y="1554480"/>
            <a:ext cx="3474720" cy="45720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sz="2200" b="1">
                <a:solidFill>
                  <a:srgbClr val="26699B"/>
                </a:solidFill>
                <a:latin typeface="Aptos"/>
              </a:rPr>
              <a:t>Was passiert?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26679" y="2148840"/>
            <a:ext cx="3429000" cy="306324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sz="1800" b="0">
                <a:solidFill>
                  <a:srgbClr val="1E242A"/>
                </a:solidFill>
                <a:latin typeface="Aptos"/>
              </a:rPr>
              <a:t>UPDATE und DELETE verändern Daten. WHERE ist entscheidend: ohne Einschränkung können viele Zeilen betroffen sein.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92B41"/>
          </a:solidFill>
          <a:ln>
            <a:solidFill>
              <a:srgbClr val="192B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55448"/>
            <a:ext cx="10789920" cy="438912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Aptos"/>
              </a:rPr>
              <a:t>Praxisauftrag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2400">
                <a:solidFill>
                  <a:srgbClr val="1E242A"/>
                </a:solidFill>
                <a:latin typeface="Aptos"/>
              </a:defRPr>
            </a:pPr>
            <a:r>
              <a:t>Datenbankkopie öffnen.</a:t>
            </a:r>
          </a:p>
          <a:p>
            <a:pPr>
              <a:spcAft>
                <a:spcPts val="1100"/>
              </a:spcAft>
              <a:defRPr sz="2400">
                <a:solidFill>
                  <a:srgbClr val="1E242A"/>
                </a:solidFill>
                <a:latin typeface="Aptos"/>
              </a:defRPr>
            </a:pPr>
            <a:r>
              <a:t>Tabellen und Schlüssel prüfen.</a:t>
            </a:r>
          </a:p>
          <a:p>
            <a:pPr>
              <a:spcAft>
                <a:spcPts val="1100"/>
              </a:spcAft>
              <a:defRPr sz="2400">
                <a:solidFill>
                  <a:srgbClr val="1E242A"/>
                </a:solidFill>
                <a:latin typeface="Aptos"/>
              </a:defRPr>
            </a:pPr>
            <a:r>
              <a:t>Mindestens drei SELECT-Abfragen formulieren.</a:t>
            </a:r>
          </a:p>
          <a:p>
            <a:pPr>
              <a:spcAft>
                <a:spcPts val="1100"/>
              </a:spcAft>
              <a:defRPr sz="2400">
                <a:solidFill>
                  <a:srgbClr val="1E242A"/>
                </a:solidFill>
                <a:latin typeface="Aptos"/>
              </a:defRPr>
            </a:pPr>
            <a:r>
              <a:t>Eine neue Zeile anlegen und kontrollieren.</a:t>
            </a:r>
          </a:p>
          <a:p>
            <a:pPr>
              <a:spcAft>
                <a:spcPts val="1100"/>
              </a:spcAft>
              <a:defRPr sz="2400">
                <a:solidFill>
                  <a:srgbClr val="1E242A"/>
                </a:solidFill>
                <a:latin typeface="Aptos"/>
              </a:defRPr>
            </a:pPr>
            <a:r>
              <a:t>Eine Änderung gezielt durchführen.</a:t>
            </a:r>
          </a:p>
          <a:p>
            <a:pPr>
              <a:spcAft>
                <a:spcPts val="1100"/>
              </a:spcAft>
              <a:defRPr sz="2400">
                <a:solidFill>
                  <a:srgbClr val="1E242A"/>
                </a:solidFill>
                <a:latin typeface="Aptos"/>
              </a:defRPr>
            </a:pPr>
            <a:r>
              <a:t>Ergebnis und SQL-Befehle dokumentieren.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92B41"/>
          </a:solidFill>
          <a:ln>
            <a:solidFill>
              <a:srgbClr val="192B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55448"/>
            <a:ext cx="10789920" cy="438912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Aptos"/>
              </a:rPr>
              <a:t>Abschluss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508760"/>
            <a:ext cx="10561320" cy="2971800"/>
          </a:xfrm>
          <a:prstGeom prst="roundRect">
            <a:avLst/>
          </a:prstGeom>
          <a:solidFill>
            <a:srgbClr val="FFFFFF"/>
          </a:solidFill>
          <a:ln>
            <a:solidFill>
              <a:srgbClr val="2669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1965960"/>
            <a:ext cx="9921240" cy="150876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  <a:r>
              <a:rPr sz="3000" b="1">
                <a:solidFill>
                  <a:srgbClr val="192B41"/>
                </a:solidFill>
                <a:latin typeface="Aptos"/>
              </a:rPr>
              <a:t>Was schützt eine Datenbankregel – und was kann sie nicht prüfen?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4892040"/>
            <a:ext cx="9235440" cy="54864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  <a:r>
              <a:rPr sz="1800" b="0">
                <a:solidFill>
                  <a:srgbClr val="5F6973"/>
                </a:solidFill>
                <a:latin typeface="Aptos"/>
              </a:rPr>
              <a:t>Beispiel: gültiger Wert ≠ wahrer Wert.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