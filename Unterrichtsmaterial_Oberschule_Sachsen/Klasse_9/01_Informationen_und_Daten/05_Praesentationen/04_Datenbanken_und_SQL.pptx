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LEHRERHINWEIS
Für Schüler reicht zunächst „Datenbank“. Fachlich DB, DBMS und Datenbanksystem unterscheiden.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LEHRERHINWEIS
Primärschlüssel identifiziert Datensätze eindeutig. Ein Name ist dafür in der Regel ungeeignet.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LEHRERHINWEIS
Schüler haben begrenzte Rechte: Installation nicht voraussetzen. Vorab zentral installieren/freigeben. Portable Variante nur, wenn Schulrichtlinie das Ausführen erlaubt. Technikcheck vor der Stunde.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LEHRERHINWEIS
Zwei identische Ergebniszeilen bedeuten nicht automatisch doppelte Speicherung. SELECT kann identifizierende Spalten ausblenden; JOINs können ebenfalls Mehrfachausgaben erzeugen. Gleiche Primärschlüsselwerte können in derselben Tabelle nicht doppelt vorkommen, wenn der Constraint korrekt definiert 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LEHRERHINWEIS
JOIN als Zusatz/Vertiefung. Zuerst grafisch erklären, dann Syntax zeigen.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INFORMATIK · KLASSE 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2"/>
                </a:solidFill>
              </a:rPr>
              <a:t>Informationen und Daten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Datenbanken und SQL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88720" y="2926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6B9A"/>
                </a:solidFill>
              </a:rPr>
              <a:t>Strukturieren · verknüpfen · gezielt abfragen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0" y="3886200"/>
            <a:ext cx="3931920" cy="0"/>
          </a:xfrm>
          <a:prstGeom prst="line">
            <a:avLst/>
          </a:prstGeom>
          <a:noFill/>
          <a:ln w="38100">
            <a:solidFill>
              <a:srgbClr val="2F6B9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Warum reicht eine Liste irgendwann nicht mehr?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Wiederholungen erzeugen Änderungsprobleme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00200"/>
          <a:ext cx="10972800" cy="310896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Schüler-ID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Name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Klasse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Klassenleitung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Raum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101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Anna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9a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Frau Müller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204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102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Ben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9a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Frau Müller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204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103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Cem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9b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Herr Wolf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208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104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Dana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9a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Frau Müller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204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Was passiert, wenn die 9a den Raum wechselt?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Was ist eine Datenbank?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Schülerdefinition und Fachhintergrund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10332720" cy="1097280"/>
          </a:xfrm>
          <a:prstGeom prst="roundRect">
            <a:avLst>
              <a:gd name="adj" fmla="val 5000"/>
            </a:avLst>
          </a:prstGeom>
          <a:solidFill>
            <a:srgbClr val="EAF1F6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" y="1755648"/>
            <a:ext cx="100401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8212B"/>
                </a:solidFill>
              </a:rPr>
              <a:t>Eine Datenbank speichert zusammengehörige Daten strukturiert, damit sie gezielt verwaltet und abgefragt werden können.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005840" y="3200400"/>
            <a:ext cx="9875520" cy="4389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</a:rPr>
              <a:t>Datenbank = organisierter Datenbestand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</a:rPr>
              <a:t>DBMS = Software zur Verwaltung von Datenbanken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</a:rPr>
              <a:t>Datenbanksystem = Datenbank + DBMS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Tabelle, Datensatz, Feld, Wert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Begriffe am Beispiel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88720" y="1645920"/>
          <a:ext cx="9784080" cy="2194560"/>
        </p:xfrm>
        <a:graphic>
          <a:graphicData uri="http://schemas.openxmlformats.org/drawingml/2006/table">
            <a:tbl>
              <a:tblPr/>
              <a:tblGrid>
                <a:gridCol w="3261360"/>
                <a:gridCol w="3261360"/>
                <a:gridCol w="3261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SchuelerID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Name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KlasseID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101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Anna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102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Ben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103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Cem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371600" y="4069080"/>
            <a:ext cx="8961120" cy="4389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</a:rPr>
              <a:t>Zeile → Datensatz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</a:rPr>
              <a:t>Spalte → Attribut/Feld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</a:rPr>
              <a:t>Zelle → einzelner Wert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Warum eine ID?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Namen sind nicht zwingend eindeutig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4206240" cy="1097280"/>
          </a:xfrm>
          <a:prstGeom prst="roundRect">
            <a:avLst>
              <a:gd name="adj" fmla="val 5000"/>
            </a:avLst>
          </a:prstGeom>
          <a:solidFill>
            <a:srgbClr val="EAF1F6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" y="1847088"/>
            <a:ext cx="39136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212B"/>
                </a:solidFill>
              </a:rPr>
              <a:t>Anna Müller · 9a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040880" y="1737360"/>
            <a:ext cx="4206240" cy="1097280"/>
          </a:xfrm>
          <a:prstGeom prst="roundRect">
            <a:avLst>
              <a:gd name="adj" fmla="val 5000"/>
            </a:avLst>
          </a:prstGeom>
          <a:solidFill>
            <a:srgbClr val="EAF1F6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87184" y="1847088"/>
            <a:ext cx="39136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212B"/>
                </a:solidFill>
              </a:rPr>
              <a:t>Anna Müller · 9a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Wie unterscheiden wir zwei reale Personen mit gleichem Namen?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Mehrere Tabellen statt unnötiger Wiederholung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Information nur einmal pflegen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5120640" cy="2377440"/>
        </p:xfrm>
        <a:graphic>
          <a:graphicData uri="http://schemas.openxmlformats.org/drawingml/2006/table">
            <a:tbl>
              <a:tblPr/>
              <a:tblGrid>
                <a:gridCol w="1706880"/>
                <a:gridCol w="1706880"/>
                <a:gridCol w="17068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SchuelerID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Name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KlasseID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101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Anna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102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Ben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104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Dana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600200"/>
          <a:ext cx="5303520" cy="2011680"/>
        </p:xfrm>
        <a:graphic>
          <a:graphicData uri="http://schemas.openxmlformats.org/drawingml/2006/table">
            <a:tbl>
              <a:tblPr/>
              <a:tblGrid>
                <a:gridCol w="1325880"/>
                <a:gridCol w="1325880"/>
                <a:gridCol w="1325880"/>
                <a:gridCol w="13258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KlasseID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Klasse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Leitung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Raum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9a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Frau Müller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204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9b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Herr Wolf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208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Wo ändern wir den Raum der 9a jetzt?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Beziehungen und Fremdschlüssel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Tabellen gehören zusammen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4297680" cy="1371600"/>
          </a:xfrm>
          <a:prstGeom prst="roundRect">
            <a:avLst>
              <a:gd name="adj" fmla="val 4000"/>
            </a:avLst>
          </a:prstGeom>
          <a:solidFill>
            <a:srgbClr val="EAF1F6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" y="1938528"/>
            <a:ext cx="400507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212B"/>
                </a:solidFill>
              </a:rPr>
              <a:t>Schueler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18212B"/>
                </a:solidFill>
              </a:rPr>
              <a:t>SchuelerID · Name · KlasseID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303520" y="2240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6B9A"/>
                </a:solidFill>
              </a:rPr>
              <a:t>KlasseID  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858000" y="1828800"/>
            <a:ext cx="4480560" cy="1371600"/>
          </a:xfrm>
          <a:prstGeom prst="roundRect">
            <a:avLst>
              <a:gd name="adj" fmla="val 4000"/>
            </a:avLst>
          </a:prstGeom>
          <a:solidFill>
            <a:srgbClr val="DDEFE3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04304" y="1938528"/>
            <a:ext cx="418795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212B"/>
                </a:solidFill>
              </a:rPr>
              <a:t>Klassen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18212B"/>
                </a:solidFill>
              </a:rPr>
              <a:t>KlasseID · Klasse · Raum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Welche Spalte stellt die Verbindung her?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1:n – eine Klasse, viele Schüler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Kardinalität aus dem Alltag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2057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Klasse 9a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840480" y="20574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6B9A"/>
                </a:solidFill>
              </a:rPr>
              <a:t>1  ─────────  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0" y="164592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8212B"/>
                </a:solidFill>
              </a:rPr>
              <a:t>Anna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8212B"/>
                </a:solidFill>
              </a:rPr>
              <a:t>Ben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8212B"/>
                </a:solidFill>
              </a:rPr>
              <a:t>Dana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Wo wird der Fremdschlüssel gespeichert?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Unser Werkzeug: DB Browser for SQLite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Vor der Stunde durch Administration/Lehrkraft bereitstellen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8212B"/>
                </a:solidFill>
              </a:rPr>
              <a:t>Datenbankdatei (.sqlite / .db) öffnen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8212B"/>
                </a:solidFill>
              </a:rPr>
              <a:t>„Daten durchsuchen“: Tabellen ansehen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8212B"/>
                </a:solidFill>
              </a:rPr>
              <a:t>„SQL ausführen“: Abfragen schreiben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8212B"/>
                </a:solidFill>
              </a:rPr>
              <a:t>Ergebnis kontrollieren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8212B"/>
                </a:solidFill>
              </a:rPr>
              <a:t>Schüler arbeiten mit einer Kopie der Ausgangsdatenbank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Die erste SQL-Abfrage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Wir fragen die Datenbank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97280" y="1645920"/>
            <a:ext cx="9966960" cy="1234440"/>
          </a:xfrm>
          <a:prstGeom prst="roundRect">
            <a:avLst>
              <a:gd name="adj" fmla="val 4444"/>
            </a:avLst>
          </a:prstGeom>
          <a:solidFill>
            <a:srgbClr val="EAF1F6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43584" y="1755648"/>
            <a:ext cx="967435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B"/>
                </a:solidFill>
              </a:rPr>
              <a:t>SELECT *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8212B"/>
                </a:solidFill>
              </a:rPr>
              <a:t>FROM Schueler;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80160" y="3337560"/>
            <a:ext cx="8961120" cy="4389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</a:rPr>
              <a:t>SELECT → Was möchte ich sehen?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</a:rPr>
              <a:t>* → alle Spalten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</a:rPr>
              <a:t>FROM Schueler → aus welcher Tabelle?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Verändert SELECT die gespeicherten Daten?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Filtern mit WHERE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Alltagssprache → SQL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1554480"/>
            <a:ext cx="10149840" cy="731520"/>
          </a:xfrm>
          <a:prstGeom prst="roundRect">
            <a:avLst>
              <a:gd name="adj" fmla="val 7500"/>
            </a:avLst>
          </a:prstGeom>
          <a:solidFill>
            <a:srgbClr val="FFF1CC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52144" y="1664208"/>
            <a:ext cx="9857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212B"/>
                </a:solidFill>
              </a:rPr>
              <a:t>„Zeige alle Schülerinnen und Schüler aus Klasse 9a.“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005840" y="2606040"/>
            <a:ext cx="10149840" cy="1234440"/>
          </a:xfrm>
          <a:prstGeom prst="roundRect">
            <a:avLst>
              <a:gd name="adj" fmla="val 4444"/>
            </a:avLst>
          </a:prstGeom>
          <a:solidFill>
            <a:srgbClr val="EAF1F6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52144" y="2715768"/>
            <a:ext cx="985723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212B"/>
                </a:solidFill>
              </a:rPr>
              <a:t>SELECT *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18212B"/>
                </a:solidFill>
              </a:rPr>
              <a:t>FROM Schueler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18212B"/>
                </a:solidFill>
              </a:rPr>
              <a:t>WHERE Klasse = '9a';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Welche Stelle ändern wir für Klasse 9b?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AND · OR · ORDER BY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Abfragen kombinieren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3383280" cy="2103120"/>
          </a:xfrm>
          <a:prstGeom prst="roundRect">
            <a:avLst>
              <a:gd name="adj" fmla="val 2609"/>
            </a:avLst>
          </a:prstGeom>
          <a:solidFill>
            <a:srgbClr val="EAF1F6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709928"/>
            <a:ext cx="3090672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WHERE Typ = 'Buch'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  AND Jahr &gt;= 2020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407408" y="1600200"/>
            <a:ext cx="3383280" cy="2103120"/>
          </a:xfrm>
          <a:prstGeom prst="roundRect">
            <a:avLst>
              <a:gd name="adj" fmla="val 2609"/>
            </a:avLst>
          </a:prstGeom>
          <a:solidFill>
            <a:srgbClr val="DDEFE3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53712" y="1709928"/>
            <a:ext cx="3090672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WHERE Typ = 'Buch'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   OR Typ = 'Hoerbuch'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092440" y="1600200"/>
            <a:ext cx="3383280" cy="2103120"/>
          </a:xfrm>
          <a:prstGeom prst="roundRect">
            <a:avLst>
              <a:gd name="adj" fmla="val 2609"/>
            </a:avLst>
          </a:prstGeom>
          <a:solidFill>
            <a:srgbClr val="FFF1CC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38744" y="1709928"/>
            <a:ext cx="3090672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ORDER BY Jahr DESC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Welche Bedingungen müssen bei AND bzw. OR erfüllt sein?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Gleiche Ausgabe heißt nicht gleicher Datensatz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Scheinbare Duplikate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00200"/>
          <a:ext cx="4023360" cy="201168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Name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Klasse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Anna Müller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9a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Anna Müller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9a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00200"/>
          <a:ext cx="4663440" cy="201168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ID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Name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Klasse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101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Anna Müller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9a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387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Anna Müller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9a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Warum sah die erste Abfrage doppelt aus?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SQL über Beziehungen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Zusatz: JOIN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10607040" cy="2468880"/>
          </a:xfrm>
          <a:prstGeom prst="roundRect">
            <a:avLst>
              <a:gd name="adj" fmla="val 2222"/>
            </a:avLst>
          </a:prstGeom>
          <a:solidFill>
            <a:srgbClr val="EAF1F6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" y="1618488"/>
            <a:ext cx="10314432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212B"/>
                </a:solidFill>
              </a:rPr>
              <a:t>SELECT Schueler.Name, Klassen.Klasse, Klassen.Raum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8212B"/>
                </a:solidFill>
              </a:rPr>
              <a:t>FROM Schueler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8212B"/>
                </a:solidFill>
              </a:rPr>
              <a:t>JOIN Klassen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8212B"/>
                </a:solidFill>
              </a:rPr>
              <a:t>  ON Schueler.KlasseID = Klassen.KlasseID;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Welche Informationen stammen aus welcher Tabelle?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SELECT zuerst – Änderungen später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Lesen und Schreiben unterscheiden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4663440" cy="1005840"/>
          </a:xfrm>
          <a:prstGeom prst="roundRect">
            <a:avLst>
              <a:gd name="adj" fmla="val 5455"/>
            </a:avLst>
          </a:prstGeom>
          <a:solidFill>
            <a:srgbClr val="DDEFE3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" y="1755648"/>
            <a:ext cx="43708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212B"/>
                </a:solidFill>
              </a:rPr>
              <a:t>SELECT → liest / liefert Ergebnis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583680" y="1645920"/>
            <a:ext cx="4663440" cy="1005840"/>
          </a:xfrm>
          <a:prstGeom prst="roundRect">
            <a:avLst>
              <a:gd name="adj" fmla="val 5455"/>
            </a:avLst>
          </a:prstGeom>
          <a:solidFill>
            <a:srgbClr val="F7DDDD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29984" y="1755648"/>
            <a:ext cx="43708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</a:rPr>
              <a:t>INSERT · UPDATE · DELETE → verändern Daten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Warum arbeiten wir mit einer Kopie der Datenbank?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Datenbanken und SQL</dc:title>
  <dc:subject>Informatik Klasse 9</dc:subject>
  <dc:creator>OpenAI</dc:creator>
  <cp:lastModifiedBy>OpenAI</cp:lastModifiedBy>
  <cp:revision>1</cp:revision>
  <dcterms:created xsi:type="dcterms:W3CDTF">2026-08-18T16:16:13Z</dcterms:created>
  <dcterms:modified xsi:type="dcterms:W3CDTF">2026-08-18T16:16:13Z</dcterms:modified>
</cp:coreProperties>
</file>